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6858000" cx="12192000"/>
  <p:notesSz cx="6858000" cy="9144000"/>
  <p:embeddedFontLst>
    <p:embeddedFont>
      <p:font typeface="Noto Sans"/>
      <p:regular r:id="rId41"/>
      <p:bold r:id="rId42"/>
      <p:italic r:id="rId43"/>
      <p:boldItalic r:id="rId44"/>
    </p:embeddedFont>
    <p:embeddedFont>
      <p:font typeface="Noto Sans Symbols Black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Noto Sans Symbols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iGssKSuofQD8aU2ITbUTrzwes6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9CBABC-5613-4245-AD06-0B229CEA759C}">
  <a:tblStyle styleId="{849CBABC-5613-4245-AD06-0B229CEA759C}" styleName="Table_0">
    <a:wholeTbl>
      <a:tcTxStyle b="off" i="off">
        <a:font>
          <a:latin typeface="Segoe UI"/>
          <a:ea typeface="Segoe UI"/>
          <a:cs typeface="Segoe UI"/>
        </a:font>
        <a:srgbClr val="0A1F3C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5EF"/>
          </a:solidFill>
        </a:fill>
      </a:tcStyle>
    </a:wholeTbl>
    <a:band1H>
      <a:tcTxStyle b="off" i="off"/>
      <a:tcStyle>
        <a:fill>
          <a:solidFill>
            <a:srgbClr val="CAEBD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BDD"/>
          </a:solidFill>
        </a:fill>
      </a:tcStyle>
    </a:band1V>
    <a:band2V>
      <a:tcTxStyle b="off" i="off"/>
    </a:band2V>
    <a:lastCol>
      <a:tcTxStyle b="on" i="off">
        <a:font>
          <a:latin typeface="Segoe UI"/>
          <a:ea typeface="Segoe UI"/>
          <a:cs typeface="Segoe UI"/>
        </a:font>
        <a:srgbClr val="FFFFFF"/>
      </a:tcTxStyle>
      <a:tcStyle>
        <a:fill>
          <a:solidFill>
            <a:srgbClr val="14C99A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rgbClr val="FFFFFF"/>
      </a:tcTxStyle>
      <a:tcStyle>
        <a:fill>
          <a:solidFill>
            <a:srgbClr val="14C99A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4C99A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Segoe UI"/>
          <a:ea typeface="Segoe UI"/>
          <a:cs typeface="Segoe U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4C99A"/>
          </a:solidFill>
        </a:fill>
      </a:tcStyle>
    </a:firstRow>
    <a:neCell>
      <a:tcTxStyle b="off" i="off"/>
    </a:neCell>
    <a:nwCell>
      <a:tcTxStyle b="off" i="off"/>
    </a:nwCell>
  </a:tblStyle>
  <a:tblStyle styleId="{35579EA5-3446-4BC5-9467-972D8C77258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1DA7A9C-3182-4A8C-ABDB-061B2E584B4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  <a:tblStyle styleId="{7252F05F-238B-4A98-8644-0C1DA1C0813A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NotoSans-bold.fntdata"/><Relationship Id="rId41" Type="http://schemas.openxmlformats.org/officeDocument/2006/relationships/font" Target="fonts/NotoSans-regular.fntdata"/><Relationship Id="rId44" Type="http://schemas.openxmlformats.org/officeDocument/2006/relationships/font" Target="fonts/NotoSans-boldItalic.fntdata"/><Relationship Id="rId43" Type="http://schemas.openxmlformats.org/officeDocument/2006/relationships/font" Target="fonts/NotoSans-italic.fntdata"/><Relationship Id="rId46" Type="http://schemas.openxmlformats.org/officeDocument/2006/relationships/font" Target="fonts/QuattrocentoSans-regular.fntdata"/><Relationship Id="rId45" Type="http://schemas.openxmlformats.org/officeDocument/2006/relationships/font" Target="fonts/NotoSansSymbolsBlac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QuattrocentoSans-italic.fntdata"/><Relationship Id="rId47" Type="http://schemas.openxmlformats.org/officeDocument/2006/relationships/font" Target="fonts/QuattrocentoSans-bold.fntdata"/><Relationship Id="rId49" Type="http://schemas.openxmlformats.org/officeDocument/2006/relationships/font" Target="fonts/Quattrocento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NotoSansSymbols-bold.fntdata"/><Relationship Id="rId50" Type="http://schemas.openxmlformats.org/officeDocument/2006/relationships/font" Target="fonts/NotoSansSymbols-regular.fntdata"/><Relationship Id="rId52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711cb84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711cb842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3e3a5e08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>
                <a:highlight>
                  <a:srgbClr val="C0504D"/>
                </a:highlight>
              </a:rPr>
              <a:t>La idea de hacer esta separación es: disminuir la responsabilidad, normas/estándares que debe cumplir la capa de inteligencia. Haciendo que la parte con fuertes requisitos en cuanto a las fallas sea solo la capa de seguridad.</a:t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357" name="Google Shape;357;g3f3e3a5e08a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862d9fef2_1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g3f862d9fef2_1_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862d9fef2_1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472" name="Google Shape;472;g3f862d9fef2_1_7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8c9c594d6_2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550" name="Google Shape;550;g3f8c9c594d6_2_6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406dbf1c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703" name="Google Shape;703;g3f406dbf1c9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407d67d4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A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Aclaración que conviene decir en voz alta: espectro con licencia y enlace protegido son dos cosas distintas. La licencia da exclusividad de frecuencia y la otorga ENACOM a un titular, que en producción sería ADIFSE y nunca el proveedor del equipo. La protección contra escucha y contra suplantación se resuelve en la capa de aplicación con AES-128, CMAC y contador anti repetición, y funciona sobre cualquier medio. Por eso la elección es LoRa 915 MHz con capa criptográfica propia. También se evaluó 2,4 GHz con WiFi o BLE y quedó descartada temprano: es tan compartida como 915 MHz, tiene mucha más ocupación y un alcance muy inferior, con lo que no resuelve nada de lo que se buscaba. El celular queda como canal secundario de telemetría, nunca dentro del lazo de seguridad.</a:t>
            </a:r>
            <a:endParaRPr/>
          </a:p>
        </p:txBody>
      </p:sp>
      <p:sp>
        <p:nvSpPr>
          <p:cNvPr id="744" name="Google Shape;744;g3f407d67d4d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8c9c594d6_2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801" name="Google Shape;801;g3f8c9c594d6_2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4050033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3f40500332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fa81065d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fa81065d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f406dbf1c9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972" name="Google Shape;972;g3f406dbf1c9_0_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f406dbf1c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022" name="Google Shape;1022;g3f406dbf1c9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8c9c594d6_2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8" name="Google Shape;1088;g3f8c9c594d6_2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f8c9c594d6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218" name="Google Shape;1218;g3f8c9c594d6_2_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f862d9fef2_1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5" name="Google Shape;1285;g3f862d9fef2_1_10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f8c9c594d6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357" name="Google Shape;1357;g3f8c9c594d6_2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f8c9c594d6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397" name="Google Shape;1397;g3f8c9c594d6_2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f8c9c594d6_2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446" name="Google Shape;1446;g3f8c9c594d6_2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fa6abdca1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C0504D"/>
              </a:highlight>
            </a:endParaRPr>
          </a:p>
        </p:txBody>
      </p:sp>
      <p:sp>
        <p:nvSpPr>
          <p:cNvPr id="1483" name="Google Shape;1483;g3fa6abdca1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fa673deee8_6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g3fa673deee8_6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f40500332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g3f40500332f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f40500332f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g3f40500332f_1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f40500332f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g3f40500332f_1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3f40500332f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g3f40500332f_1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f8cba3c6d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g3f8cba3c6d9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f40500332f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g3f40500332f_1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3f40f012909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g3f40f012909_2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f40f012909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g3f40f012909_2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3f40f012909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g3f40f012909_2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3f40500332f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g3f40500332f_1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3f40500332f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g3f40500332f_1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f6e557bc76_4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6" name="Google Shape;1996;g3f6e557bc76_4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0D2547"/>
            </a:gs>
            <a:gs pos="100000">
              <a:srgbClr val="081831"/>
            </a:gs>
          </a:gsLst>
          <a:lin ang="5400012" scaled="0"/>
        </a:gra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6000"/>
              <a:buFont typeface="Impac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20" name="Google Shape;20;p26"/>
          <p:cNvCxnSpPr/>
          <p:nvPr/>
        </p:nvCxnSpPr>
        <p:spPr>
          <a:xfrm>
            <a:off x="9118600" y="787400"/>
            <a:ext cx="1016100" cy="6351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26"/>
          <p:cNvCxnSpPr/>
          <p:nvPr/>
        </p:nvCxnSpPr>
        <p:spPr>
          <a:xfrm flipH="1" rot="10800000">
            <a:off x="10134600" y="736600"/>
            <a:ext cx="1016100" cy="6858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26"/>
          <p:cNvCxnSpPr/>
          <p:nvPr/>
        </p:nvCxnSpPr>
        <p:spPr>
          <a:xfrm>
            <a:off x="11150600" y="736600"/>
            <a:ext cx="736500" cy="9399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26"/>
          <p:cNvCxnSpPr/>
          <p:nvPr/>
        </p:nvCxnSpPr>
        <p:spPr>
          <a:xfrm flipH="1">
            <a:off x="10820400" y="1676400"/>
            <a:ext cx="1066800" cy="762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26"/>
          <p:cNvCxnSpPr/>
          <p:nvPr/>
        </p:nvCxnSpPr>
        <p:spPr>
          <a:xfrm>
            <a:off x="10134600" y="1422400"/>
            <a:ext cx="685800" cy="10161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6"/>
          <p:cNvCxnSpPr/>
          <p:nvPr/>
        </p:nvCxnSpPr>
        <p:spPr>
          <a:xfrm>
            <a:off x="10820400" y="2438400"/>
            <a:ext cx="888900" cy="8889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6"/>
          <p:cNvCxnSpPr/>
          <p:nvPr/>
        </p:nvCxnSpPr>
        <p:spPr>
          <a:xfrm flipH="1">
            <a:off x="9677400" y="2438400"/>
            <a:ext cx="1143000" cy="1779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26"/>
          <p:cNvCxnSpPr/>
          <p:nvPr/>
        </p:nvCxnSpPr>
        <p:spPr>
          <a:xfrm rot="10800000">
            <a:off x="8763000" y="1854200"/>
            <a:ext cx="914400" cy="762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26"/>
          <p:cNvCxnSpPr/>
          <p:nvPr/>
        </p:nvCxnSpPr>
        <p:spPr>
          <a:xfrm flipH="1" rot="10800000">
            <a:off x="8763000" y="787400"/>
            <a:ext cx="355500" cy="10668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26"/>
          <p:cNvCxnSpPr/>
          <p:nvPr/>
        </p:nvCxnSpPr>
        <p:spPr>
          <a:xfrm flipH="1" rot="10800000">
            <a:off x="9677400" y="1422500"/>
            <a:ext cx="457200" cy="11937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26"/>
          <p:cNvCxnSpPr/>
          <p:nvPr/>
        </p:nvCxnSpPr>
        <p:spPr>
          <a:xfrm flipH="1" rot="10800000">
            <a:off x="11150600" y="253900"/>
            <a:ext cx="660300" cy="4827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26"/>
          <p:cNvCxnSpPr/>
          <p:nvPr/>
        </p:nvCxnSpPr>
        <p:spPr>
          <a:xfrm rot="10800000">
            <a:off x="11811000" y="254100"/>
            <a:ext cx="76200" cy="14223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6"/>
          <p:cNvSpPr/>
          <p:nvPr/>
        </p:nvSpPr>
        <p:spPr>
          <a:xfrm rot="5400000">
            <a:off x="8928100" y="5969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" name="Google Shape;33;p26"/>
          <p:cNvSpPr/>
          <p:nvPr/>
        </p:nvSpPr>
        <p:spPr>
          <a:xfrm rot="5400000">
            <a:off x="10020300" y="1308100"/>
            <a:ext cx="228600" cy="228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26"/>
          <p:cNvSpPr/>
          <p:nvPr/>
        </p:nvSpPr>
        <p:spPr>
          <a:xfrm rot="5400000">
            <a:off x="10960100" y="5461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26"/>
          <p:cNvSpPr/>
          <p:nvPr/>
        </p:nvSpPr>
        <p:spPr>
          <a:xfrm rot="5400000">
            <a:off x="11696700" y="14859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Google Shape;36;p26"/>
          <p:cNvSpPr/>
          <p:nvPr/>
        </p:nvSpPr>
        <p:spPr>
          <a:xfrm rot="5400000">
            <a:off x="10706100" y="2324100"/>
            <a:ext cx="228600" cy="228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" name="Google Shape;37;p26"/>
          <p:cNvSpPr/>
          <p:nvPr/>
        </p:nvSpPr>
        <p:spPr>
          <a:xfrm rot="5400000">
            <a:off x="11518900" y="31369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Google Shape;38;p26"/>
          <p:cNvSpPr/>
          <p:nvPr/>
        </p:nvSpPr>
        <p:spPr>
          <a:xfrm rot="5400000">
            <a:off x="9486900" y="24257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26"/>
          <p:cNvSpPr/>
          <p:nvPr/>
        </p:nvSpPr>
        <p:spPr>
          <a:xfrm rot="5400000">
            <a:off x="8572500" y="1663700"/>
            <a:ext cx="381000" cy="381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" name="Google Shape;40;p26"/>
          <p:cNvSpPr/>
          <p:nvPr/>
        </p:nvSpPr>
        <p:spPr>
          <a:xfrm rot="5400000">
            <a:off x="11696700" y="139700"/>
            <a:ext cx="228600" cy="228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6000"/>
              <a:buFont typeface="Impac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A8F"/>
              </a:buClr>
              <a:buSzPts val="2400"/>
              <a:buNone/>
              <a:defRPr sz="2400">
                <a:solidFill>
                  <a:srgbClr val="888A8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2000"/>
              <a:buNone/>
              <a:defRPr sz="2000">
                <a:solidFill>
                  <a:srgbClr val="888A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800"/>
              <a:buNone/>
              <a:defRPr sz="1800">
                <a:solidFill>
                  <a:srgbClr val="888A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8F"/>
              </a:buClr>
              <a:buSzPts val="1600"/>
              <a:buNone/>
              <a:defRPr sz="1600">
                <a:solidFill>
                  <a:srgbClr val="888A8F"/>
                </a:solidFill>
              </a:defRPr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3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3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3200"/>
              <a:buFont typeface="Impac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3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3200"/>
              <a:buFont typeface="Impac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34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5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02cbbda8_1_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2" name="Google Shape;112;g3f702cbbda8_1_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g3f702cbbda8_1_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02cbbda8_1_10"/>
          <p:cNvSpPr txBox="1"/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g3f702cbbda8_1_10"/>
          <p:cNvSpPr txBox="1"/>
          <p:nvPr>
            <p:ph idx="1" type="subTitle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g3f702cbbda8_1_1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8" name="Google Shape;118;g3f702cbbda8_1_1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g3f702cbbda8_1_1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02cbbda8_1_16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g3f702cbbda8_1_16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23" name="Google Shape;123;g3f702cbbda8_1_1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4" name="Google Shape;124;g3f702cbbda8_1_1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5" name="Google Shape;125;g3f702cbbda8_1_1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702cbbda8_1_22"/>
          <p:cNvSpPr txBox="1"/>
          <p:nvPr>
            <p:ph type="title"/>
          </p:nvPr>
        </p:nvSpPr>
        <p:spPr>
          <a:xfrm>
            <a:off x="481542" y="2937933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g3f702cbbda8_1_22"/>
          <p:cNvSpPr txBox="1"/>
          <p:nvPr>
            <p:ph idx="1" type="body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g3f702cbbda8_1_2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0" name="Google Shape;130;g3f702cbbda8_1_2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1" name="Google Shape;131;g3f702cbbda8_1_2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02cbbda8_1_28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g3f702cbbda8_1_28"/>
          <p:cNvSpPr txBox="1"/>
          <p:nvPr>
            <p:ph idx="1" type="body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35" name="Google Shape;135;g3f702cbbda8_1_28"/>
          <p:cNvSpPr txBox="1"/>
          <p:nvPr>
            <p:ph idx="2" type="body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36" name="Google Shape;136;g3f702cbbda8_1_28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g3f702cbbda8_1_28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g3f702cbbda8_1_28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02cbbda8_1_35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1" name="Google Shape;141;g3f702cbbda8_1_35"/>
          <p:cNvSpPr txBox="1"/>
          <p:nvPr>
            <p:ph idx="1" type="body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42" name="Google Shape;142;g3f702cbbda8_1_35"/>
          <p:cNvSpPr txBox="1"/>
          <p:nvPr>
            <p:ph idx="2" type="body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43" name="Google Shape;143;g3f702cbbda8_1_35"/>
          <p:cNvSpPr txBox="1"/>
          <p:nvPr>
            <p:ph idx="3" type="body"/>
          </p:nvPr>
        </p:nvSpPr>
        <p:spPr>
          <a:xfrm>
            <a:off x="3096683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44" name="Google Shape;144;g3f702cbbda8_1_35"/>
          <p:cNvSpPr txBox="1"/>
          <p:nvPr>
            <p:ph idx="4" type="body"/>
          </p:nvPr>
        </p:nvSpPr>
        <p:spPr>
          <a:xfrm>
            <a:off x="3096683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45" name="Google Shape;145;g3f702cbbda8_1_35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g3f702cbbda8_1_35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g3f702cbbda8_1_35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02cbbda8_1_4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0" name="Google Shape;150;g3f702cbbda8_1_44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1" name="Google Shape;151;g3f702cbbda8_1_44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g3f702cbbda8_1_44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02cbbda8_1_49"/>
          <p:cNvSpPr txBox="1"/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g3f702cbbda8_1_49"/>
          <p:cNvSpPr txBox="1"/>
          <p:nvPr>
            <p:ph idx="1" type="body"/>
          </p:nvPr>
        </p:nvSpPr>
        <p:spPr>
          <a:xfrm>
            <a:off x="2383367" y="182033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56" name="Google Shape;156;g3f702cbbda8_1_49"/>
          <p:cNvSpPr txBox="1"/>
          <p:nvPr>
            <p:ph idx="2" type="body"/>
          </p:nvPr>
        </p:nvSpPr>
        <p:spPr>
          <a:xfrm>
            <a:off x="304800" y="956733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7" name="Google Shape;157;g3f702cbbda8_1_4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8" name="Google Shape;158;g3f702cbbda8_1_4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9" name="Google Shape;159;g3f702cbbda8_1_4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02cbbda8_1_56"/>
          <p:cNvSpPr txBox="1"/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2" name="Google Shape;162;g3f702cbbda8_1_56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g3f702cbbda8_1_56"/>
          <p:cNvSpPr txBox="1"/>
          <p:nvPr>
            <p:ph idx="1" type="body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4" name="Google Shape;164;g3f702cbbda8_1_5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5" name="Google Shape;165;g3f702cbbda8_1_5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6" name="Google Shape;166;g3f702cbbda8_1_5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02cbbda8_1_63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9" name="Google Shape;169;g3f702cbbda8_1_63"/>
          <p:cNvSpPr txBox="1"/>
          <p:nvPr>
            <p:ph idx="1" type="body"/>
          </p:nvPr>
        </p:nvSpPr>
        <p:spPr>
          <a:xfrm rot="5400000">
            <a:off x="1539346" y="-167746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70" name="Google Shape;170;g3f702cbbda8_1_63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1" name="Google Shape;171;g3f702cbbda8_1_63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2" name="Google Shape;172;g3f702cbbda8_1_63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02cbbda8_1_69"/>
          <p:cNvSpPr txBox="1"/>
          <p:nvPr>
            <p:ph type="title"/>
          </p:nvPr>
        </p:nvSpPr>
        <p:spPr>
          <a:xfrm rot="5400000">
            <a:off x="3154892" y="1447800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5" name="Google Shape;175;g3f702cbbda8_1_69"/>
          <p:cNvSpPr txBox="1"/>
          <p:nvPr>
            <p:ph idx="1" type="body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76" name="Google Shape;176;g3f702cbbda8_1_6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7" name="Google Shape;177;g3f702cbbda8_1_6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8" name="Google Shape;178;g3f702cbbda8_1_6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62d9fef2_1_121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7" name="Google Shape;187;g3f862d9fef2_1_121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8" name="Google Shape;188;g3f862d9fef2_1_121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62d9fef2_1_1219"/>
          <p:cNvSpPr txBox="1"/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1" name="Google Shape;191;g3f862d9fef2_1_1219"/>
          <p:cNvSpPr txBox="1"/>
          <p:nvPr>
            <p:ph idx="1" type="subTitle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2" name="Google Shape;192;g3f862d9fef2_1_121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3" name="Google Shape;193;g3f862d9fef2_1_121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4" name="Google Shape;194;g3f862d9fef2_1_121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62d9fef2_1_1225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7" name="Google Shape;197;g3f862d9fef2_1_1225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98" name="Google Shape;198;g3f862d9fef2_1_122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9" name="Google Shape;199;g3f862d9fef2_1_122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0" name="Google Shape;200;g3f862d9fef2_1_122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62d9fef2_1_1231"/>
          <p:cNvSpPr txBox="1"/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3" name="Google Shape;203;g3f862d9fef2_1_1231"/>
          <p:cNvSpPr txBox="1"/>
          <p:nvPr>
            <p:ph idx="1" type="body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4" name="Google Shape;204;g3f862d9fef2_1_123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5" name="Google Shape;205;g3f862d9fef2_1_123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6" name="Google Shape;206;g3f862d9fef2_1_123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62d9fef2_1_1237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9" name="Google Shape;209;g3f862d9fef2_1_1237"/>
          <p:cNvSpPr txBox="1"/>
          <p:nvPr>
            <p:ph idx="1" type="body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210" name="Google Shape;210;g3f862d9fef2_1_1237"/>
          <p:cNvSpPr txBox="1"/>
          <p:nvPr>
            <p:ph idx="2" type="body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211" name="Google Shape;211;g3f862d9fef2_1_1237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2" name="Google Shape;212;g3f862d9fef2_1_1237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3" name="Google Shape;213;g3f862d9fef2_1_1237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62d9fef2_1_124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6" name="Google Shape;216;g3f862d9fef2_1_1244"/>
          <p:cNvSpPr txBox="1"/>
          <p:nvPr>
            <p:ph idx="1" type="body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217" name="Google Shape;217;g3f862d9fef2_1_1244"/>
          <p:cNvSpPr txBox="1"/>
          <p:nvPr>
            <p:ph idx="2" type="body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218" name="Google Shape;218;g3f862d9fef2_1_1244"/>
          <p:cNvSpPr txBox="1"/>
          <p:nvPr>
            <p:ph idx="3" type="body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219" name="Google Shape;219;g3f862d9fef2_1_1244"/>
          <p:cNvSpPr txBox="1"/>
          <p:nvPr>
            <p:ph idx="4" type="body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220" name="Google Shape;220;g3f862d9fef2_1_124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1" name="Google Shape;221;g3f862d9fef2_1_124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2" name="Google Shape;222;g3f862d9fef2_1_124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62d9fef2_1_1253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5" name="Google Shape;225;g3f862d9fef2_1_1253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6" name="Google Shape;226;g3f862d9fef2_1_1253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7" name="Google Shape;227;g3f862d9fef2_1_1253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62d9fef2_1_1258"/>
          <p:cNvSpPr txBox="1"/>
          <p:nvPr>
            <p:ph type="title"/>
          </p:nvPr>
        </p:nvSpPr>
        <p:spPr>
          <a:xfrm>
            <a:off x="304800" y="182033"/>
            <a:ext cx="2005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0" name="Google Shape;230;g3f862d9fef2_1_1258"/>
          <p:cNvSpPr txBox="1"/>
          <p:nvPr>
            <p:ph idx="1" type="body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231" name="Google Shape;231;g3f862d9fef2_1_1258"/>
          <p:cNvSpPr txBox="1"/>
          <p:nvPr>
            <p:ph idx="2" type="body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2" name="Google Shape;232;g3f862d9fef2_1_125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3" name="Google Shape;233;g3f862d9fef2_1_125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4" name="Google Shape;234;g3f862d9fef2_1_125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62d9fef2_1_1265"/>
          <p:cNvSpPr txBox="1"/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7" name="Google Shape;237;g3f862d9fef2_1_1265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g3f862d9fef2_1_1265"/>
          <p:cNvSpPr txBox="1"/>
          <p:nvPr>
            <p:ph idx="1" type="body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9" name="Google Shape;239;g3f862d9fef2_1_126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0" name="Google Shape;240;g3f862d9fef2_1_126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1" name="Google Shape;241;g3f862d9fef2_1_126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62d9fef2_1_127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4" name="Google Shape;244;g3f862d9fef2_1_1272"/>
          <p:cNvSpPr txBox="1"/>
          <p:nvPr>
            <p:ph idx="1" type="body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245" name="Google Shape;245;g3f862d9fef2_1_127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6" name="Google Shape;246;g3f862d9fef2_1_127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7" name="Google Shape;247;g3f862d9fef2_1_127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62d9fef2_1_1278"/>
          <p:cNvSpPr txBox="1"/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50" name="Google Shape;250;g3f862d9fef2_1_1278"/>
          <p:cNvSpPr txBox="1"/>
          <p:nvPr>
            <p:ph idx="1" type="body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251" name="Google Shape;251;g3f862d9fef2_1_127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52" name="Google Shape;252;g3f862d9fef2_1_127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53" name="Google Shape;253;g3f862d9fef2_1_127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4400"/>
              <a:buFont typeface="Impact"/>
              <a:buNone/>
              <a:defRPr b="1" i="0" sz="4400" u="none" cap="none" strike="noStrike">
                <a:solidFill>
                  <a:srgbClr val="0A1F3C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475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1" name="Google Shape;11;p25"/>
          <p:cNvSpPr/>
          <p:nvPr/>
        </p:nvSpPr>
        <p:spPr>
          <a:xfrm>
            <a:off x="-1143000" y="-1143000"/>
            <a:ext cx="2286000" cy="2286000"/>
          </a:xfrm>
          <a:prstGeom prst="ellipse">
            <a:avLst/>
          </a:prstGeom>
          <a:solidFill>
            <a:srgbClr val="0A1F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" name="Google Shape;12;p25"/>
          <p:cNvSpPr/>
          <p:nvPr/>
        </p:nvSpPr>
        <p:spPr>
          <a:xfrm>
            <a:off x="11328400" y="5994400"/>
            <a:ext cx="2159100" cy="2159100"/>
          </a:xfrm>
          <a:prstGeom prst="ellipse">
            <a:avLst/>
          </a:prstGeom>
          <a:solidFill>
            <a:srgbClr val="14C9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" name="Google Shape;13;p25"/>
          <p:cNvSpPr txBox="1"/>
          <p:nvPr/>
        </p:nvSpPr>
        <p:spPr>
          <a:xfrm>
            <a:off x="457200" y="6502400"/>
            <a:ext cx="6096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Instituto Tecnológico de Buenos 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02cbbda8_1_0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106" name="Google Shape;106;g3f702cbbda8_1_0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g3f702cbbda8_1_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f702cbbda8_1_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g3f702cbbda8_1_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62d9fef2_1_120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g3f862d9fef2_1_1209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g3f862d9fef2_1_120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g3f862d9fef2_1_120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g3f862d9fef2_1_120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jpg"/><Relationship Id="rId8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 txBox="1"/>
          <p:nvPr/>
        </p:nvSpPr>
        <p:spPr>
          <a:xfrm>
            <a:off x="762000" y="5143140"/>
            <a:ext cx="635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14C9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TESIS DE GRADO: </a:t>
            </a:r>
            <a:r>
              <a:rPr b="1" lang="es-AR" sz="2000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762000" y="5574940"/>
            <a:ext cx="7112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AEB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Instituto Tecnológico de Buenos 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762000" y="5960415"/>
            <a:ext cx="8889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Juan Ignacio Pla · Facundo Caviglia · Joaquín Torino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 txBox="1"/>
          <p:nvPr>
            <p:ph idx="1" type="subTitle"/>
          </p:nvPr>
        </p:nvSpPr>
        <p:spPr>
          <a:xfrm>
            <a:off x="762000" y="3138840"/>
            <a:ext cx="812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E6EF"/>
              </a:buClr>
              <a:buSzPts val="1800"/>
              <a:buNone/>
            </a:pPr>
            <a:r>
              <a:rPr lang="es-AR" sz="1800">
                <a:solidFill>
                  <a:srgbClr val="DDE6EF"/>
                </a:solidFill>
              </a:rPr>
              <a:t>Sistema dinámico de detección de vehículos ferroviarios y señalización activa mediante comunicación con pasos a nivel.</a:t>
            </a:r>
            <a:endParaRPr/>
          </a:p>
        </p:txBody>
      </p:sp>
      <p:sp>
        <p:nvSpPr>
          <p:cNvPr id="262" name="Google Shape;262;p7"/>
          <p:cNvSpPr txBox="1"/>
          <p:nvPr>
            <p:ph type="ctrTitle"/>
          </p:nvPr>
        </p:nvSpPr>
        <p:spPr>
          <a:xfrm>
            <a:off x="762000" y="1057900"/>
            <a:ext cx="80160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C99A"/>
              </a:buClr>
              <a:buSzPts val="5400"/>
              <a:buFont typeface="Impact"/>
              <a:buNone/>
            </a:pPr>
            <a:r>
              <a:rPr b="0" lang="es-AR" sz="5400">
                <a:solidFill>
                  <a:schemeClr val="accent1"/>
                </a:solidFill>
              </a:rPr>
              <a:t>PANDA</a:t>
            </a:r>
            <a:r>
              <a:rPr b="0" lang="es-AR" sz="5400">
                <a:solidFill>
                  <a:schemeClr val="lt1"/>
                </a:solidFill>
              </a:rPr>
              <a:t>: </a:t>
            </a:r>
            <a:r>
              <a:rPr b="0" lang="es-AR" sz="5400">
                <a:solidFill>
                  <a:schemeClr val="lt1"/>
                </a:solidFill>
              </a:rPr>
              <a:t>PASO A NIVEL DINÁMICO y ACTIVO</a:t>
            </a:r>
            <a:r>
              <a:rPr b="0" lang="es-AR" sz="5400">
                <a:solidFill>
                  <a:srgbClr val="14C99A"/>
                </a:solidFill>
              </a:rPr>
              <a:t> </a:t>
            </a:r>
            <a:endParaRPr b="0"/>
          </a:p>
        </p:txBody>
      </p:sp>
      <p:cxnSp>
        <p:nvCxnSpPr>
          <p:cNvPr id="263" name="Google Shape;263;p7"/>
          <p:cNvCxnSpPr/>
          <p:nvPr/>
        </p:nvCxnSpPr>
        <p:spPr>
          <a:xfrm>
            <a:off x="762000" y="2917465"/>
            <a:ext cx="2921100" cy="0"/>
          </a:xfrm>
          <a:prstGeom prst="straightConnector1">
            <a:avLst/>
          </a:prstGeom>
          <a:noFill/>
          <a:ln cap="flat" cmpd="sng" w="28575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>
            <a:off x="3733800" y="2866665"/>
            <a:ext cx="114300" cy="114300"/>
          </a:xfrm>
          <a:prstGeom prst="ellipse">
            <a:avLst/>
          </a:prstGeom>
          <a:solidFill>
            <a:srgbClr val="14C9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Campus ITBA: el proyecto comienza a hacerse visible - Campus ITBA"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1000" y="5615140"/>
            <a:ext cx="1788158" cy="879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g3f711cb8428_0_5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271" name="Google Shape;271;g3f711cb8428_0_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272" name="Google Shape;272;g3f711cb8428_0_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f711cb8428_0_5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grpSp>
        <p:nvGrpSpPr>
          <p:cNvPr id="274" name="Google Shape;274;g3f711cb8428_0_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275" name="Google Shape;275;g3f711cb8428_0_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276" name="Google Shape;276;g3f711cb8428_0_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g3f711cb8428_0_5"/>
          <p:cNvSpPr txBox="1"/>
          <p:nvPr/>
        </p:nvSpPr>
        <p:spPr>
          <a:xfrm>
            <a:off x="181650" y="90325"/>
            <a:ext cx="443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RECAPITULANDO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8" name="Google Shape;278;g3f711cb8428_0_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sz="900"/>
          </a:p>
        </p:txBody>
      </p:sp>
      <p:sp>
        <p:nvSpPr>
          <p:cNvPr id="279" name="Google Shape;279;g3f711cb8428_0_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900"/>
          </a:p>
        </p:txBody>
      </p:sp>
      <p:cxnSp>
        <p:nvCxnSpPr>
          <p:cNvPr id="280" name="Google Shape;280;g3f711cb8428_0_5"/>
          <p:cNvCxnSpPr/>
          <p:nvPr/>
        </p:nvCxnSpPr>
        <p:spPr>
          <a:xfrm>
            <a:off x="6089462" y="848254"/>
            <a:ext cx="6300" cy="55410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1" name="Google Shape;281;g3f711cb8428_0_5"/>
          <p:cNvGrpSpPr/>
          <p:nvPr/>
        </p:nvGrpSpPr>
        <p:grpSpPr>
          <a:xfrm>
            <a:off x="621974" y="1090574"/>
            <a:ext cx="5093100" cy="1551900"/>
            <a:chOff x="506625" y="1090574"/>
            <a:chExt cx="5093100" cy="1551900"/>
          </a:xfrm>
        </p:grpSpPr>
        <p:grpSp>
          <p:nvGrpSpPr>
            <p:cNvPr id="282" name="Google Shape;282;g3f711cb8428_0_5"/>
            <p:cNvGrpSpPr/>
            <p:nvPr/>
          </p:nvGrpSpPr>
          <p:grpSpPr>
            <a:xfrm>
              <a:off x="506625" y="1090574"/>
              <a:ext cx="5093100" cy="1551900"/>
              <a:chOff x="506625" y="1090574"/>
              <a:chExt cx="5093100" cy="1551900"/>
            </a:xfrm>
          </p:grpSpPr>
          <p:grpSp>
            <p:nvGrpSpPr>
              <p:cNvPr id="283" name="Google Shape;283;g3f711cb8428_0_5"/>
              <p:cNvGrpSpPr/>
              <p:nvPr/>
            </p:nvGrpSpPr>
            <p:grpSpPr>
              <a:xfrm>
                <a:off x="506625" y="1090574"/>
                <a:ext cx="5093100" cy="1551900"/>
                <a:chOff x="506625" y="1090574"/>
                <a:chExt cx="5093100" cy="1551900"/>
              </a:xfrm>
            </p:grpSpPr>
            <p:sp>
              <p:nvSpPr>
                <p:cNvPr id="284" name="Google Shape;284;g3f711cb8428_0_5"/>
                <p:cNvSpPr/>
                <p:nvPr/>
              </p:nvSpPr>
              <p:spPr>
                <a:xfrm>
                  <a:off x="506625" y="1090574"/>
                  <a:ext cx="5093100" cy="1551900"/>
                </a:xfrm>
                <a:prstGeom prst="round1Rect">
                  <a:avLst>
                    <a:gd fmla="val 1666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rgbClr val="0D254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g3f711cb8428_0_5"/>
                <p:cNvSpPr txBox="1"/>
                <p:nvPr/>
              </p:nvSpPr>
              <p:spPr>
                <a:xfrm>
                  <a:off x="684975" y="1258536"/>
                  <a:ext cx="4156800" cy="2310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4001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AR" sz="1500">
                      <a:solidFill>
                        <a:srgbClr val="0D2547"/>
                      </a:solidFill>
                      <a:latin typeface="Noto Sans Symbols Black"/>
                      <a:ea typeface="Noto Sans Symbols Black"/>
                      <a:cs typeface="Noto Sans Symbols Black"/>
                      <a:sym typeface="Noto Sans Symbols Black"/>
                    </a:rPr>
                    <a:t>DATOS DE ACCIDENTES EN PASO A NIVEL</a:t>
                  </a:r>
                  <a:endParaRPr sz="15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endParaRPr>
                </a:p>
              </p:txBody>
            </p:sp>
          </p:grpSp>
          <p:cxnSp>
            <p:nvCxnSpPr>
              <p:cNvPr id="286" name="Google Shape;286;g3f711cb8428_0_5"/>
              <p:cNvCxnSpPr/>
              <p:nvPr/>
            </p:nvCxnSpPr>
            <p:spPr>
              <a:xfrm flipH="1" rot="10800000">
                <a:off x="3052874" y="1620007"/>
                <a:ext cx="600" cy="891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" name="Google Shape;287;g3f711cb8428_0_5"/>
              <p:cNvSpPr/>
              <p:nvPr/>
            </p:nvSpPr>
            <p:spPr>
              <a:xfrm>
                <a:off x="737103" y="2086875"/>
                <a:ext cx="2087100" cy="424200"/>
              </a:xfrm>
              <a:prstGeom prst="roundRect">
                <a:avLst>
                  <a:gd fmla="val 16667" name="adj"/>
                </a:avLst>
              </a:prstGeom>
              <a:solidFill>
                <a:srgbClr val="EBEF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g3f711cb8428_0_5"/>
              <p:cNvSpPr/>
              <p:nvPr/>
            </p:nvSpPr>
            <p:spPr>
              <a:xfrm>
                <a:off x="737103" y="1620000"/>
                <a:ext cx="2087100" cy="424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g3f711cb8428_0_5"/>
              <p:cNvSpPr/>
              <p:nvPr/>
            </p:nvSpPr>
            <p:spPr>
              <a:xfrm>
                <a:off x="3282153" y="2086838"/>
                <a:ext cx="2087100" cy="424200"/>
              </a:xfrm>
              <a:prstGeom prst="roundRect">
                <a:avLst>
                  <a:gd fmla="val 16667" name="adj"/>
                </a:avLst>
              </a:prstGeom>
              <a:solidFill>
                <a:srgbClr val="E7EC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g3f711cb8428_0_5"/>
              <p:cNvSpPr/>
              <p:nvPr/>
            </p:nvSpPr>
            <p:spPr>
              <a:xfrm>
                <a:off x="3282153" y="1619963"/>
                <a:ext cx="2087100" cy="424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1" name="Google Shape;291;g3f711cb8428_0_5"/>
              <p:cNvGrpSpPr/>
              <p:nvPr/>
            </p:nvGrpSpPr>
            <p:grpSpPr>
              <a:xfrm>
                <a:off x="931437" y="2185527"/>
                <a:ext cx="1698425" cy="231000"/>
                <a:chOff x="931437" y="2188225"/>
                <a:chExt cx="1698425" cy="231000"/>
              </a:xfrm>
            </p:grpSpPr>
            <p:sp>
              <p:nvSpPr>
                <p:cNvPr id="292" name="Google Shape;292;g3f711cb8428_0_5"/>
                <p:cNvSpPr txBox="1"/>
                <p:nvPr/>
              </p:nvSpPr>
              <p:spPr>
                <a:xfrm>
                  <a:off x="931437" y="2188225"/>
                  <a:ext cx="422100" cy="23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4001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AR" sz="1500">
                      <a:solidFill>
                        <a:srgbClr val="195C34"/>
                      </a:solidFill>
                      <a:latin typeface="Noto Sans Symbols Black"/>
                      <a:ea typeface="Noto Sans Symbols Black"/>
                      <a:cs typeface="Noto Sans Symbols Black"/>
                      <a:sym typeface="Noto Sans Symbols Black"/>
                    </a:rPr>
                    <a:t>22%</a:t>
                  </a:r>
                  <a:endParaRPr sz="1500">
                    <a:solidFill>
                      <a:srgbClr val="195C34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endParaRPr>
                </a:p>
              </p:txBody>
            </p:sp>
            <p:sp>
              <p:nvSpPr>
                <p:cNvPr id="293" name="Google Shape;293;g3f711cb8428_0_5"/>
                <p:cNvSpPr txBox="1"/>
                <p:nvPr/>
              </p:nvSpPr>
              <p:spPr>
                <a:xfrm>
                  <a:off x="1416362" y="2226775"/>
                  <a:ext cx="12135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4001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AR" sz="1000">
                      <a:solidFill>
                        <a:srgbClr val="0D2547"/>
                      </a:solidFill>
                      <a:latin typeface="Noto Sans Symbols Black"/>
                      <a:ea typeface="Noto Sans Symbols Black"/>
                      <a:cs typeface="Noto Sans Symbols Black"/>
                      <a:sym typeface="Noto Sans Symbols Black"/>
                    </a:rPr>
                    <a:t>VÍCTIMAS FATALES</a:t>
                  </a:r>
                  <a:endParaRPr sz="10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endParaRPr>
                </a:p>
              </p:txBody>
            </p:sp>
          </p:grpSp>
          <p:grpSp>
            <p:nvGrpSpPr>
              <p:cNvPr id="294" name="Google Shape;294;g3f711cb8428_0_5"/>
              <p:cNvGrpSpPr/>
              <p:nvPr/>
            </p:nvGrpSpPr>
            <p:grpSpPr>
              <a:xfrm>
                <a:off x="3476487" y="2187577"/>
                <a:ext cx="1698425" cy="231000"/>
                <a:chOff x="931437" y="2188225"/>
                <a:chExt cx="1698425" cy="231000"/>
              </a:xfrm>
            </p:grpSpPr>
            <p:sp>
              <p:nvSpPr>
                <p:cNvPr id="295" name="Google Shape;295;g3f711cb8428_0_5"/>
                <p:cNvSpPr txBox="1"/>
                <p:nvPr/>
              </p:nvSpPr>
              <p:spPr>
                <a:xfrm>
                  <a:off x="931437" y="2188225"/>
                  <a:ext cx="422100" cy="23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4001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AR" sz="1500">
                      <a:solidFill>
                        <a:srgbClr val="1C6EBD"/>
                      </a:solidFill>
                      <a:latin typeface="Noto Sans Symbols Black"/>
                      <a:ea typeface="Noto Sans Symbols Black"/>
                      <a:cs typeface="Noto Sans Symbols Black"/>
                      <a:sym typeface="Noto Sans Symbols Black"/>
                    </a:rPr>
                    <a:t>14%</a:t>
                  </a:r>
                  <a:endParaRPr sz="1500">
                    <a:solidFill>
                      <a:srgbClr val="1C6EBD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endParaRPr>
                </a:p>
              </p:txBody>
            </p:sp>
            <p:sp>
              <p:nvSpPr>
                <p:cNvPr id="296" name="Google Shape;296;g3f711cb8428_0_5"/>
                <p:cNvSpPr txBox="1"/>
                <p:nvPr/>
              </p:nvSpPr>
              <p:spPr>
                <a:xfrm>
                  <a:off x="1416362" y="2226775"/>
                  <a:ext cx="12135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4001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AR" sz="1000">
                      <a:solidFill>
                        <a:srgbClr val="0D2547"/>
                      </a:solidFill>
                      <a:latin typeface="Noto Sans Symbols Black"/>
                      <a:ea typeface="Noto Sans Symbols Black"/>
                      <a:cs typeface="Noto Sans Symbols Black"/>
                      <a:sym typeface="Noto Sans Symbols Black"/>
                    </a:rPr>
                    <a:t>VÍCTIMAS FATALES</a:t>
                  </a:r>
                  <a:endParaRPr sz="10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endParaRPr>
                </a:p>
              </p:txBody>
            </p:sp>
          </p:grpSp>
          <p:sp>
            <p:nvSpPr>
              <p:cNvPr id="297" name="Google Shape;297;g3f711cb8428_0_5"/>
              <p:cNvSpPr txBox="1"/>
              <p:nvPr/>
            </p:nvSpPr>
            <p:spPr>
              <a:xfrm>
                <a:off x="1296668" y="1716588"/>
                <a:ext cx="3510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195C34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171</a:t>
                </a:r>
                <a:endParaRPr sz="1500">
                  <a:solidFill>
                    <a:srgbClr val="195C34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  <p:sp>
            <p:nvSpPr>
              <p:cNvPr id="298" name="Google Shape;298;g3f711cb8428_0_5"/>
              <p:cNvSpPr txBox="1"/>
              <p:nvPr/>
            </p:nvSpPr>
            <p:spPr>
              <a:xfrm>
                <a:off x="1879995" y="1755138"/>
                <a:ext cx="7986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0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COLISIONES</a:t>
                </a:r>
                <a:endParaRPr sz="10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  <p:cxnSp>
            <p:nvCxnSpPr>
              <p:cNvPr id="299" name="Google Shape;299;g3f711cb8428_0_5"/>
              <p:cNvCxnSpPr/>
              <p:nvPr/>
            </p:nvCxnSpPr>
            <p:spPr>
              <a:xfrm rot="10800000">
                <a:off x="1743538" y="1679263"/>
                <a:ext cx="1500" cy="305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id="300" name="Google Shape;300;g3f711cb8428_0_5" title="ChatGPT Image 13 ago 2026, 16_12_34.png"/>
              <p:cNvPicPr preferRelativeResize="0"/>
              <p:nvPr/>
            </p:nvPicPr>
            <p:blipFill rotWithShape="1">
              <a:blip r:embed="rId4">
                <a:alphaModFix/>
              </a:blip>
              <a:srcRect b="51381" l="4690" r="73554" t="20352"/>
              <a:stretch/>
            </p:blipFill>
            <p:spPr>
              <a:xfrm>
                <a:off x="822834" y="1653564"/>
                <a:ext cx="412308" cy="357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1" name="Google Shape;301;g3f711cb8428_0_5"/>
              <p:cNvSpPr txBox="1"/>
              <p:nvPr/>
            </p:nvSpPr>
            <p:spPr>
              <a:xfrm>
                <a:off x="3841718" y="1716625"/>
                <a:ext cx="3510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1C6EBD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238</a:t>
                </a:r>
                <a:endParaRPr sz="1500">
                  <a:solidFill>
                    <a:srgbClr val="1C6EBD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  <p:sp>
            <p:nvSpPr>
              <p:cNvPr id="302" name="Google Shape;302;g3f711cb8428_0_5"/>
              <p:cNvSpPr txBox="1"/>
              <p:nvPr/>
            </p:nvSpPr>
            <p:spPr>
              <a:xfrm>
                <a:off x="4425045" y="1755175"/>
                <a:ext cx="7986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0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COLISIONES</a:t>
                </a:r>
                <a:endParaRPr sz="10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  <p:cxnSp>
            <p:nvCxnSpPr>
              <p:cNvPr id="303" name="Google Shape;303;g3f711cb8428_0_5"/>
              <p:cNvCxnSpPr/>
              <p:nvPr/>
            </p:nvCxnSpPr>
            <p:spPr>
              <a:xfrm rot="10800000">
                <a:off x="4288588" y="1679300"/>
                <a:ext cx="1500" cy="305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id="304" name="Google Shape;304;g3f711cb8428_0_5" title="ChatGPT Image 13 ago 2026, 16_12_34.png"/>
              <p:cNvPicPr preferRelativeResize="0"/>
              <p:nvPr/>
            </p:nvPicPr>
            <p:blipFill rotWithShape="1">
              <a:blip r:embed="rId4">
                <a:alphaModFix/>
              </a:blip>
              <a:srcRect b="53868" l="28937" r="49308" t="17865"/>
              <a:stretch/>
            </p:blipFill>
            <p:spPr>
              <a:xfrm>
                <a:off x="3391500" y="1653601"/>
                <a:ext cx="412308" cy="35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5" name="Google Shape;305;g3f711cb8428_0_5"/>
            <p:cNvSpPr txBox="1"/>
            <p:nvPr/>
          </p:nvSpPr>
          <p:spPr>
            <a:xfrm>
              <a:off x="4599874" y="1318796"/>
              <a:ext cx="730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0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(JST, 2022)</a:t>
              </a:r>
              <a:endParaRPr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06" name="Google Shape;306;g3f711cb8428_0_5"/>
          <p:cNvGrpSpPr/>
          <p:nvPr/>
        </p:nvGrpSpPr>
        <p:grpSpPr>
          <a:xfrm>
            <a:off x="615674" y="2802517"/>
            <a:ext cx="5093100" cy="1378061"/>
            <a:chOff x="500325" y="2802517"/>
            <a:chExt cx="5093100" cy="1378061"/>
          </a:xfrm>
        </p:grpSpPr>
        <p:grpSp>
          <p:nvGrpSpPr>
            <p:cNvPr id="307" name="Google Shape;307;g3f711cb8428_0_5"/>
            <p:cNvGrpSpPr/>
            <p:nvPr/>
          </p:nvGrpSpPr>
          <p:grpSpPr>
            <a:xfrm>
              <a:off x="500325" y="2802517"/>
              <a:ext cx="5093100" cy="1378061"/>
              <a:chOff x="506625" y="2810764"/>
              <a:chExt cx="5093100" cy="1614600"/>
            </a:xfrm>
          </p:grpSpPr>
          <p:sp>
            <p:nvSpPr>
              <p:cNvPr id="308" name="Google Shape;308;g3f711cb8428_0_5"/>
              <p:cNvSpPr/>
              <p:nvPr/>
            </p:nvSpPr>
            <p:spPr>
              <a:xfrm>
                <a:off x="506625" y="2810764"/>
                <a:ext cx="5093100" cy="1614600"/>
              </a:xfrm>
              <a:prstGeom prst="round2DiagRect">
                <a:avLst>
                  <a:gd fmla="val 16667" name="adj1"/>
                  <a:gd fmla="val 0" name="adj2"/>
                </a:avLst>
              </a:prstGeom>
              <a:solidFill>
                <a:schemeClr val="lt1"/>
              </a:solidFill>
              <a:ln cap="flat" cmpd="sng" w="9525">
                <a:solidFill>
                  <a:srgbClr val="0D25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g3f711cb8428_0_5"/>
              <p:cNvSpPr txBox="1"/>
              <p:nvPr/>
            </p:nvSpPr>
            <p:spPr>
              <a:xfrm>
                <a:off x="682649" y="2975236"/>
                <a:ext cx="4156800" cy="27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PROBLEMÁTICAS A ATACAR</a:t>
                </a:r>
                <a:endParaRPr sz="15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</p:grpSp>
        <p:cxnSp>
          <p:nvCxnSpPr>
            <p:cNvPr id="310" name="Google Shape;310;g3f711cb8428_0_5"/>
            <p:cNvCxnSpPr/>
            <p:nvPr/>
          </p:nvCxnSpPr>
          <p:spPr>
            <a:xfrm flipH="1" rot="10800000">
              <a:off x="3044950" y="3350425"/>
              <a:ext cx="2100" cy="6585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11" name="Google Shape;311;g3f711cb8428_0_5" title="ChatGPT Image 13 ago 2026, 16_12_34.png"/>
            <p:cNvPicPr preferRelativeResize="0"/>
            <p:nvPr/>
          </p:nvPicPr>
          <p:blipFill rotWithShape="1">
            <a:blip r:embed="rId4">
              <a:alphaModFix/>
            </a:blip>
            <a:srcRect b="53834" l="50740" r="27505" t="17899"/>
            <a:stretch/>
          </p:blipFill>
          <p:spPr>
            <a:xfrm>
              <a:off x="787797" y="3298164"/>
              <a:ext cx="412308" cy="357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g3f711cb8428_0_5" title="ChatGPT Image 13 ago 2026, 21_58_58.png"/>
            <p:cNvPicPr preferRelativeResize="0"/>
            <p:nvPr/>
          </p:nvPicPr>
          <p:blipFill rotWithShape="1">
            <a:blip r:embed="rId5">
              <a:alphaModFix/>
            </a:blip>
            <a:srcRect b="52668" l="75687" r="5847" t="18253"/>
            <a:stretch/>
          </p:blipFill>
          <p:spPr>
            <a:xfrm>
              <a:off x="3272450" y="3289788"/>
              <a:ext cx="356175" cy="37390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  <p:sp>
          <p:nvSpPr>
            <p:cNvPr id="313" name="Google Shape;313;g3f711cb8428_0_5"/>
            <p:cNvSpPr txBox="1"/>
            <p:nvPr/>
          </p:nvSpPr>
          <p:spPr>
            <a:xfrm>
              <a:off x="1235600" y="3413150"/>
              <a:ext cx="16422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195C34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SEGURIDAD</a:t>
              </a:r>
              <a:endParaRPr sz="827">
                <a:solidFill>
                  <a:srgbClr val="195C34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sp>
          <p:nvSpPr>
            <p:cNvPr id="314" name="Google Shape;314;g3f711cb8428_0_5"/>
            <p:cNvSpPr txBox="1"/>
            <p:nvPr/>
          </p:nvSpPr>
          <p:spPr>
            <a:xfrm>
              <a:off x="3716075" y="3413125"/>
              <a:ext cx="9846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1C6EBD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INEFICIENCIA</a:t>
              </a:r>
              <a:endParaRPr sz="827">
                <a:solidFill>
                  <a:srgbClr val="1C6EBD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sp>
          <p:nvSpPr>
            <p:cNvPr id="315" name="Google Shape;315;g3f711cb8428_0_5"/>
            <p:cNvSpPr txBox="1"/>
            <p:nvPr/>
          </p:nvSpPr>
          <p:spPr>
            <a:xfrm>
              <a:off x="787800" y="3733575"/>
              <a:ext cx="21378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Alto número de accidentes en pasos a nivel que involucran vehículos y peatones</a:t>
              </a:r>
              <a:endParaRPr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g3f711cb8428_0_5"/>
            <p:cNvSpPr txBox="1"/>
            <p:nvPr/>
          </p:nvSpPr>
          <p:spPr>
            <a:xfrm>
              <a:off x="3272450" y="3743125"/>
              <a:ext cx="21378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Los sistemas actuales no permiten saber la situación actual del tren</a:t>
              </a:r>
              <a:endParaRPr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17" name="Google Shape;317;g3f711cb8428_0_5"/>
          <p:cNvGrpSpPr/>
          <p:nvPr/>
        </p:nvGrpSpPr>
        <p:grpSpPr>
          <a:xfrm>
            <a:off x="621974" y="4340620"/>
            <a:ext cx="5093100" cy="1751841"/>
            <a:chOff x="506625" y="4340620"/>
            <a:chExt cx="5093100" cy="1751841"/>
          </a:xfrm>
        </p:grpSpPr>
        <p:grpSp>
          <p:nvGrpSpPr>
            <p:cNvPr id="318" name="Google Shape;318;g3f711cb8428_0_5"/>
            <p:cNvGrpSpPr/>
            <p:nvPr/>
          </p:nvGrpSpPr>
          <p:grpSpPr>
            <a:xfrm>
              <a:off x="506625" y="4340620"/>
              <a:ext cx="5093100" cy="1751841"/>
              <a:chOff x="506631" y="4530917"/>
              <a:chExt cx="5093100" cy="1552500"/>
            </a:xfrm>
          </p:grpSpPr>
          <p:sp>
            <p:nvSpPr>
              <p:cNvPr id="319" name="Google Shape;319;g3f711cb8428_0_5"/>
              <p:cNvSpPr/>
              <p:nvPr/>
            </p:nvSpPr>
            <p:spPr>
              <a:xfrm rot="10799595">
                <a:off x="506631" y="4531217"/>
                <a:ext cx="5093100" cy="1551900"/>
              </a:xfrm>
              <a:prstGeom prst="round1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rgbClr val="0D25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g3f711cb8428_0_5"/>
              <p:cNvSpPr txBox="1"/>
              <p:nvPr/>
            </p:nvSpPr>
            <p:spPr>
              <a:xfrm>
                <a:off x="682362" y="4681123"/>
                <a:ext cx="809400" cy="204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CLIENTE</a:t>
                </a:r>
                <a:endParaRPr sz="15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</p:grpSp>
        <p:sp>
          <p:nvSpPr>
            <p:cNvPr id="321" name="Google Shape;321;g3f711cb8428_0_5"/>
            <p:cNvSpPr txBox="1"/>
            <p:nvPr/>
          </p:nvSpPr>
          <p:spPr>
            <a:xfrm>
              <a:off x="4341021" y="4582611"/>
              <a:ext cx="457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0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ADIFSE</a:t>
              </a:r>
              <a:endParaRPr sz="10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pic>
          <p:nvPicPr>
            <p:cNvPr id="322" name="Google Shape;322;g3f711cb8428_0_5" title="ChatGPT Image 13 ago 2026, 16_45_05.png"/>
            <p:cNvPicPr preferRelativeResize="0"/>
            <p:nvPr/>
          </p:nvPicPr>
          <p:blipFill rotWithShape="1">
            <a:blip r:embed="rId6">
              <a:alphaModFix/>
            </a:blip>
            <a:srcRect b="49564" l="35879" r="35882" t="10999"/>
            <a:stretch/>
          </p:blipFill>
          <p:spPr>
            <a:xfrm>
              <a:off x="3924155" y="4672067"/>
              <a:ext cx="1290939" cy="1201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g3f711cb8428_0_5"/>
            <p:cNvSpPr txBox="1"/>
            <p:nvPr/>
          </p:nvSpPr>
          <p:spPr>
            <a:xfrm>
              <a:off x="4375371" y="5816850"/>
              <a:ext cx="388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000">
                  <a:solidFill>
                    <a:srgbClr val="195B34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SOFSE</a:t>
              </a:r>
              <a:endParaRPr sz="1000">
                <a:solidFill>
                  <a:srgbClr val="195B34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sp>
          <p:nvSpPr>
            <p:cNvPr id="324" name="Google Shape;324;g3f711cb8428_0_5"/>
            <p:cNvSpPr txBox="1"/>
            <p:nvPr/>
          </p:nvSpPr>
          <p:spPr>
            <a:xfrm>
              <a:off x="787800" y="5030150"/>
              <a:ext cx="2651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ADIFSE administra la infraestructura ferroviaria y los sistemas de control de circulación, siendo el organismo con competencia para evaluar e incorporar tecnologías destinadas a mejorar la seguridad y eficiencia de la operación ferroviaria. </a:t>
              </a:r>
              <a:endParaRPr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g3f711cb8428_0_5"/>
            <p:cNvSpPr txBox="1"/>
            <p:nvPr/>
          </p:nvSpPr>
          <p:spPr>
            <a:xfrm>
              <a:off x="787812" y="4823126"/>
              <a:ext cx="17451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(LEY 26.352: ARTs III &amp; VIII)</a:t>
              </a:r>
              <a:endParaRPr sz="827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cxnSp>
          <p:nvCxnSpPr>
            <p:cNvPr id="326" name="Google Shape;326;g3f711cb8428_0_5"/>
            <p:cNvCxnSpPr/>
            <p:nvPr/>
          </p:nvCxnSpPr>
          <p:spPr>
            <a:xfrm flipH="1" rot="10800000">
              <a:off x="3631775" y="4753675"/>
              <a:ext cx="1200" cy="10362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7" name="Google Shape;327;g3f711cb8428_0_5"/>
          <p:cNvGrpSpPr/>
          <p:nvPr/>
        </p:nvGrpSpPr>
        <p:grpSpPr>
          <a:xfrm>
            <a:off x="6465950" y="1090574"/>
            <a:ext cx="5093100" cy="2393400"/>
            <a:chOff x="6591785" y="1090574"/>
            <a:chExt cx="5093100" cy="2393400"/>
          </a:xfrm>
        </p:grpSpPr>
        <p:grpSp>
          <p:nvGrpSpPr>
            <p:cNvPr id="328" name="Google Shape;328;g3f711cb8428_0_5"/>
            <p:cNvGrpSpPr/>
            <p:nvPr/>
          </p:nvGrpSpPr>
          <p:grpSpPr>
            <a:xfrm>
              <a:off x="6591785" y="1090574"/>
              <a:ext cx="5093100" cy="2393400"/>
              <a:chOff x="6591785" y="1090574"/>
              <a:chExt cx="5093100" cy="2393400"/>
            </a:xfrm>
          </p:grpSpPr>
          <p:sp>
            <p:nvSpPr>
              <p:cNvPr id="329" name="Google Shape;329;g3f711cb8428_0_5"/>
              <p:cNvSpPr/>
              <p:nvPr/>
            </p:nvSpPr>
            <p:spPr>
              <a:xfrm>
                <a:off x="6591785" y="1090574"/>
                <a:ext cx="5093100" cy="2393400"/>
              </a:xfrm>
              <a:prstGeom prst="round1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rgbClr val="0D25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g3f711cb8428_0_5"/>
              <p:cNvSpPr txBox="1"/>
              <p:nvPr/>
            </p:nvSpPr>
            <p:spPr>
              <a:xfrm>
                <a:off x="6763056" y="1257337"/>
                <a:ext cx="4156800" cy="2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PASOS A NIVEL</a:t>
                </a:r>
                <a:endParaRPr sz="15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</p:grpSp>
        <p:pic>
          <p:nvPicPr>
            <p:cNvPr id="331" name="Google Shape;331;g3f711cb8428_0_5" title="paso_a_nivel_vehiculos.jpg"/>
            <p:cNvPicPr preferRelativeResize="0"/>
            <p:nvPr/>
          </p:nvPicPr>
          <p:blipFill rotWithShape="1">
            <a:blip r:embed="rId7">
              <a:alphaModFix/>
            </a:blip>
            <a:srcRect b="0" l="3156" r="12448" t="0"/>
            <a:stretch/>
          </p:blipFill>
          <p:spPr>
            <a:xfrm>
              <a:off x="7008875" y="1895650"/>
              <a:ext cx="1912500" cy="1274700"/>
            </a:xfrm>
            <a:prstGeom prst="roundRect">
              <a:avLst>
                <a:gd fmla="val 11360" name="adj"/>
              </a:avLst>
            </a:prstGeom>
            <a:solidFill>
              <a:srgbClr val="FFFFFF"/>
            </a:solidFill>
            <a:ln cap="flat" cmpd="sng" w="5150">
              <a:solidFill>
                <a:srgbClr val="DCE4EC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32" name="Google Shape;332;g3f711cb8428_0_5" title="paso_a_nivel_peatones.jpg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358155" y="1895657"/>
              <a:ext cx="1912500" cy="1274700"/>
            </a:xfrm>
            <a:prstGeom prst="roundRect">
              <a:avLst>
                <a:gd fmla="val 10463" name="adj"/>
              </a:avLst>
            </a:prstGeom>
            <a:noFill/>
            <a:ln>
              <a:noFill/>
            </a:ln>
          </p:spPr>
        </p:pic>
        <p:sp>
          <p:nvSpPr>
            <p:cNvPr id="333" name="Google Shape;333;g3f711cb8428_0_5"/>
            <p:cNvSpPr txBox="1"/>
            <p:nvPr/>
          </p:nvSpPr>
          <p:spPr>
            <a:xfrm>
              <a:off x="7008774" y="1662800"/>
              <a:ext cx="191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0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VEHICULARES</a:t>
              </a:r>
              <a:endParaRPr sz="10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sp>
          <p:nvSpPr>
            <p:cNvPr id="334" name="Google Shape;334;g3f711cb8428_0_5"/>
            <p:cNvSpPr txBox="1"/>
            <p:nvPr/>
          </p:nvSpPr>
          <p:spPr>
            <a:xfrm>
              <a:off x="9358049" y="1662800"/>
              <a:ext cx="191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0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PEATONALES</a:t>
              </a:r>
              <a:endParaRPr sz="10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  <p:cxnSp>
          <p:nvCxnSpPr>
            <p:cNvPr id="335" name="Google Shape;335;g3f711cb8428_0_5"/>
            <p:cNvCxnSpPr/>
            <p:nvPr/>
          </p:nvCxnSpPr>
          <p:spPr>
            <a:xfrm rot="10800000">
              <a:off x="9138113" y="1700500"/>
              <a:ext cx="600" cy="1560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6" name="Google Shape;336;g3f711cb8428_0_5"/>
          <p:cNvGrpSpPr/>
          <p:nvPr/>
        </p:nvGrpSpPr>
        <p:grpSpPr>
          <a:xfrm>
            <a:off x="6465950" y="3690017"/>
            <a:ext cx="5093100" cy="2393400"/>
            <a:chOff x="6591785" y="3690017"/>
            <a:chExt cx="5093100" cy="2393400"/>
          </a:xfrm>
        </p:grpSpPr>
        <p:grpSp>
          <p:nvGrpSpPr>
            <p:cNvPr id="337" name="Google Shape;337;g3f711cb8428_0_5"/>
            <p:cNvGrpSpPr/>
            <p:nvPr/>
          </p:nvGrpSpPr>
          <p:grpSpPr>
            <a:xfrm>
              <a:off x="6591785" y="3690017"/>
              <a:ext cx="5093100" cy="2393400"/>
              <a:chOff x="6591785" y="3690017"/>
              <a:chExt cx="5093100" cy="2393400"/>
            </a:xfrm>
          </p:grpSpPr>
          <p:sp>
            <p:nvSpPr>
              <p:cNvPr id="338" name="Google Shape;338;g3f711cb8428_0_5"/>
              <p:cNvSpPr/>
              <p:nvPr/>
            </p:nvSpPr>
            <p:spPr>
              <a:xfrm rot="10800000">
                <a:off x="6591785" y="3690017"/>
                <a:ext cx="5093100" cy="2393400"/>
              </a:xfrm>
              <a:prstGeom prst="round1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rgbClr val="0D25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g3f711cb8428_0_5"/>
              <p:cNvSpPr txBox="1"/>
              <p:nvPr/>
            </p:nvSpPr>
            <p:spPr>
              <a:xfrm>
                <a:off x="6763041" y="3837212"/>
                <a:ext cx="4156800" cy="2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500">
                    <a:solidFill>
                      <a:srgbClr val="0D2547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SOLUCIONES ACTUALES</a:t>
                </a:r>
                <a:endParaRPr sz="1500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endParaRPr>
              </a:p>
            </p:txBody>
          </p:sp>
        </p:grpSp>
        <p:pic>
          <p:nvPicPr>
            <p:cNvPr id="340" name="Google Shape;340;g3f711cb8428_0_5" title="ChatGPT Image 13 ago 2026, 23_15_02.png"/>
            <p:cNvPicPr preferRelativeResize="0"/>
            <p:nvPr/>
          </p:nvPicPr>
          <p:blipFill rotWithShape="1">
            <a:blip r:embed="rId9">
              <a:alphaModFix/>
            </a:blip>
            <a:srcRect b="50104" l="7029" r="68063" t="9803"/>
            <a:stretch/>
          </p:blipFill>
          <p:spPr>
            <a:xfrm>
              <a:off x="6897700" y="4166463"/>
              <a:ext cx="190149" cy="204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1" name="Google Shape;341;g3f711cb8428_0_5"/>
            <p:cNvCxnSpPr/>
            <p:nvPr/>
          </p:nvCxnSpPr>
          <p:spPr>
            <a:xfrm flipH="1">
              <a:off x="6855550" y="4740225"/>
              <a:ext cx="4568400" cy="8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42" name="Google Shape;342;g3f711cb8428_0_5" title="ChatGPT Image 13 ago 2026, 23_15_02.png"/>
            <p:cNvPicPr preferRelativeResize="0"/>
            <p:nvPr/>
          </p:nvPicPr>
          <p:blipFill rotWithShape="1">
            <a:blip r:embed="rId9">
              <a:alphaModFix/>
            </a:blip>
            <a:srcRect b="53488" l="36075" r="35035" t="6419"/>
            <a:stretch/>
          </p:blipFill>
          <p:spPr>
            <a:xfrm>
              <a:off x="6882500" y="4451903"/>
              <a:ext cx="220550" cy="204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3" name="Google Shape;343;g3f711cb8428_0_5"/>
            <p:cNvCxnSpPr/>
            <p:nvPr/>
          </p:nvCxnSpPr>
          <p:spPr>
            <a:xfrm flipH="1">
              <a:off x="6855550" y="5057375"/>
              <a:ext cx="4568400" cy="8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44" name="Google Shape;344;g3f711cb8428_0_5" title="ChatGPT Image 13 ago 2026, 23_15_02.png"/>
            <p:cNvPicPr preferRelativeResize="0"/>
            <p:nvPr/>
          </p:nvPicPr>
          <p:blipFill rotWithShape="1">
            <a:blip r:embed="rId9">
              <a:alphaModFix/>
            </a:blip>
            <a:srcRect b="50898" l="67411" r="7682" t="9009"/>
            <a:stretch/>
          </p:blipFill>
          <p:spPr>
            <a:xfrm>
              <a:off x="6897700" y="4794525"/>
              <a:ext cx="190149" cy="20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g3f711cb8428_0_5" title="ChatGPT Image 13 ago 2026, 23_15_02.png"/>
            <p:cNvPicPr preferRelativeResize="0"/>
            <p:nvPr/>
          </p:nvPicPr>
          <p:blipFill rotWithShape="1">
            <a:blip r:embed="rId9">
              <a:alphaModFix/>
            </a:blip>
            <a:srcRect b="10043" l="18703" r="56389" t="49864"/>
            <a:stretch/>
          </p:blipFill>
          <p:spPr>
            <a:xfrm>
              <a:off x="6897700" y="5121750"/>
              <a:ext cx="190149" cy="204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g3f711cb8428_0_5"/>
            <p:cNvSpPr/>
            <p:nvPr/>
          </p:nvSpPr>
          <p:spPr>
            <a:xfrm>
              <a:off x="6852700" y="5392750"/>
              <a:ext cx="4574100" cy="321600"/>
            </a:xfrm>
            <a:prstGeom prst="roundRect">
              <a:avLst>
                <a:gd fmla="val 16667" name="adj"/>
              </a:avLst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7" name="Google Shape;347;g3f711cb8428_0_5"/>
            <p:cNvCxnSpPr/>
            <p:nvPr/>
          </p:nvCxnSpPr>
          <p:spPr>
            <a:xfrm flipH="1">
              <a:off x="6852700" y="4425063"/>
              <a:ext cx="4574100" cy="9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8" name="Google Shape;348;g3f711cb8428_0_5"/>
            <p:cNvSpPr txBox="1"/>
            <p:nvPr/>
          </p:nvSpPr>
          <p:spPr>
            <a:xfrm>
              <a:off x="7181419" y="4204900"/>
              <a:ext cx="29331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Circuito de vía / vía isla </a:t>
              </a:r>
              <a:r>
                <a:rPr lang="es-AR" sz="827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(detección puntual)</a:t>
              </a:r>
              <a:endParaRPr sz="827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9" name="Google Shape;349;g3f711cb8428_0_5"/>
            <p:cNvSpPr txBox="1"/>
            <p:nvPr/>
          </p:nvSpPr>
          <p:spPr>
            <a:xfrm>
              <a:off x="7181419" y="4520379"/>
              <a:ext cx="29331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Barreras manuales </a:t>
              </a:r>
              <a:r>
                <a:rPr lang="es-AR" sz="827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(guardabarrera)</a:t>
              </a:r>
              <a:endParaRPr sz="827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g3f711cb8428_0_5"/>
            <p:cNvSpPr txBox="1"/>
            <p:nvPr/>
          </p:nvSpPr>
          <p:spPr>
            <a:xfrm>
              <a:off x="7181419" y="4839554"/>
              <a:ext cx="29331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Señalización pasiva </a:t>
              </a:r>
              <a:r>
                <a:rPr lang="es-AR" sz="827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(cruz de San Andrés)</a:t>
              </a:r>
              <a:endParaRPr sz="827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g3f711cb8428_0_5"/>
            <p:cNvSpPr txBox="1"/>
            <p:nvPr/>
          </p:nvSpPr>
          <p:spPr>
            <a:xfrm>
              <a:off x="7181419" y="5165817"/>
              <a:ext cx="2933100" cy="1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827">
                  <a:solidFill>
                    <a:srgbClr val="0D2547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Campaña de concientización </a:t>
              </a:r>
              <a:r>
                <a:rPr lang="es-AR" sz="827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(JST)</a:t>
              </a:r>
              <a:endParaRPr sz="827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52" name="Google Shape;352;g3f711cb8428_0_5"/>
            <p:cNvGrpSpPr/>
            <p:nvPr/>
          </p:nvGrpSpPr>
          <p:grpSpPr>
            <a:xfrm>
              <a:off x="7669715" y="5437129"/>
              <a:ext cx="2954352" cy="231053"/>
              <a:chOff x="7013365" y="5437129"/>
              <a:chExt cx="2954352" cy="231053"/>
            </a:xfrm>
          </p:grpSpPr>
          <p:sp>
            <p:nvSpPr>
              <p:cNvPr id="353" name="Google Shape;353;g3f711cb8428_0_5"/>
              <p:cNvSpPr/>
              <p:nvPr/>
            </p:nvSpPr>
            <p:spPr>
              <a:xfrm>
                <a:off x="7013365" y="5437129"/>
                <a:ext cx="259912" cy="231053"/>
              </a:xfrm>
              <a:custGeom>
                <a:rect b="b" l="l" r="r" t="t"/>
                <a:pathLst>
                  <a:path extrusionOk="0" h="751392" w="852170">
                    <a:moveTo>
                      <a:pt x="0" y="0"/>
                    </a:moveTo>
                    <a:lnTo>
                      <a:pt x="852170" y="0"/>
                    </a:lnTo>
                    <a:lnTo>
                      <a:pt x="852170" y="751392"/>
                    </a:lnTo>
                    <a:lnTo>
                      <a:pt x="0" y="751392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-16330" r="-15929" t="0"/>
                </a:stretch>
              </a:blipFill>
              <a:ln>
                <a:noFill/>
              </a:ln>
            </p:spPr>
          </p:sp>
          <p:sp>
            <p:nvSpPr>
              <p:cNvPr id="354" name="Google Shape;354;g3f711cb8428_0_5"/>
              <p:cNvSpPr txBox="1"/>
              <p:nvPr/>
            </p:nvSpPr>
            <p:spPr>
              <a:xfrm>
                <a:off x="7431217" y="5488754"/>
                <a:ext cx="2536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927">
                    <a:solidFill>
                      <a:schemeClr val="lt1"/>
                    </a:solidFill>
                    <a:latin typeface="Noto Sans Symbols Black"/>
                    <a:ea typeface="Noto Sans Symbols Black"/>
                    <a:cs typeface="Noto Sans Symbols Black"/>
                    <a:sym typeface="Noto Sans Symbols Black"/>
                  </a:rPr>
                  <a:t>PANDA </a:t>
                </a:r>
                <a:r>
                  <a:rPr lang="es-AR" sz="927">
                    <a:solidFill>
                      <a:schemeClr val="lt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(detección dinámica en tiempo real)</a:t>
                </a:r>
                <a:endParaRPr sz="927">
                  <a:solidFill>
                    <a:schemeClr val="lt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g3f3e3a5e08a_0_26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360" name="Google Shape;360;g3f3e3a5e08a_0_26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361" name="Google Shape;361;g3f3e3a5e08a_0_26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g3f3e3a5e08a_0_268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363" name="Google Shape;363;g3f3e3a5e08a_0_26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364" name="Google Shape;364;g3f3e3a5e08a_0_26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g3f3e3a5e08a_0_268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366" name="Google Shape;366;g3f3e3a5e08a_0_268"/>
          <p:cNvSpPr txBox="1"/>
          <p:nvPr/>
        </p:nvSpPr>
        <p:spPr>
          <a:xfrm>
            <a:off x="181650" y="90325"/>
            <a:ext cx="873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 DE SOLUCIÓN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7" name="Google Shape;367;g3f3e3a5e08a_0_26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sz="900"/>
          </a:p>
        </p:txBody>
      </p:sp>
      <p:sp>
        <p:nvSpPr>
          <p:cNvPr id="368" name="Google Shape;368;g3f3e3a5e08a_0_268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900"/>
          </a:p>
        </p:txBody>
      </p:sp>
      <p:cxnSp>
        <p:nvCxnSpPr>
          <p:cNvPr id="369" name="Google Shape;369;g3f3e3a5e08a_0_268"/>
          <p:cNvCxnSpPr/>
          <p:nvPr/>
        </p:nvCxnSpPr>
        <p:spPr>
          <a:xfrm>
            <a:off x="6098975" y="1308214"/>
            <a:ext cx="0" cy="38055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g3f3e3a5e08a_0_268"/>
          <p:cNvSpPr/>
          <p:nvPr/>
        </p:nvSpPr>
        <p:spPr>
          <a:xfrm>
            <a:off x="615675" y="1615362"/>
            <a:ext cx="5099400" cy="32145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>
            <a:noFill/>
          </a:ln>
        </p:spPr>
        <p:txBody>
          <a:bodyPr anchorCtr="0" anchor="t" bIns="44125" lIns="88300" spcFirstLastPara="1" rIns="88300" wrap="square" tIns="44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8"/>
              <a:buFont typeface="Arial"/>
              <a:buNone/>
            </a:pPr>
            <a:r>
              <a:t/>
            </a:r>
            <a:endParaRPr i="0" sz="1738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1" name="Google Shape;371;g3f3e3a5e08a_0_268"/>
          <p:cNvSpPr txBox="1"/>
          <p:nvPr/>
        </p:nvSpPr>
        <p:spPr>
          <a:xfrm>
            <a:off x="1096857" y="1805703"/>
            <a:ext cx="41370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3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CAPA DE SEGURIDAD</a:t>
            </a:r>
            <a:endParaRPr b="0" i="0" sz="3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3f3e3a5e08a_0_268"/>
          <p:cNvCxnSpPr/>
          <p:nvPr/>
        </p:nvCxnSpPr>
        <p:spPr>
          <a:xfrm>
            <a:off x="1094065" y="2534212"/>
            <a:ext cx="4142700" cy="13800"/>
          </a:xfrm>
          <a:prstGeom prst="straightConnector1">
            <a:avLst/>
          </a:prstGeom>
          <a:noFill/>
          <a:ln cap="flat" cmpd="sng" w="27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g3f3e3a5e08a_0_268"/>
          <p:cNvSpPr txBox="1"/>
          <p:nvPr/>
        </p:nvSpPr>
        <p:spPr>
          <a:xfrm>
            <a:off x="1094065" y="2722037"/>
            <a:ext cx="4142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6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Proteger el tránsito del PAN</a:t>
            </a:r>
            <a:endParaRPr b="1" i="0" sz="16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4" name="Google Shape;374;g3f3e3a5e08a_0_268"/>
          <p:cNvSpPr/>
          <p:nvPr/>
        </p:nvSpPr>
        <p:spPr>
          <a:xfrm>
            <a:off x="6479875" y="1615374"/>
            <a:ext cx="5099400" cy="32145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4125" lIns="88300" spcFirstLastPara="1" rIns="88300" wrap="square" tIns="44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8"/>
              <a:buFont typeface="Arial"/>
              <a:buNone/>
            </a:pPr>
            <a:r>
              <a:t/>
            </a:r>
            <a:endParaRPr i="0" sz="1738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5" name="Google Shape;375;g3f3e3a5e08a_0_268"/>
          <p:cNvSpPr txBox="1"/>
          <p:nvPr/>
        </p:nvSpPr>
        <p:spPr>
          <a:xfrm>
            <a:off x="6961057" y="1805715"/>
            <a:ext cx="41370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3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CAPA DE INTELIGENCIA</a:t>
            </a:r>
            <a:endParaRPr b="0" i="0" sz="3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g3f3e3a5e08a_0_268"/>
          <p:cNvCxnSpPr/>
          <p:nvPr/>
        </p:nvCxnSpPr>
        <p:spPr>
          <a:xfrm>
            <a:off x="6958265" y="2534224"/>
            <a:ext cx="4142700" cy="13800"/>
          </a:xfrm>
          <a:prstGeom prst="straightConnector1">
            <a:avLst/>
          </a:prstGeom>
          <a:noFill/>
          <a:ln cap="flat" cmpd="sng" w="27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g3f3e3a5e08a_0_268"/>
          <p:cNvSpPr txBox="1"/>
          <p:nvPr/>
        </p:nvSpPr>
        <p:spPr>
          <a:xfrm>
            <a:off x="6958265" y="2722049"/>
            <a:ext cx="4142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6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Comunicación y monitoreo</a:t>
            </a:r>
            <a:endParaRPr b="1" i="0" sz="16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8" name="Google Shape;378;g3f3e3a5e08a_0_268"/>
          <p:cNvSpPr txBox="1"/>
          <p:nvPr/>
        </p:nvSpPr>
        <p:spPr>
          <a:xfrm>
            <a:off x="1093965" y="3216495"/>
            <a:ext cx="41427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Localizar trenes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Detectar situaciones de peligro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Activar sistema de protección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9" name="Google Shape;379;g3f3e3a5e08a_0_268"/>
          <p:cNvSpPr txBox="1"/>
          <p:nvPr/>
        </p:nvSpPr>
        <p:spPr>
          <a:xfrm>
            <a:off x="6958265" y="3216495"/>
            <a:ext cx="41427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Comunicación entre dispositivos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Información en tiempo real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AutoNum type="arabicPeriod"/>
            </a:pPr>
            <a:r>
              <a:rPr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Mantenimiento predictivo</a:t>
            </a:r>
            <a:endParaRPr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0" name="Google Shape;380;g3f3e3a5e08a_0_268"/>
          <p:cNvSpPr/>
          <p:nvPr/>
        </p:nvSpPr>
        <p:spPr>
          <a:xfrm>
            <a:off x="1385275" y="5411750"/>
            <a:ext cx="9421200" cy="60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3e3a5e08a_0_268"/>
          <p:cNvSpPr txBox="1"/>
          <p:nvPr/>
        </p:nvSpPr>
        <p:spPr>
          <a:xfrm>
            <a:off x="1388375" y="5451962"/>
            <a:ext cx="942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chemeClr val="l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OBJETIVO DE LA DIVISIÓN</a:t>
            </a:r>
            <a:r>
              <a:rPr b="1" i="0" lang="es-AR" sz="1400" u="none" cap="none" strike="noStrike">
                <a:solidFill>
                  <a:schemeClr val="l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: </a:t>
            </a:r>
            <a:r>
              <a:rPr b="1" lang="es-AR">
                <a:solidFill>
                  <a:schemeClr val="l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garantizar que la capa de seguridad opere de forma independiente, manteniendo la protección del sistema aun ante fallas de la capa de inteligencia.</a:t>
            </a:r>
            <a:endParaRPr b="1">
              <a:solidFill>
                <a:schemeClr val="lt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62d9fef2_1_825"/>
          <p:cNvSpPr/>
          <p:nvPr/>
        </p:nvSpPr>
        <p:spPr>
          <a:xfrm>
            <a:off x="615675" y="4861868"/>
            <a:ext cx="1695000" cy="13614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g3f862d9fef2_1_82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388" name="Google Shape;388;g3f862d9fef2_1_82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389" name="Google Shape;389;g3f862d9fef2_1_82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g3f862d9fef2_1_825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391" name="Google Shape;391;g3f862d9fef2_1_82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392" name="Google Shape;392;g3f862d9fef2_1_82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g3f862d9fef2_1_825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394" name="Google Shape;394;g3f862d9fef2_1_825"/>
          <p:cNvSpPr txBox="1"/>
          <p:nvPr/>
        </p:nvSpPr>
        <p:spPr>
          <a:xfrm>
            <a:off x="181650" y="80300"/>
            <a:ext cx="503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DE ALTERNATIVAS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5" name="Google Shape;395;g3f862d9fef2_1_82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862d9fef2_1_82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862d9fef2_1_825"/>
          <p:cNvSpPr/>
          <p:nvPr/>
        </p:nvSpPr>
        <p:spPr>
          <a:xfrm>
            <a:off x="2310513" y="1253027"/>
            <a:ext cx="2317200" cy="629100"/>
          </a:xfrm>
          <a:prstGeom prst="rect">
            <a:avLst/>
          </a:prstGeom>
          <a:solidFill>
            <a:srgbClr val="10743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862d9fef2_1_825"/>
          <p:cNvSpPr/>
          <p:nvPr/>
        </p:nvSpPr>
        <p:spPr>
          <a:xfrm>
            <a:off x="2310516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862d9fef2_1_825"/>
          <p:cNvSpPr/>
          <p:nvPr/>
        </p:nvSpPr>
        <p:spPr>
          <a:xfrm>
            <a:off x="2310516" y="2743432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62d9fef2_1_825"/>
          <p:cNvSpPr/>
          <p:nvPr/>
        </p:nvSpPr>
        <p:spPr>
          <a:xfrm>
            <a:off x="2308965" y="3716337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862d9fef2_1_825"/>
          <p:cNvSpPr/>
          <p:nvPr/>
        </p:nvSpPr>
        <p:spPr>
          <a:xfrm>
            <a:off x="615675" y="1882137"/>
            <a:ext cx="1695000" cy="8613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862d9fef2_1_825"/>
          <p:cNvSpPr/>
          <p:nvPr/>
        </p:nvSpPr>
        <p:spPr>
          <a:xfrm>
            <a:off x="615675" y="2743432"/>
            <a:ext cx="1695000" cy="9729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62d9fef2_1_825"/>
          <p:cNvSpPr/>
          <p:nvPr/>
        </p:nvSpPr>
        <p:spPr>
          <a:xfrm>
            <a:off x="614025" y="3716337"/>
            <a:ext cx="1695000" cy="11391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862d9fef2_1_825"/>
          <p:cNvSpPr/>
          <p:nvPr/>
        </p:nvSpPr>
        <p:spPr>
          <a:xfrm>
            <a:off x="4627713" y="1253027"/>
            <a:ext cx="2317200" cy="629100"/>
          </a:xfrm>
          <a:prstGeom prst="rect">
            <a:avLst/>
          </a:prstGeom>
          <a:solidFill>
            <a:srgbClr val="10743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862d9fef2_1_825"/>
          <p:cNvSpPr/>
          <p:nvPr/>
        </p:nvSpPr>
        <p:spPr>
          <a:xfrm>
            <a:off x="4627719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862d9fef2_1_825"/>
          <p:cNvSpPr/>
          <p:nvPr/>
        </p:nvSpPr>
        <p:spPr>
          <a:xfrm>
            <a:off x="4627719" y="2743432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862d9fef2_1_825"/>
          <p:cNvSpPr/>
          <p:nvPr/>
        </p:nvSpPr>
        <p:spPr>
          <a:xfrm>
            <a:off x="4626168" y="3716337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862d9fef2_1_825"/>
          <p:cNvSpPr/>
          <p:nvPr/>
        </p:nvSpPr>
        <p:spPr>
          <a:xfrm>
            <a:off x="6944913" y="1253027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862d9fef2_1_825"/>
          <p:cNvSpPr/>
          <p:nvPr/>
        </p:nvSpPr>
        <p:spPr>
          <a:xfrm>
            <a:off x="6944921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62d9fef2_1_825"/>
          <p:cNvSpPr/>
          <p:nvPr/>
        </p:nvSpPr>
        <p:spPr>
          <a:xfrm>
            <a:off x="6944922" y="2743432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62d9fef2_1_825"/>
          <p:cNvSpPr/>
          <p:nvPr/>
        </p:nvSpPr>
        <p:spPr>
          <a:xfrm>
            <a:off x="6943370" y="3716337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862d9fef2_1_825"/>
          <p:cNvSpPr/>
          <p:nvPr/>
        </p:nvSpPr>
        <p:spPr>
          <a:xfrm>
            <a:off x="9262063" y="1253027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62d9fef2_1_825"/>
          <p:cNvSpPr/>
          <p:nvPr/>
        </p:nvSpPr>
        <p:spPr>
          <a:xfrm>
            <a:off x="9262074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862d9fef2_1_825"/>
          <p:cNvSpPr/>
          <p:nvPr/>
        </p:nvSpPr>
        <p:spPr>
          <a:xfrm>
            <a:off x="9262075" y="2743432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862d9fef2_1_825"/>
          <p:cNvSpPr/>
          <p:nvPr/>
        </p:nvSpPr>
        <p:spPr>
          <a:xfrm>
            <a:off x="9260523" y="3716337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g3f862d9fef2_1_825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9439" l="6474" r="82881" t="56523"/>
          <a:stretch/>
        </p:blipFill>
        <p:spPr>
          <a:xfrm>
            <a:off x="720063" y="2111868"/>
            <a:ext cx="380230" cy="40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f862d9fef2_1_825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528" l="25220" r="64135" t="57434"/>
          <a:stretch/>
        </p:blipFill>
        <p:spPr>
          <a:xfrm>
            <a:off x="690193" y="2995082"/>
            <a:ext cx="444352" cy="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f862d9fef2_1_825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597" l="44711" r="44644" t="57364"/>
          <a:stretch/>
        </p:blipFill>
        <p:spPr>
          <a:xfrm>
            <a:off x="781417" y="4084972"/>
            <a:ext cx="380226" cy="40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f862d9fef2_1_825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186" l="63577" r="25777" t="57775"/>
          <a:stretch/>
        </p:blipFill>
        <p:spPr>
          <a:xfrm>
            <a:off x="722256" y="5341654"/>
            <a:ext cx="380226" cy="40182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f862d9fef2_1_825"/>
          <p:cNvSpPr txBox="1"/>
          <p:nvPr/>
        </p:nvSpPr>
        <p:spPr>
          <a:xfrm>
            <a:off x="2812551" y="1293666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DETECCIÓN PUNTUAL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1" name="Google Shape;421;g3f862d9fef2_1_825"/>
          <p:cNvSpPr txBox="1"/>
          <p:nvPr/>
        </p:nvSpPr>
        <p:spPr>
          <a:xfrm>
            <a:off x="5129614" y="1293666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DETECCIÓN 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EMBARCADA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2" name="Google Shape;422;g3f862d9fef2_1_825"/>
          <p:cNvSpPr txBox="1"/>
          <p:nvPr/>
        </p:nvSpPr>
        <p:spPr>
          <a:xfrm>
            <a:off x="7446802" y="1293666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DETECCIÓN 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 ÁREA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3" name="Google Shape;423;g3f862d9fef2_1_825"/>
          <p:cNvSpPr txBox="1"/>
          <p:nvPr/>
        </p:nvSpPr>
        <p:spPr>
          <a:xfrm>
            <a:off x="9795715" y="1293666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DETECCIÓN 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DISTRIBUIDA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4" name="Google Shape;424;g3f862d9fef2_1_825"/>
          <p:cNvSpPr txBox="1"/>
          <p:nvPr/>
        </p:nvSpPr>
        <p:spPr>
          <a:xfrm>
            <a:off x="7102225" y="191512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Sensores de seguimiento ubicados en puntos específicos del camino del tren.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5" name="Google Shape;425;g3f862d9fef2_1_825"/>
          <p:cNvSpPr txBox="1"/>
          <p:nvPr/>
        </p:nvSpPr>
        <p:spPr>
          <a:xfrm>
            <a:off x="4769175" y="1915127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Dispositivo a bordo del tren compartiendo su información.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6" name="Google Shape;426;g3f862d9fef2_1_825"/>
          <p:cNvSpPr txBox="1"/>
          <p:nvPr/>
        </p:nvSpPr>
        <p:spPr>
          <a:xfrm>
            <a:off x="2452050" y="191512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Sensores concentrados y de evento ubicados en puntos específicos de la vía.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7" name="Google Shape;427;g3f862d9fef2_1_825"/>
          <p:cNvSpPr txBox="1"/>
          <p:nvPr/>
        </p:nvSpPr>
        <p:spPr>
          <a:xfrm>
            <a:off x="9435275" y="1915127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Sensor distribuido a lo largo de la vía.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8" name="Google Shape;428;g3f862d9fef2_1_825"/>
          <p:cNvSpPr txBox="1"/>
          <p:nvPr/>
        </p:nvSpPr>
        <p:spPr>
          <a:xfrm>
            <a:off x="2452050" y="2832832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Detecta el paso del tren en un punto y envía señal al sistema.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9" name="Google Shape;429;g3f862d9fef2_1_825"/>
          <p:cNvSpPr txBox="1"/>
          <p:nvPr/>
        </p:nvSpPr>
        <p:spPr>
          <a:xfrm>
            <a:off x="4769175" y="2832832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Obtiene posición, velocidad, aceleración, dirección, etc.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0" name="Google Shape;430;g3f862d9fef2_1_825"/>
          <p:cNvSpPr txBox="1"/>
          <p:nvPr/>
        </p:nvSpPr>
        <p:spPr>
          <a:xfrm>
            <a:off x="7086350" y="2832832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Mide continuamente al tren dentro de un área y estima su llegada al PAN.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1" name="Google Shape;431;g3f862d9fef2_1_825"/>
          <p:cNvSpPr txBox="1"/>
          <p:nvPr/>
        </p:nvSpPr>
        <p:spPr>
          <a:xfrm>
            <a:off x="9403575" y="2832832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Detecta vibraciones a lo largo de toda la vía y estima posición, velocidad, etc.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2" name="Google Shape;432;g3f862d9fef2_1_825"/>
          <p:cNvSpPr txBox="1"/>
          <p:nvPr/>
        </p:nvSpPr>
        <p:spPr>
          <a:xfrm>
            <a:off x="1010162" y="2131287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3" name="Google Shape;433;g3f862d9fef2_1_825"/>
          <p:cNvSpPr txBox="1"/>
          <p:nvPr/>
        </p:nvSpPr>
        <p:spPr>
          <a:xfrm>
            <a:off x="2450450" y="377348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Simple de implementar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Tecnología aprobada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Bajo costo unitario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4" name="Google Shape;434;g3f862d9fef2_1_825"/>
          <p:cNvSpPr txBox="1"/>
          <p:nvPr/>
        </p:nvSpPr>
        <p:spPr>
          <a:xfrm>
            <a:off x="4767625" y="3773487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Información continua y precisa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Independiente de la infraestructura de la vía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5" name="Google Shape;435;g3f862d9fef2_1_825"/>
          <p:cNvSpPr txBox="1"/>
          <p:nvPr/>
        </p:nvSpPr>
        <p:spPr>
          <a:xfrm>
            <a:off x="7102100" y="3773487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Estimación continua de llegada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Una sola ubicación por sentido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6" name="Google Shape;436;g3f862d9fef2_1_825"/>
          <p:cNvSpPr txBox="1"/>
          <p:nvPr/>
        </p:nvSpPr>
        <p:spPr>
          <a:xfrm>
            <a:off x="9404875" y="3773487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Cobertura continua a lo largo de grandes distancias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Alta precisión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Detecta múltiples trenes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7" name="Google Shape;437;g3f862d9fef2_1_825"/>
          <p:cNvSpPr/>
          <p:nvPr/>
        </p:nvSpPr>
        <p:spPr>
          <a:xfrm>
            <a:off x="2310616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862d9fef2_1_825"/>
          <p:cNvSpPr/>
          <p:nvPr/>
        </p:nvSpPr>
        <p:spPr>
          <a:xfrm>
            <a:off x="4627819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862d9fef2_1_825"/>
          <p:cNvSpPr/>
          <p:nvPr/>
        </p:nvSpPr>
        <p:spPr>
          <a:xfrm>
            <a:off x="6945022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862d9fef2_1_825"/>
          <p:cNvSpPr/>
          <p:nvPr/>
        </p:nvSpPr>
        <p:spPr>
          <a:xfrm>
            <a:off x="9262175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62d9fef2_1_825"/>
          <p:cNvSpPr txBox="1"/>
          <p:nvPr/>
        </p:nvSpPr>
        <p:spPr>
          <a:xfrm>
            <a:off x="2452100" y="4915609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Solo detecta en ubicaciones puntuales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brinda información cinemática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tiempo de cierre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2" name="Google Shape;442;g3f862d9fef2_1_825"/>
          <p:cNvSpPr txBox="1"/>
          <p:nvPr/>
        </p:nvSpPr>
        <p:spPr>
          <a:xfrm>
            <a:off x="4769275" y="4915609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Depende de comunicación inalámbrica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Independiente de la infraestructura de la vía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3" name="Google Shape;443;g3f862d9fef2_1_825"/>
          <p:cNvSpPr txBox="1"/>
          <p:nvPr/>
        </p:nvSpPr>
        <p:spPr>
          <a:xfrm>
            <a:off x="7103750" y="4915609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Alcance limitado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Puede verse afectado por el clima y entorno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4" name="Google Shape;444;g3f862d9fef2_1_825"/>
          <p:cNvSpPr txBox="1"/>
          <p:nvPr/>
        </p:nvSpPr>
        <p:spPr>
          <a:xfrm>
            <a:off x="9406525" y="4915609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Alto costo inicial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Instalación compleja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Requiere equipamiento especializado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5" name="Google Shape;445;g3f862d9fef2_1_825"/>
          <p:cNvSpPr txBox="1"/>
          <p:nvPr/>
        </p:nvSpPr>
        <p:spPr>
          <a:xfrm>
            <a:off x="997287" y="2956713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¿CÓMO FUNCIONA?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6" name="Google Shape;446;g3f862d9fef2_1_825"/>
          <p:cNvSpPr txBox="1"/>
          <p:nvPr/>
        </p:nvSpPr>
        <p:spPr>
          <a:xfrm>
            <a:off x="1010162" y="4108074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7" name="Google Shape;447;g3f862d9fef2_1_825"/>
          <p:cNvSpPr txBox="1"/>
          <p:nvPr/>
        </p:nvSpPr>
        <p:spPr>
          <a:xfrm>
            <a:off x="997287" y="5361068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48" name="Google Shape;448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2528534" y="4342859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2528534" y="3882391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2528534" y="411167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4846984" y="4337719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4846984" y="3881428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7181404" y="4335643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7181404" y="3881441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9484134" y="434371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9484134" y="3883246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9484134" y="4112528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9484134" y="4567597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2528534" y="502096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2528534" y="5478910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2528534" y="5942919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4843607" y="5029666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4843607" y="5487613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7181407" y="5029430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7181407" y="524789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9484132" y="5029680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9484132" y="524814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f862d9fef2_1_825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9484132" y="5481797"/>
            <a:ext cx="133298" cy="13055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f862d9fef2_1_825"/>
          <p:cNvSpPr txBox="1"/>
          <p:nvPr/>
        </p:nvSpPr>
        <p:spPr>
          <a:xfrm>
            <a:off x="81387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AR" sz="22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SISTEMAS DE DETECCIÓN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g3f862d9fef2_1_74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475" name="Google Shape;475;g3f862d9fef2_1_74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476" name="Google Shape;476;g3f862d9fef2_1_74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g3f862d9fef2_1_748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478" name="Google Shape;478;g3f862d9fef2_1_74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479" name="Google Shape;479;g3f862d9fef2_1_74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0" name="Google Shape;480;g3f862d9fef2_1_748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481" name="Google Shape;481;g3f862d9fef2_1_748"/>
          <p:cNvSpPr txBox="1"/>
          <p:nvPr/>
        </p:nvSpPr>
        <p:spPr>
          <a:xfrm>
            <a:off x="181650" y="90325"/>
            <a:ext cx="446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DETECCIÓN REDUNDANTE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82" name="Google Shape;482;g3f862d9fef2_1_74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862d9fef2_1_748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862d9fef2_1_748"/>
          <p:cNvSpPr/>
          <p:nvPr/>
        </p:nvSpPr>
        <p:spPr>
          <a:xfrm>
            <a:off x="614125" y="918350"/>
            <a:ext cx="10963500" cy="8064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1074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85" name="Google Shape;485;g3f862d9fef2_1_748"/>
          <p:cNvGrpSpPr/>
          <p:nvPr/>
        </p:nvGrpSpPr>
        <p:grpSpPr>
          <a:xfrm>
            <a:off x="2107013" y="1022975"/>
            <a:ext cx="8139024" cy="554100"/>
            <a:chOff x="2487551" y="1044500"/>
            <a:chExt cx="8139024" cy="554100"/>
          </a:xfrm>
        </p:grpSpPr>
        <p:pic>
          <p:nvPicPr>
            <p:cNvPr id="486" name="Google Shape;486;g3f862d9fef2_1_748" title="ChatGPT Image 13 ago 2026, 16_12_34.png"/>
            <p:cNvPicPr preferRelativeResize="0"/>
            <p:nvPr/>
          </p:nvPicPr>
          <p:blipFill rotWithShape="1">
            <a:blip r:embed="rId4">
              <a:alphaModFix/>
            </a:blip>
            <a:srcRect b="53834" l="50740" r="27505" t="17899"/>
            <a:stretch/>
          </p:blipFill>
          <p:spPr>
            <a:xfrm>
              <a:off x="2487551" y="1075196"/>
              <a:ext cx="568827" cy="492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g3f862d9fef2_1_748"/>
            <p:cNvSpPr txBox="1"/>
            <p:nvPr/>
          </p:nvSpPr>
          <p:spPr>
            <a:xfrm>
              <a:off x="3056375" y="1044500"/>
              <a:ext cx="7570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AR" sz="12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La detección redundante utiliza dos sistemas independientes para detectar la presencia del tren.</a:t>
              </a:r>
              <a:endParaRPr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AR" sz="12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 utiliza la estructura </a:t>
              </a:r>
              <a:r>
                <a:rPr b="1" lang="es-AR" sz="1200" u="sng">
                  <a:solidFill>
                    <a:srgbClr val="107439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1oo2</a:t>
              </a:r>
              <a:r>
                <a:rPr lang="es-AR" sz="12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, el sistema es seguro si </a:t>
              </a:r>
              <a:r>
                <a:rPr b="1" lang="es-AR" sz="1200" u="sng">
                  <a:solidFill>
                    <a:srgbClr val="107439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al menos uno</a:t>
              </a:r>
              <a:r>
                <a:rPr lang="es-AR" sz="1200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funciona correctamente.</a:t>
              </a:r>
              <a:endParaRPr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88" name="Google Shape;488;g3f862d9fef2_1_748"/>
          <p:cNvSpPr/>
          <p:nvPr/>
        </p:nvSpPr>
        <p:spPr>
          <a:xfrm>
            <a:off x="1107129" y="2547119"/>
            <a:ext cx="1271400" cy="443400"/>
          </a:xfrm>
          <a:prstGeom prst="rect">
            <a:avLst/>
          </a:prstGeom>
          <a:solidFill>
            <a:srgbClr val="061F45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62d9fef2_1_748"/>
          <p:cNvSpPr/>
          <p:nvPr/>
        </p:nvSpPr>
        <p:spPr>
          <a:xfrm>
            <a:off x="1107125" y="299051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62d9fef2_1_748"/>
          <p:cNvSpPr/>
          <p:nvPr/>
        </p:nvSpPr>
        <p:spPr>
          <a:xfrm>
            <a:off x="2378530" y="2547119"/>
            <a:ext cx="1271400" cy="443400"/>
          </a:xfrm>
          <a:prstGeom prst="rect">
            <a:avLst/>
          </a:prstGeom>
          <a:solidFill>
            <a:srgbClr val="061F45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62d9fef2_1_748"/>
          <p:cNvSpPr/>
          <p:nvPr/>
        </p:nvSpPr>
        <p:spPr>
          <a:xfrm>
            <a:off x="2378530" y="299051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62d9fef2_1_748"/>
          <p:cNvSpPr/>
          <p:nvPr/>
        </p:nvSpPr>
        <p:spPr>
          <a:xfrm>
            <a:off x="3649924" y="2547119"/>
            <a:ext cx="1584600" cy="443400"/>
          </a:xfrm>
          <a:prstGeom prst="rect">
            <a:avLst/>
          </a:prstGeom>
          <a:solidFill>
            <a:srgbClr val="061F45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62d9fef2_1_748"/>
          <p:cNvSpPr/>
          <p:nvPr/>
        </p:nvSpPr>
        <p:spPr>
          <a:xfrm>
            <a:off x="3649922" y="2990520"/>
            <a:ext cx="15846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862d9fef2_1_748"/>
          <p:cNvSpPr txBox="1"/>
          <p:nvPr/>
        </p:nvSpPr>
        <p:spPr>
          <a:xfrm>
            <a:off x="1382562" y="2640862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lang="es-AR" sz="846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CANAL 1</a:t>
            </a:r>
            <a:endParaRPr b="1" i="0" sz="846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5" name="Google Shape;495;g3f862d9fef2_1_748"/>
          <p:cNvSpPr txBox="1"/>
          <p:nvPr/>
        </p:nvSpPr>
        <p:spPr>
          <a:xfrm>
            <a:off x="2653913" y="2640862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lang="es-AR" sz="846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CANAL 2</a:t>
            </a:r>
            <a:endParaRPr b="1" i="0" sz="846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6" name="Google Shape;496;g3f862d9fef2_1_748"/>
          <p:cNvSpPr txBox="1"/>
          <p:nvPr/>
        </p:nvSpPr>
        <p:spPr>
          <a:xfrm>
            <a:off x="3920525" y="2575769"/>
            <a:ext cx="10434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lang="es-AR" sz="846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RESULTADO</a:t>
            </a:r>
            <a:endParaRPr b="1" sz="846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lang="es-AR" sz="846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(tren detectado)</a:t>
            </a:r>
            <a:endParaRPr b="1" sz="846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7" name="Google Shape;497;g3f862d9fef2_1_748"/>
          <p:cNvSpPr/>
          <p:nvPr/>
        </p:nvSpPr>
        <p:spPr>
          <a:xfrm>
            <a:off x="1107125" y="343391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862d9fef2_1_748"/>
          <p:cNvSpPr/>
          <p:nvPr/>
        </p:nvSpPr>
        <p:spPr>
          <a:xfrm>
            <a:off x="2378530" y="343391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62d9fef2_1_748"/>
          <p:cNvSpPr/>
          <p:nvPr/>
        </p:nvSpPr>
        <p:spPr>
          <a:xfrm>
            <a:off x="3649922" y="3433920"/>
            <a:ext cx="15846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62d9fef2_1_748"/>
          <p:cNvSpPr/>
          <p:nvPr/>
        </p:nvSpPr>
        <p:spPr>
          <a:xfrm>
            <a:off x="1107125" y="387496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62d9fef2_1_748"/>
          <p:cNvSpPr/>
          <p:nvPr/>
        </p:nvSpPr>
        <p:spPr>
          <a:xfrm>
            <a:off x="2378530" y="3874969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62d9fef2_1_748"/>
          <p:cNvSpPr/>
          <p:nvPr/>
        </p:nvSpPr>
        <p:spPr>
          <a:xfrm>
            <a:off x="3649922" y="3874970"/>
            <a:ext cx="15846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862d9fef2_1_748"/>
          <p:cNvSpPr/>
          <p:nvPr/>
        </p:nvSpPr>
        <p:spPr>
          <a:xfrm>
            <a:off x="1107125" y="4313448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862d9fef2_1_748"/>
          <p:cNvSpPr/>
          <p:nvPr/>
        </p:nvSpPr>
        <p:spPr>
          <a:xfrm>
            <a:off x="2378530" y="4313448"/>
            <a:ext cx="12714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862d9fef2_1_748"/>
          <p:cNvSpPr/>
          <p:nvPr/>
        </p:nvSpPr>
        <p:spPr>
          <a:xfrm>
            <a:off x="3649922" y="4313449"/>
            <a:ext cx="1584600" cy="443400"/>
          </a:xfrm>
          <a:prstGeom prst="rect">
            <a:avLst/>
          </a:prstGeom>
          <a:solidFill>
            <a:schemeClr val="lt1"/>
          </a:solidFill>
          <a:ln cap="flat" cmpd="sng" w="134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425" lIns="64425" spcFirstLastPara="1" rIns="64425" wrap="square" tIns="6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Arial"/>
              <a:buNone/>
            </a:pPr>
            <a:r>
              <a:t/>
            </a:r>
            <a:endParaRPr b="0" i="0" sz="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862d9fef2_1_748"/>
          <p:cNvSpPr txBox="1"/>
          <p:nvPr/>
        </p:nvSpPr>
        <p:spPr>
          <a:xfrm>
            <a:off x="1382537" y="3084262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Funciona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7" name="Google Shape;507;g3f862d9fef2_1_748"/>
          <p:cNvSpPr txBox="1"/>
          <p:nvPr/>
        </p:nvSpPr>
        <p:spPr>
          <a:xfrm>
            <a:off x="2653937" y="3084262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Funciona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8" name="Google Shape;508;g3f862d9fef2_1_748"/>
          <p:cNvSpPr txBox="1"/>
          <p:nvPr/>
        </p:nvSpPr>
        <p:spPr>
          <a:xfrm>
            <a:off x="1382537" y="3526487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Funciona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9" name="Google Shape;509;g3f862d9fef2_1_748"/>
          <p:cNvSpPr txBox="1"/>
          <p:nvPr/>
        </p:nvSpPr>
        <p:spPr>
          <a:xfrm>
            <a:off x="2653937" y="3967425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Funciona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0" name="Google Shape;510;g3f862d9fef2_1_748"/>
          <p:cNvSpPr txBox="1"/>
          <p:nvPr/>
        </p:nvSpPr>
        <p:spPr>
          <a:xfrm>
            <a:off x="2653937" y="3526487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1" name="Google Shape;511;g3f862d9fef2_1_748"/>
          <p:cNvSpPr txBox="1"/>
          <p:nvPr/>
        </p:nvSpPr>
        <p:spPr>
          <a:xfrm>
            <a:off x="1382537" y="3967425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2" name="Google Shape;512;g3f862d9fef2_1_748"/>
          <p:cNvSpPr txBox="1"/>
          <p:nvPr/>
        </p:nvSpPr>
        <p:spPr>
          <a:xfrm>
            <a:off x="1382537" y="4417550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3" name="Google Shape;513;g3f862d9fef2_1_748"/>
          <p:cNvSpPr txBox="1"/>
          <p:nvPr/>
        </p:nvSpPr>
        <p:spPr>
          <a:xfrm>
            <a:off x="2653937" y="4417550"/>
            <a:ext cx="72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514" name="Google Shape;514;g3f862d9fef2_1_748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4266075" y="3039694"/>
            <a:ext cx="352308" cy="3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f862d9fef2_1_748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4266075" y="3481919"/>
            <a:ext cx="352308" cy="3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f862d9fef2_1_748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4266075" y="3922856"/>
            <a:ext cx="352308" cy="3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f862d9fef2_1_748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4266067" y="4372989"/>
            <a:ext cx="352299" cy="345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8" name="Google Shape;518;g3f862d9fef2_1_748"/>
          <p:cNvCxnSpPr/>
          <p:nvPr/>
        </p:nvCxnSpPr>
        <p:spPr>
          <a:xfrm>
            <a:off x="6097125" y="2495875"/>
            <a:ext cx="5100" cy="35751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g3f862d9fef2_1_748"/>
          <p:cNvCxnSpPr>
            <a:stCxn id="520" idx="3"/>
          </p:cNvCxnSpPr>
          <p:nvPr/>
        </p:nvCxnSpPr>
        <p:spPr>
          <a:xfrm>
            <a:off x="2449225" y="2106700"/>
            <a:ext cx="3446100" cy="36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g3f862d9fef2_1_748"/>
          <p:cNvSpPr txBox="1"/>
          <p:nvPr/>
        </p:nvSpPr>
        <p:spPr>
          <a:xfrm>
            <a:off x="614125" y="1894450"/>
            <a:ext cx="1835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6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One Out Of Two</a:t>
            </a:r>
            <a:endParaRPr b="1" i="0" sz="16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21" name="Google Shape;521;g3f862d9fef2_1_748"/>
          <p:cNvCxnSpPr>
            <a:stCxn id="522" idx="3"/>
          </p:cNvCxnSpPr>
          <p:nvPr/>
        </p:nvCxnSpPr>
        <p:spPr>
          <a:xfrm>
            <a:off x="7240229" y="2106625"/>
            <a:ext cx="4124700" cy="21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g3f862d9fef2_1_748"/>
          <p:cNvSpPr txBox="1"/>
          <p:nvPr/>
        </p:nvSpPr>
        <p:spPr>
          <a:xfrm>
            <a:off x="6196829" y="1894375"/>
            <a:ext cx="1043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6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Impacto</a:t>
            </a:r>
            <a:endParaRPr b="1" i="0" sz="16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3" name="Google Shape;523;g3f862d9fef2_1_748"/>
          <p:cNvSpPr/>
          <p:nvPr/>
        </p:nvSpPr>
        <p:spPr>
          <a:xfrm>
            <a:off x="6964800" y="2547331"/>
            <a:ext cx="1780500" cy="1067400"/>
          </a:xfrm>
          <a:prstGeom prst="roundRect">
            <a:avLst>
              <a:gd fmla="val 16667" name="adj"/>
            </a:avLst>
          </a:prstGeom>
          <a:solidFill>
            <a:srgbClr val="E8EFF6"/>
          </a:solidFill>
          <a:ln cap="flat" cmpd="sng" w="9525">
            <a:solidFill>
              <a:srgbClr val="1C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862d9fef2_1_748"/>
          <p:cNvSpPr/>
          <p:nvPr/>
        </p:nvSpPr>
        <p:spPr>
          <a:xfrm>
            <a:off x="6964800" y="2547119"/>
            <a:ext cx="1780500" cy="247500"/>
          </a:xfrm>
          <a:prstGeom prst="roundRect">
            <a:avLst>
              <a:gd fmla="val 36324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862d9fef2_1_748"/>
          <p:cNvSpPr txBox="1"/>
          <p:nvPr/>
        </p:nvSpPr>
        <p:spPr>
          <a:xfrm>
            <a:off x="6964800" y="2521946"/>
            <a:ext cx="1780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8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 solo canal</a:t>
            </a:r>
            <a:endParaRPr b="1" i="0" sz="8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6" name="Google Shape;526;g3f862d9fef2_1_748"/>
          <p:cNvSpPr txBox="1"/>
          <p:nvPr/>
        </p:nvSpPr>
        <p:spPr>
          <a:xfrm>
            <a:off x="7038075" y="2972290"/>
            <a:ext cx="1328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Probabilidad de </a:t>
            </a:r>
            <a:endParaRPr sz="846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 = P1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27" name="Google Shape;527;g3f862d9fef2_1_748"/>
          <p:cNvCxnSpPr/>
          <p:nvPr/>
        </p:nvCxnSpPr>
        <p:spPr>
          <a:xfrm>
            <a:off x="8924979" y="3113320"/>
            <a:ext cx="336000" cy="4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g3f862d9fef2_1_748"/>
          <p:cNvCxnSpPr/>
          <p:nvPr/>
        </p:nvCxnSpPr>
        <p:spPr>
          <a:xfrm>
            <a:off x="7993425" y="2908443"/>
            <a:ext cx="0" cy="582900"/>
          </a:xfrm>
          <a:prstGeom prst="straightConnector1">
            <a:avLst/>
          </a:prstGeom>
          <a:noFill/>
          <a:ln cap="flat" cmpd="sng" w="9525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g3f862d9fef2_1_748"/>
          <p:cNvSpPr txBox="1"/>
          <p:nvPr/>
        </p:nvSpPr>
        <p:spPr>
          <a:xfrm>
            <a:off x="8149652" y="3038362"/>
            <a:ext cx="4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8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10</a:t>
            </a:r>
            <a:r>
              <a:rPr baseline="30000" lang="es-AR" sz="18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-3</a:t>
            </a:r>
            <a:endParaRPr b="0" baseline="30000" i="0" sz="1800" u="none" cap="none" strike="noStrike">
              <a:solidFill>
                <a:srgbClr val="0D2547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530" name="Google Shape;530;g3f862d9fef2_1_748"/>
          <p:cNvSpPr/>
          <p:nvPr/>
        </p:nvSpPr>
        <p:spPr>
          <a:xfrm>
            <a:off x="9428675" y="2547331"/>
            <a:ext cx="1780500" cy="1067400"/>
          </a:xfrm>
          <a:prstGeom prst="roundRect">
            <a:avLst>
              <a:gd fmla="val 16667" name="adj"/>
            </a:avLst>
          </a:prstGeom>
          <a:solidFill>
            <a:srgbClr val="E8EFF6"/>
          </a:solidFill>
          <a:ln cap="flat" cmpd="sng" w="9525">
            <a:solidFill>
              <a:srgbClr val="1C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862d9fef2_1_748"/>
          <p:cNvSpPr/>
          <p:nvPr/>
        </p:nvSpPr>
        <p:spPr>
          <a:xfrm>
            <a:off x="9428675" y="2547119"/>
            <a:ext cx="1780500" cy="247500"/>
          </a:xfrm>
          <a:prstGeom prst="roundRect">
            <a:avLst>
              <a:gd fmla="val 36324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862d9fef2_1_748"/>
          <p:cNvSpPr txBox="1"/>
          <p:nvPr/>
        </p:nvSpPr>
        <p:spPr>
          <a:xfrm>
            <a:off x="9428675" y="2521946"/>
            <a:ext cx="1780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8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Dos canales independientes</a:t>
            </a:r>
            <a:endParaRPr b="1" i="0" sz="8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3" name="Google Shape;533;g3f862d9fef2_1_748"/>
          <p:cNvSpPr txBox="1"/>
          <p:nvPr/>
        </p:nvSpPr>
        <p:spPr>
          <a:xfrm>
            <a:off x="9507875" y="2972290"/>
            <a:ext cx="1328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Probabilidad de </a:t>
            </a:r>
            <a:endParaRPr sz="846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falla = P1 x P2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34" name="Google Shape;534;g3f862d9fef2_1_748"/>
          <p:cNvCxnSpPr/>
          <p:nvPr/>
        </p:nvCxnSpPr>
        <p:spPr>
          <a:xfrm>
            <a:off x="10457300" y="2908443"/>
            <a:ext cx="0" cy="582900"/>
          </a:xfrm>
          <a:prstGeom prst="straightConnector1">
            <a:avLst/>
          </a:prstGeom>
          <a:noFill/>
          <a:ln cap="flat" cmpd="sng" w="9525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g3f862d9fef2_1_748"/>
          <p:cNvSpPr txBox="1"/>
          <p:nvPr/>
        </p:nvSpPr>
        <p:spPr>
          <a:xfrm>
            <a:off x="10613527" y="3038362"/>
            <a:ext cx="4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8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10</a:t>
            </a:r>
            <a:r>
              <a:rPr baseline="30000" lang="es-AR" sz="18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-6</a:t>
            </a:r>
            <a:endParaRPr b="0" baseline="30000" i="0" sz="1800" u="none" cap="none" strike="noStrike">
              <a:solidFill>
                <a:srgbClr val="0D2547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536" name="Google Shape;536;g3f862d9fef2_1_748"/>
          <p:cNvSpPr/>
          <p:nvPr/>
        </p:nvSpPr>
        <p:spPr>
          <a:xfrm>
            <a:off x="6964825" y="3871650"/>
            <a:ext cx="4257900" cy="879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1C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862d9fef2_1_748"/>
          <p:cNvSpPr/>
          <p:nvPr/>
        </p:nvSpPr>
        <p:spPr>
          <a:xfrm>
            <a:off x="6964825" y="5008475"/>
            <a:ext cx="4257900" cy="879900"/>
          </a:xfrm>
          <a:prstGeom prst="roundRect">
            <a:avLst>
              <a:gd fmla="val 16667" name="adj"/>
            </a:avLst>
          </a:prstGeom>
          <a:solidFill>
            <a:srgbClr val="DFF1D7"/>
          </a:solidFill>
          <a:ln cap="flat" cmpd="sng" w="9525">
            <a:solidFill>
              <a:srgbClr val="10743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862d9fef2_1_748"/>
          <p:cNvSpPr txBox="1"/>
          <p:nvPr/>
        </p:nvSpPr>
        <p:spPr>
          <a:xfrm>
            <a:off x="7090100" y="3865906"/>
            <a:ext cx="4101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Reducción de la probabilidad de falla: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9" name="Google Shape;539;g3f862d9fef2_1_748"/>
          <p:cNvSpPr txBox="1"/>
          <p:nvPr/>
        </p:nvSpPr>
        <p:spPr>
          <a:xfrm>
            <a:off x="7038077" y="5008475"/>
            <a:ext cx="3792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Ejemplo: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0" name="Google Shape;540;g3f862d9fef2_1_748"/>
          <p:cNvSpPr txBox="1"/>
          <p:nvPr/>
        </p:nvSpPr>
        <p:spPr>
          <a:xfrm>
            <a:off x="7011950" y="5313900"/>
            <a:ext cx="42579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10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valores utilizados son ejemplos ilustrativos. Los cálculos finales se basarán en ensayos y datos reales de los componentes.</a:t>
            </a:r>
            <a:endParaRPr i="0" sz="10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1" name="Google Shape;541;g3f862d9fef2_1_748"/>
          <p:cNvSpPr txBox="1"/>
          <p:nvPr/>
        </p:nvSpPr>
        <p:spPr>
          <a:xfrm>
            <a:off x="7115450" y="4191648"/>
            <a:ext cx="2480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8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 este ejemplo se logra reducir en 1000 veces la probabilidad de no detectar un tren.</a:t>
            </a:r>
            <a:endParaRPr i="0" sz="8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42" name="Google Shape;542;g3f862d9fef2_1_748"/>
          <p:cNvCxnSpPr/>
          <p:nvPr/>
        </p:nvCxnSpPr>
        <p:spPr>
          <a:xfrm>
            <a:off x="9636850" y="4177200"/>
            <a:ext cx="300" cy="513900"/>
          </a:xfrm>
          <a:prstGeom prst="straightConnector1">
            <a:avLst/>
          </a:prstGeom>
          <a:noFill/>
          <a:ln cap="flat" cmpd="sng" w="9525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g3f862d9fef2_1_748"/>
          <p:cNvSpPr txBox="1"/>
          <p:nvPr/>
        </p:nvSpPr>
        <p:spPr>
          <a:xfrm>
            <a:off x="10159098" y="4153611"/>
            <a:ext cx="6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800">
                <a:solidFill>
                  <a:srgbClr val="0D254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1000</a:t>
            </a:r>
            <a:endParaRPr b="0" baseline="30000" i="0" sz="1800" u="none" cap="none" strike="noStrike">
              <a:solidFill>
                <a:srgbClr val="0D2547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544" name="Google Shape;544;g3f862d9fef2_1_748"/>
          <p:cNvSpPr txBox="1"/>
          <p:nvPr/>
        </p:nvSpPr>
        <p:spPr>
          <a:xfrm>
            <a:off x="9795081" y="4318537"/>
            <a:ext cx="1379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veces menor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5" name="Google Shape;545;g3f862d9fef2_1_748"/>
          <p:cNvSpPr/>
          <p:nvPr/>
        </p:nvSpPr>
        <p:spPr>
          <a:xfrm>
            <a:off x="1107125" y="5023125"/>
            <a:ext cx="4127400" cy="8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E0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862d9fef2_1_748"/>
          <p:cNvSpPr txBox="1"/>
          <p:nvPr/>
        </p:nvSpPr>
        <p:spPr>
          <a:xfrm>
            <a:off x="1232402" y="5023125"/>
            <a:ext cx="3792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Independencia: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7" name="Google Shape;547;g3f862d9fef2_1_748"/>
          <p:cNvSpPr txBox="1"/>
          <p:nvPr/>
        </p:nvSpPr>
        <p:spPr>
          <a:xfrm>
            <a:off x="1259875" y="5322300"/>
            <a:ext cx="3792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225" lIns="62225" spcFirstLastPara="1" rIns="62225" wrap="square" tIns="622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lang="es-AR" sz="10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mejora real depende de la independencia entre canales. Se desea evitar </a:t>
            </a:r>
            <a:r>
              <a:rPr b="1" lang="es-AR" sz="10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common causes failures</a:t>
            </a:r>
            <a:r>
              <a:rPr lang="es-AR" sz="1046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</a:t>
            </a:r>
            <a:endParaRPr i="0" sz="1046" u="none" cap="none" strike="noStrike">
              <a:solidFill>
                <a:srgbClr val="0A1F3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g3f8c9c594d6_2_606"/>
          <p:cNvGrpSpPr/>
          <p:nvPr/>
        </p:nvGrpSpPr>
        <p:grpSpPr>
          <a:xfrm>
            <a:off x="-150" y="6530775"/>
            <a:ext cx="12191758" cy="312000"/>
            <a:chOff x="0" y="-47625"/>
            <a:chExt cx="4816592" cy="185185"/>
          </a:xfrm>
        </p:grpSpPr>
        <p:sp>
          <p:nvSpPr>
            <p:cNvPr id="553" name="Google Shape;553;g3f8c9c594d6_2_606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554" name="Google Shape;554;g3f8c9c594d6_2_606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1100" lIns="31100" spcFirstLastPara="1" rIns="31100" wrap="square" tIns="311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1"/>
                <a:buFont typeface="Arial"/>
                <a:buNone/>
              </a:pPr>
              <a:r>
                <a:t/>
              </a:r>
              <a:endParaRPr b="0" i="0" sz="110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g3f8c9c594d6_2_606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8c9c594d6_2_606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8c9c594d6_2_606"/>
          <p:cNvSpPr/>
          <p:nvPr/>
        </p:nvSpPr>
        <p:spPr>
          <a:xfrm>
            <a:off x="1496067" y="1388129"/>
            <a:ext cx="2103900" cy="460500"/>
          </a:xfrm>
          <a:prstGeom prst="rect">
            <a:avLst/>
          </a:prstGeom>
          <a:solidFill>
            <a:srgbClr val="CAEBDD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8c9c594d6_2_606"/>
          <p:cNvSpPr txBox="1"/>
          <p:nvPr/>
        </p:nvSpPr>
        <p:spPr>
          <a:xfrm>
            <a:off x="1750810" y="1388129"/>
            <a:ext cx="1602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GNSS</a:t>
            </a:r>
            <a:endParaRPr b="1" i="0" sz="109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u-blo</a:t>
            </a:r>
            <a:r>
              <a:rPr b="1" lang="es-AR" sz="1044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x </a:t>
            </a:r>
            <a:r>
              <a:rPr b="1" lang="es-AR" sz="1044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MAX-M10S</a:t>
            </a:r>
            <a:endParaRPr b="1" sz="1044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59" name="Google Shape;559;g3f8c9c594d6_2_606"/>
          <p:cNvSpPr/>
          <p:nvPr/>
        </p:nvSpPr>
        <p:spPr>
          <a:xfrm>
            <a:off x="5622869" y="1388117"/>
            <a:ext cx="2103900" cy="460500"/>
          </a:xfrm>
          <a:prstGeom prst="rect">
            <a:avLst/>
          </a:prstGeom>
          <a:solidFill>
            <a:srgbClr val="CAEBDD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8c9c594d6_2_606"/>
          <p:cNvSpPr txBox="1"/>
          <p:nvPr/>
        </p:nvSpPr>
        <p:spPr>
          <a:xfrm>
            <a:off x="5877612" y="1388117"/>
            <a:ext cx="1602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IMU INERCIAL</a:t>
            </a:r>
            <a:endParaRPr b="1" i="0" sz="109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Bosch BMI088</a:t>
            </a:r>
            <a:endParaRPr b="1" i="0" sz="109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1" name="Google Shape;561;g3f8c9c594d6_2_606"/>
          <p:cNvSpPr/>
          <p:nvPr/>
        </p:nvSpPr>
        <p:spPr>
          <a:xfrm>
            <a:off x="7734772" y="1388117"/>
            <a:ext cx="2103900" cy="460500"/>
          </a:xfrm>
          <a:prstGeom prst="rect">
            <a:avLst/>
          </a:prstGeom>
          <a:solidFill>
            <a:srgbClr val="061F45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8c9c594d6_2_606"/>
          <p:cNvSpPr txBox="1"/>
          <p:nvPr/>
        </p:nvSpPr>
        <p:spPr>
          <a:xfrm>
            <a:off x="7989515" y="1388117"/>
            <a:ext cx="1602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ODOMETRÍA</a:t>
            </a:r>
            <a:endParaRPr b="1" i="0" sz="109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DEL VEHÍCULO</a:t>
            </a:r>
            <a:endParaRPr b="1" i="0" sz="109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3" name="Google Shape;563;g3f8c9c594d6_2_606"/>
          <p:cNvSpPr/>
          <p:nvPr/>
        </p:nvSpPr>
        <p:spPr>
          <a:xfrm>
            <a:off x="9830240" y="1388117"/>
            <a:ext cx="2103900" cy="460500"/>
          </a:xfrm>
          <a:prstGeom prst="rect">
            <a:avLst/>
          </a:prstGeom>
          <a:solidFill>
            <a:srgbClr val="107439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8c9c594d6_2_606"/>
          <p:cNvSpPr txBox="1"/>
          <p:nvPr/>
        </p:nvSpPr>
        <p:spPr>
          <a:xfrm>
            <a:off x="10084983" y="1388117"/>
            <a:ext cx="1602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1044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GNSS + IMU</a:t>
            </a:r>
            <a:endParaRPr b="1" i="0" sz="109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5" name="Google Shape;565;g3f8c9c594d6_2_606"/>
          <p:cNvSpPr/>
          <p:nvPr/>
        </p:nvSpPr>
        <p:spPr>
          <a:xfrm>
            <a:off x="296309" y="1848309"/>
            <a:ext cx="1199700" cy="7812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6" name="Google Shape;566;g3f8c9c594d6_2_606"/>
          <p:cNvSpPr txBox="1"/>
          <p:nvPr/>
        </p:nvSpPr>
        <p:spPr>
          <a:xfrm>
            <a:off x="312744" y="1848309"/>
            <a:ext cx="1199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7" name="Google Shape;567;g3f8c9c594d6_2_606"/>
          <p:cNvSpPr/>
          <p:nvPr/>
        </p:nvSpPr>
        <p:spPr>
          <a:xfrm>
            <a:off x="1496067" y="1848309"/>
            <a:ext cx="2103900" cy="781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8c9c594d6_2_606"/>
          <p:cNvSpPr txBox="1"/>
          <p:nvPr/>
        </p:nvSpPr>
        <p:spPr>
          <a:xfrm>
            <a:off x="1619329" y="1848309"/>
            <a:ext cx="184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Receptor de cuatro constelaciones, posición absoluta por satélite.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9" name="Google Shape;569;g3f8c9c594d6_2_606"/>
          <p:cNvSpPr/>
          <p:nvPr/>
        </p:nvSpPr>
        <p:spPr>
          <a:xfrm>
            <a:off x="5622869" y="1848298"/>
            <a:ext cx="2103900" cy="781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8c9c594d6_2_606"/>
          <p:cNvSpPr txBox="1"/>
          <p:nvPr/>
        </p:nvSpPr>
        <p:spPr>
          <a:xfrm>
            <a:off x="5746132" y="1848298"/>
            <a:ext cx="184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Acelerómetro y giróscopo que miden el movimiento propio del vehículo.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1" name="Google Shape;571;g3f8c9c594d6_2_606"/>
          <p:cNvSpPr/>
          <p:nvPr/>
        </p:nvSpPr>
        <p:spPr>
          <a:xfrm>
            <a:off x="7734772" y="1848298"/>
            <a:ext cx="2103900" cy="781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8c9c594d6_2_606"/>
          <p:cNvSpPr txBox="1"/>
          <p:nvPr/>
        </p:nvSpPr>
        <p:spPr>
          <a:xfrm>
            <a:off x="7858035" y="1848298"/>
            <a:ext cx="184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Toma velocidad y distancia del tacómetro que ya lleva la formación.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3" name="Google Shape;573;g3f8c9c594d6_2_606"/>
          <p:cNvSpPr/>
          <p:nvPr/>
        </p:nvSpPr>
        <p:spPr>
          <a:xfrm>
            <a:off x="9830240" y="1848298"/>
            <a:ext cx="2103900" cy="781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8c9c594d6_2_606"/>
          <p:cNvSpPr txBox="1"/>
          <p:nvPr/>
        </p:nvSpPr>
        <p:spPr>
          <a:xfrm>
            <a:off x="9953503" y="1848298"/>
            <a:ext cx="184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El GNSS da la referencia absoluta y la IMU sostiene la medida sin cielo.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5" name="Google Shape;575;g3f8c9c594d6_2_606"/>
          <p:cNvSpPr/>
          <p:nvPr/>
        </p:nvSpPr>
        <p:spPr>
          <a:xfrm>
            <a:off x="296309" y="2628972"/>
            <a:ext cx="1199700" cy="3120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6" name="Google Shape;576;g3f8c9c594d6_2_606"/>
          <p:cNvSpPr txBox="1"/>
          <p:nvPr/>
        </p:nvSpPr>
        <p:spPr>
          <a:xfrm>
            <a:off x="312744" y="2628972"/>
            <a:ext cx="1199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POSICIÓN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7" name="Google Shape;577;g3f8c9c594d6_2_606"/>
          <p:cNvSpPr/>
          <p:nvPr/>
        </p:nvSpPr>
        <p:spPr>
          <a:xfrm>
            <a:off x="1496067" y="2628972"/>
            <a:ext cx="2103900" cy="312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8c9c594d6_2_606"/>
          <p:cNvSpPr txBox="1"/>
          <p:nvPr/>
        </p:nvSpPr>
        <p:spPr>
          <a:xfrm>
            <a:off x="1619329" y="2628972"/>
            <a:ext cx="184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,5 m CEP absoluta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9" name="Google Shape;579;g3f8c9c594d6_2_606"/>
          <p:cNvSpPr/>
          <p:nvPr/>
        </p:nvSpPr>
        <p:spPr>
          <a:xfrm>
            <a:off x="5622869" y="2628961"/>
            <a:ext cx="2103900" cy="312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8c9c594d6_2_606"/>
          <p:cNvSpPr txBox="1"/>
          <p:nvPr/>
        </p:nvSpPr>
        <p:spPr>
          <a:xfrm>
            <a:off x="5746132" y="2628961"/>
            <a:ext cx="184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entrega posición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1" name="Google Shape;581;g3f8c9c594d6_2_606"/>
          <p:cNvSpPr/>
          <p:nvPr/>
        </p:nvSpPr>
        <p:spPr>
          <a:xfrm>
            <a:off x="7734772" y="2628961"/>
            <a:ext cx="2103900" cy="312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8c9c594d6_2_606"/>
          <p:cNvSpPr txBox="1"/>
          <p:nvPr/>
        </p:nvSpPr>
        <p:spPr>
          <a:xfrm>
            <a:off x="7858035" y="2628961"/>
            <a:ext cx="184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Relativa, por distancia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3" name="Google Shape;583;g3f8c9c594d6_2_606"/>
          <p:cNvSpPr/>
          <p:nvPr/>
        </p:nvSpPr>
        <p:spPr>
          <a:xfrm>
            <a:off x="9830240" y="2628961"/>
            <a:ext cx="2103900" cy="312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8c9c594d6_2_606"/>
          <p:cNvSpPr txBox="1"/>
          <p:nvPr/>
        </p:nvSpPr>
        <p:spPr>
          <a:xfrm>
            <a:off x="9953503" y="2628961"/>
            <a:ext cx="184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,5 m CEP sin huecos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5" name="Google Shape;585;g3f8c9c594d6_2_606"/>
          <p:cNvSpPr/>
          <p:nvPr/>
        </p:nvSpPr>
        <p:spPr>
          <a:xfrm>
            <a:off x="296309" y="2941238"/>
            <a:ext cx="1199700" cy="3780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6" name="Google Shape;586;g3f8c9c594d6_2_606"/>
          <p:cNvSpPr txBox="1"/>
          <p:nvPr/>
        </p:nvSpPr>
        <p:spPr>
          <a:xfrm>
            <a:off x="312744" y="2941238"/>
            <a:ext cx="1199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VELOCIDAD Y SENTIDO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7" name="Google Shape;587;g3f8c9c594d6_2_606"/>
          <p:cNvSpPr/>
          <p:nvPr/>
        </p:nvSpPr>
        <p:spPr>
          <a:xfrm>
            <a:off x="1496067" y="2941238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8c9c594d6_2_606"/>
          <p:cNvSpPr txBox="1"/>
          <p:nvPr/>
        </p:nvSpPr>
        <p:spPr>
          <a:xfrm>
            <a:off x="1619329" y="2941238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+- 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0,05 m/s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9" name="Google Shape;589;g3f8c9c594d6_2_606"/>
          <p:cNvSpPr/>
          <p:nvPr/>
        </p:nvSpPr>
        <p:spPr>
          <a:xfrm>
            <a:off x="5622869" y="2941226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8c9c594d6_2_606"/>
          <p:cNvSpPr txBox="1"/>
          <p:nvPr/>
        </p:nvSpPr>
        <p:spPr>
          <a:xfrm>
            <a:off x="5746132" y="2941226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Por integración, deriva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1" name="Google Shape;591;g3f8c9c594d6_2_606"/>
          <p:cNvSpPr/>
          <p:nvPr/>
        </p:nvSpPr>
        <p:spPr>
          <a:xfrm>
            <a:off x="7734772" y="2941226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c9c594d6_2_606"/>
          <p:cNvSpPr txBox="1"/>
          <p:nvPr/>
        </p:nvSpPr>
        <p:spPr>
          <a:xfrm>
            <a:off x="7858035" y="2941226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Directa, muy precisa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3" name="Google Shape;593;g3f8c9c594d6_2_606"/>
          <p:cNvSpPr/>
          <p:nvPr/>
        </p:nvSpPr>
        <p:spPr>
          <a:xfrm>
            <a:off x="9830240" y="2941226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8c9c594d6_2_606"/>
          <p:cNvSpPr txBox="1"/>
          <p:nvPr/>
        </p:nvSpPr>
        <p:spPr>
          <a:xfrm>
            <a:off x="9953503" y="2941226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+- 0,05 m/s</a:t>
            </a:r>
            <a:endParaRPr sz="954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5" name="Google Shape;595;g3f8c9c594d6_2_606"/>
          <p:cNvSpPr/>
          <p:nvPr/>
        </p:nvSpPr>
        <p:spPr>
          <a:xfrm>
            <a:off x="296309" y="3319243"/>
            <a:ext cx="1199700" cy="2961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6" name="Google Shape;596;g3f8c9c594d6_2_606"/>
          <p:cNvSpPr txBox="1"/>
          <p:nvPr/>
        </p:nvSpPr>
        <p:spPr>
          <a:xfrm>
            <a:off x="312744" y="3319243"/>
            <a:ext cx="1199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FRECUENCIA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7" name="Google Shape;597;g3f8c9c594d6_2_606"/>
          <p:cNvSpPr/>
          <p:nvPr/>
        </p:nvSpPr>
        <p:spPr>
          <a:xfrm>
            <a:off x="1496067" y="3319243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8c9c594d6_2_606"/>
          <p:cNvSpPr txBox="1"/>
          <p:nvPr/>
        </p:nvSpPr>
        <p:spPr>
          <a:xfrm>
            <a:off x="1619329" y="3319243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Hasta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 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Hz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9" name="Google Shape;599;g3f8c9c594d6_2_606"/>
          <p:cNvSpPr/>
          <p:nvPr/>
        </p:nvSpPr>
        <p:spPr>
          <a:xfrm>
            <a:off x="5622869" y="3319231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8c9c594d6_2_606"/>
          <p:cNvSpPr txBox="1"/>
          <p:nvPr/>
        </p:nvSpPr>
        <p:spPr>
          <a:xfrm>
            <a:off x="5746132" y="3319231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Hasta 2 kHz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1" name="Google Shape;601;g3f8c9c594d6_2_606"/>
          <p:cNvSpPr/>
          <p:nvPr/>
        </p:nvSpPr>
        <p:spPr>
          <a:xfrm>
            <a:off x="7734772" y="3319231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8c9c594d6_2_606"/>
          <p:cNvSpPr txBox="1"/>
          <p:nvPr/>
        </p:nvSpPr>
        <p:spPr>
          <a:xfrm>
            <a:off x="7858035" y="3319231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Según el vehículo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3" name="Google Shape;603;g3f8c9c594d6_2_606"/>
          <p:cNvSpPr/>
          <p:nvPr/>
        </p:nvSpPr>
        <p:spPr>
          <a:xfrm>
            <a:off x="9830240" y="3319231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8c9c594d6_2_606"/>
          <p:cNvSpPr txBox="1"/>
          <p:nvPr/>
        </p:nvSpPr>
        <p:spPr>
          <a:xfrm>
            <a:off x="9953503" y="3319231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 Hz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5" name="Google Shape;605;g3f8c9c594d6_2_606"/>
          <p:cNvSpPr/>
          <p:nvPr/>
        </p:nvSpPr>
        <p:spPr>
          <a:xfrm>
            <a:off x="296309" y="3615073"/>
            <a:ext cx="1199700" cy="3780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6" name="Google Shape;606;g3f8c9c594d6_2_606"/>
          <p:cNvSpPr txBox="1"/>
          <p:nvPr/>
        </p:nvSpPr>
        <p:spPr>
          <a:xfrm>
            <a:off x="312744" y="3615073"/>
            <a:ext cx="1199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VISTA AL CIELO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7" name="Google Shape;607;g3f8c9c594d6_2_606"/>
          <p:cNvSpPr/>
          <p:nvPr/>
        </p:nvSpPr>
        <p:spPr>
          <a:xfrm>
            <a:off x="1496067" y="3615073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8c9c594d6_2_606"/>
          <p:cNvSpPr txBox="1"/>
          <p:nvPr/>
        </p:nvSpPr>
        <p:spPr>
          <a:xfrm>
            <a:off x="1619329" y="3615073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pierde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9" name="Google Shape;609;g3f8c9c594d6_2_606"/>
          <p:cNvSpPr/>
          <p:nvPr/>
        </p:nvSpPr>
        <p:spPr>
          <a:xfrm>
            <a:off x="5622869" y="3615062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8c9c594d6_2_606"/>
          <p:cNvSpPr txBox="1"/>
          <p:nvPr/>
        </p:nvSpPr>
        <p:spPr>
          <a:xfrm>
            <a:off x="5746132" y="3615062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Total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1" name="Google Shape;611;g3f8c9c594d6_2_606"/>
          <p:cNvSpPr/>
          <p:nvPr/>
        </p:nvSpPr>
        <p:spPr>
          <a:xfrm>
            <a:off x="7734772" y="3615062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f8c9c594d6_2_606"/>
          <p:cNvSpPr txBox="1"/>
          <p:nvPr/>
        </p:nvSpPr>
        <p:spPr>
          <a:xfrm>
            <a:off x="7858035" y="3615062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Total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3" name="Google Shape;613;g3f8c9c594d6_2_606"/>
          <p:cNvSpPr/>
          <p:nvPr/>
        </p:nvSpPr>
        <p:spPr>
          <a:xfrm>
            <a:off x="9830240" y="3615062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8c9c594d6_2_606"/>
          <p:cNvSpPr txBox="1"/>
          <p:nvPr/>
        </p:nvSpPr>
        <p:spPr>
          <a:xfrm>
            <a:off x="9953503" y="3615062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t/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5" name="Google Shape;615;g3f8c9c594d6_2_606"/>
          <p:cNvSpPr/>
          <p:nvPr/>
        </p:nvSpPr>
        <p:spPr>
          <a:xfrm>
            <a:off x="296309" y="3993079"/>
            <a:ext cx="1199700" cy="2961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6" name="Google Shape;616;g3f8c9c594d6_2_606"/>
          <p:cNvSpPr txBox="1"/>
          <p:nvPr/>
        </p:nvSpPr>
        <p:spPr>
          <a:xfrm>
            <a:off x="312744" y="3993079"/>
            <a:ext cx="1199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CONSUMO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7" name="Google Shape;617;g3f8c9c594d6_2_606"/>
          <p:cNvSpPr/>
          <p:nvPr/>
        </p:nvSpPr>
        <p:spPr>
          <a:xfrm>
            <a:off x="1496067" y="3993079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8c9c594d6_2_606"/>
          <p:cNvSpPr txBox="1"/>
          <p:nvPr/>
        </p:nvSpPr>
        <p:spPr>
          <a:xfrm>
            <a:off x="1619329" y="3993079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03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W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9" name="Google Shape;619;g3f8c9c594d6_2_606"/>
          <p:cNvSpPr/>
          <p:nvPr/>
        </p:nvSpPr>
        <p:spPr>
          <a:xfrm>
            <a:off x="5622869" y="399306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8c9c594d6_2_606"/>
          <p:cNvSpPr txBox="1"/>
          <p:nvPr/>
        </p:nvSpPr>
        <p:spPr>
          <a:xfrm>
            <a:off x="5746132" y="399306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0,02 W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1" name="Google Shape;621;g3f8c9c594d6_2_606"/>
          <p:cNvSpPr/>
          <p:nvPr/>
        </p:nvSpPr>
        <p:spPr>
          <a:xfrm>
            <a:off x="7734772" y="399306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8c9c594d6_2_606"/>
          <p:cNvSpPr txBox="1"/>
          <p:nvPr/>
        </p:nvSpPr>
        <p:spPr>
          <a:xfrm>
            <a:off x="7858035" y="399306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aplica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3" name="Google Shape;623;g3f8c9c594d6_2_606"/>
          <p:cNvSpPr/>
          <p:nvPr/>
        </p:nvSpPr>
        <p:spPr>
          <a:xfrm>
            <a:off x="9830240" y="399306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f8c9c594d6_2_606"/>
          <p:cNvSpPr txBox="1"/>
          <p:nvPr/>
        </p:nvSpPr>
        <p:spPr>
          <a:xfrm>
            <a:off x="9953503" y="399306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05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W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5" name="Google Shape;625;g3f8c9c594d6_2_606"/>
          <p:cNvSpPr/>
          <p:nvPr/>
        </p:nvSpPr>
        <p:spPr>
          <a:xfrm>
            <a:off x="296309" y="4288909"/>
            <a:ext cx="1199700" cy="2961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6" name="Google Shape;626;g3f8c9c594d6_2_606"/>
          <p:cNvSpPr txBox="1"/>
          <p:nvPr/>
        </p:nvSpPr>
        <p:spPr>
          <a:xfrm>
            <a:off x="312744" y="4288909"/>
            <a:ext cx="1199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UNITARIO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7" name="Google Shape;627;g3f8c9c594d6_2_606"/>
          <p:cNvSpPr/>
          <p:nvPr/>
        </p:nvSpPr>
        <p:spPr>
          <a:xfrm>
            <a:off x="1496067" y="4288909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8c9c594d6_2_606"/>
          <p:cNvSpPr txBox="1"/>
          <p:nvPr/>
        </p:nvSpPr>
        <p:spPr>
          <a:xfrm>
            <a:off x="1619329" y="4288909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18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9" name="Google Shape;629;g3f8c9c594d6_2_606"/>
          <p:cNvSpPr/>
          <p:nvPr/>
        </p:nvSpPr>
        <p:spPr>
          <a:xfrm>
            <a:off x="5622869" y="428889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8c9c594d6_2_606"/>
          <p:cNvSpPr txBox="1"/>
          <p:nvPr/>
        </p:nvSpPr>
        <p:spPr>
          <a:xfrm>
            <a:off x="5746132" y="428889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9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1" name="Google Shape;631;g3f8c9c594d6_2_606"/>
          <p:cNvSpPr/>
          <p:nvPr/>
        </p:nvSpPr>
        <p:spPr>
          <a:xfrm>
            <a:off x="7734772" y="428889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8c9c594d6_2_606"/>
          <p:cNvSpPr txBox="1"/>
          <p:nvPr/>
        </p:nvSpPr>
        <p:spPr>
          <a:xfrm>
            <a:off x="7858035" y="428889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sensor propio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3" name="Google Shape;633;g3f8c9c594d6_2_606"/>
          <p:cNvSpPr/>
          <p:nvPr/>
        </p:nvSpPr>
        <p:spPr>
          <a:xfrm>
            <a:off x="9830240" y="4288897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8c9c594d6_2_606"/>
          <p:cNvSpPr txBox="1"/>
          <p:nvPr/>
        </p:nvSpPr>
        <p:spPr>
          <a:xfrm>
            <a:off x="9953503" y="4288897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27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5" name="Google Shape;635;g3f8c9c594d6_2_606"/>
          <p:cNvSpPr/>
          <p:nvPr/>
        </p:nvSpPr>
        <p:spPr>
          <a:xfrm>
            <a:off x="296309" y="4584739"/>
            <a:ext cx="1199700" cy="6492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6" name="Google Shape;636;g3f8c9c594d6_2_606"/>
          <p:cNvSpPr txBox="1"/>
          <p:nvPr/>
        </p:nvSpPr>
        <p:spPr>
          <a:xfrm>
            <a:off x="312744" y="4584739"/>
            <a:ext cx="1199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7" name="Google Shape;637;g3f8c9c594d6_2_606"/>
          <p:cNvSpPr/>
          <p:nvPr/>
        </p:nvSpPr>
        <p:spPr>
          <a:xfrm>
            <a:off x="1496067" y="4584739"/>
            <a:ext cx="2103900" cy="649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8c9c594d6_2_606"/>
          <p:cNvSpPr txBox="1"/>
          <p:nvPr/>
        </p:nvSpPr>
        <p:spPr>
          <a:xfrm>
            <a:off x="1619329" y="4584739"/>
            <a:ext cx="1841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Posición absoluta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No toca el vehículo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39" name="Google Shape;639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1689178" y="4756879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1689178" y="4938520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f8c9c594d6_2_606"/>
          <p:cNvSpPr/>
          <p:nvPr/>
        </p:nvSpPr>
        <p:spPr>
          <a:xfrm>
            <a:off x="5622869" y="4584728"/>
            <a:ext cx="2103900" cy="649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8c9c594d6_2_606"/>
          <p:cNvSpPr txBox="1"/>
          <p:nvPr/>
        </p:nvSpPr>
        <p:spPr>
          <a:xfrm>
            <a:off x="5746132" y="4584728"/>
            <a:ext cx="1841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Funciona en túnel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Robusta a vibración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43" name="Google Shape;643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5795905" y="4735752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5795905" y="4917392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8c9c594d6_2_606"/>
          <p:cNvSpPr/>
          <p:nvPr/>
        </p:nvSpPr>
        <p:spPr>
          <a:xfrm>
            <a:off x="7734772" y="4584728"/>
            <a:ext cx="2103900" cy="649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8c9c594d6_2_606"/>
          <p:cNvSpPr txBox="1"/>
          <p:nvPr/>
        </p:nvSpPr>
        <p:spPr>
          <a:xfrm>
            <a:off x="7858035" y="4584728"/>
            <a:ext cx="1841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Velocidad muy precisa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Inmune al entorno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47" name="Google Shape;647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7927884" y="475686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7927884" y="4938508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g3f8c9c594d6_2_606"/>
          <p:cNvSpPr/>
          <p:nvPr/>
        </p:nvSpPr>
        <p:spPr>
          <a:xfrm>
            <a:off x="9830240" y="4584728"/>
            <a:ext cx="2103900" cy="649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8c9c594d6_2_606"/>
          <p:cNvSpPr txBox="1"/>
          <p:nvPr/>
        </p:nvSpPr>
        <p:spPr>
          <a:xfrm>
            <a:off x="9953503" y="4584728"/>
            <a:ext cx="1841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Cubre cortes de GNSS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Valida el dato GNSS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51" name="Google Shape;651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10023352" y="475686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10023352" y="4938508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f8c9c594d6_2_606"/>
          <p:cNvSpPr/>
          <p:nvPr/>
        </p:nvSpPr>
        <p:spPr>
          <a:xfrm>
            <a:off x="296309" y="5233922"/>
            <a:ext cx="1199700" cy="673500"/>
          </a:xfrm>
          <a:prstGeom prst="rect">
            <a:avLst/>
          </a:prstGeom>
          <a:solidFill>
            <a:srgbClr val="F3F7FA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4" name="Google Shape;654;g3f8c9c594d6_2_606"/>
          <p:cNvSpPr txBox="1"/>
          <p:nvPr/>
        </p:nvSpPr>
        <p:spPr>
          <a:xfrm>
            <a:off x="312744" y="5233922"/>
            <a:ext cx="11997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i="0" lang="es-AR" sz="99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996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5" name="Google Shape;655;g3f8c9c594d6_2_606"/>
          <p:cNvSpPr/>
          <p:nvPr/>
        </p:nvSpPr>
        <p:spPr>
          <a:xfrm>
            <a:off x="1496067" y="5233922"/>
            <a:ext cx="2103900" cy="6735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f8c9c594d6_2_606"/>
          <p:cNvSpPr txBox="1"/>
          <p:nvPr/>
        </p:nvSpPr>
        <p:spPr>
          <a:xfrm>
            <a:off x="1619329" y="5233922"/>
            <a:ext cx="1841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Multitrayecto urbano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Nula bajo túnel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57" name="Google Shape;657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1689178" y="5418388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1689178" y="5600029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f8c9c594d6_2_606"/>
          <p:cNvSpPr/>
          <p:nvPr/>
        </p:nvSpPr>
        <p:spPr>
          <a:xfrm>
            <a:off x="5622869" y="5233911"/>
            <a:ext cx="2103900" cy="6735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f8c9c594d6_2_606"/>
          <p:cNvSpPr txBox="1"/>
          <p:nvPr/>
        </p:nvSpPr>
        <p:spPr>
          <a:xfrm>
            <a:off x="5746132" y="5233911"/>
            <a:ext cx="1841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Deriva en segundos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Sin posición absoluta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61" name="Google Shape;661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5795905" y="5397261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5795905" y="5578902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g3f8c9c594d6_2_606"/>
          <p:cNvSpPr/>
          <p:nvPr/>
        </p:nvSpPr>
        <p:spPr>
          <a:xfrm>
            <a:off x="7734772" y="5233911"/>
            <a:ext cx="2103900" cy="6735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f8c9c594d6_2_606"/>
          <p:cNvSpPr txBox="1"/>
          <p:nvPr/>
        </p:nvSpPr>
        <p:spPr>
          <a:xfrm>
            <a:off x="7858035" y="5233911"/>
            <a:ext cx="1841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Hay que tocar el tren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Error por patinaje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65" name="Google Shape;665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7927884" y="541837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7927884" y="5600018"/>
            <a:ext cx="123266" cy="11504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f8c9c594d6_2_606"/>
          <p:cNvSpPr/>
          <p:nvPr/>
        </p:nvSpPr>
        <p:spPr>
          <a:xfrm>
            <a:off x="9830240" y="5233911"/>
            <a:ext cx="2103900" cy="6735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f8c9c594d6_2_606"/>
          <p:cNvSpPr txBox="1"/>
          <p:nvPr/>
        </p:nvSpPr>
        <p:spPr>
          <a:xfrm>
            <a:off x="9953503" y="5233911"/>
            <a:ext cx="1841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Fusión en firmware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Dos componentes más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69" name="Google Shape;669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10023352" y="541837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10023352" y="5600018"/>
            <a:ext cx="123266" cy="1150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oogle Shape;671;g3f8c9c594d6_2_606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672" name="Google Shape;672;g3f8c9c594d6_2_60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673" name="Google Shape;673;g3f8c9c594d6_2_606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4" name="Google Shape;674;g3f8c9c594d6_2_606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675" name="Google Shape;675;g3f8c9c594d6_2_606"/>
          <p:cNvSpPr txBox="1"/>
          <p:nvPr/>
        </p:nvSpPr>
        <p:spPr>
          <a:xfrm>
            <a:off x="181650" y="80300"/>
            <a:ext cx="503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DE ALTERNATIVAS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76" name="Google Shape;676;g3f8c9c594d6_2_606"/>
          <p:cNvSpPr txBox="1"/>
          <p:nvPr/>
        </p:nvSpPr>
        <p:spPr>
          <a:xfrm>
            <a:off x="81387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AR" sz="22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SISTEMAS DE DETECCIÓN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8c9c594d6_2_606"/>
          <p:cNvSpPr/>
          <p:nvPr/>
        </p:nvSpPr>
        <p:spPr>
          <a:xfrm>
            <a:off x="3567538" y="1388129"/>
            <a:ext cx="2103900" cy="460500"/>
          </a:xfrm>
          <a:prstGeom prst="rect">
            <a:avLst/>
          </a:prstGeom>
          <a:solidFill>
            <a:srgbClr val="061F45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sz="127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f8c9c594d6_2_606"/>
          <p:cNvSpPr txBox="1"/>
          <p:nvPr/>
        </p:nvSpPr>
        <p:spPr>
          <a:xfrm>
            <a:off x="3822281" y="1388129"/>
            <a:ext cx="1602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lang="es-AR" sz="1044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GPS</a:t>
            </a:r>
            <a:endParaRPr b="1" sz="1044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1" lang="es-AR" sz="1044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u-blox NEO-6M</a:t>
            </a:r>
            <a:endParaRPr b="1" sz="1044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9" name="Google Shape;679;g3f8c9c594d6_2_606"/>
          <p:cNvSpPr/>
          <p:nvPr/>
        </p:nvSpPr>
        <p:spPr>
          <a:xfrm>
            <a:off x="3567538" y="1848309"/>
            <a:ext cx="2103900" cy="781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f8c9c594d6_2_606"/>
          <p:cNvSpPr txBox="1"/>
          <p:nvPr/>
        </p:nvSpPr>
        <p:spPr>
          <a:xfrm>
            <a:off x="3690800" y="1848309"/>
            <a:ext cx="184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Receptor de única constelación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1" name="Google Shape;681;g3f8c9c594d6_2_606"/>
          <p:cNvSpPr/>
          <p:nvPr/>
        </p:nvSpPr>
        <p:spPr>
          <a:xfrm>
            <a:off x="3567538" y="2628972"/>
            <a:ext cx="2103900" cy="312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f8c9c594d6_2_606"/>
          <p:cNvSpPr txBox="1"/>
          <p:nvPr/>
        </p:nvSpPr>
        <p:spPr>
          <a:xfrm>
            <a:off x="3690800" y="2628972"/>
            <a:ext cx="1841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,5 m CEP absoluta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3" name="Google Shape;683;g3f8c9c594d6_2_606"/>
          <p:cNvSpPr/>
          <p:nvPr/>
        </p:nvSpPr>
        <p:spPr>
          <a:xfrm>
            <a:off x="3567538" y="2941238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f8c9c594d6_2_606"/>
          <p:cNvSpPr txBox="1"/>
          <p:nvPr/>
        </p:nvSpPr>
        <p:spPr>
          <a:xfrm>
            <a:off x="3690800" y="2941238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+- 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m/s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5" name="Google Shape;685;g3f8c9c594d6_2_606"/>
          <p:cNvSpPr/>
          <p:nvPr/>
        </p:nvSpPr>
        <p:spPr>
          <a:xfrm>
            <a:off x="3567538" y="3319243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f8c9c594d6_2_606"/>
          <p:cNvSpPr txBox="1"/>
          <p:nvPr/>
        </p:nvSpPr>
        <p:spPr>
          <a:xfrm>
            <a:off x="3690800" y="3319243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Hasta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Hz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7" name="Google Shape;687;g3f8c9c594d6_2_606"/>
          <p:cNvSpPr/>
          <p:nvPr/>
        </p:nvSpPr>
        <p:spPr>
          <a:xfrm>
            <a:off x="3567538" y="3615073"/>
            <a:ext cx="2103900" cy="3780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8c9c594d6_2_606"/>
          <p:cNvSpPr txBox="1"/>
          <p:nvPr/>
        </p:nvSpPr>
        <p:spPr>
          <a:xfrm>
            <a:off x="3690800" y="3615073"/>
            <a:ext cx="1841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pierde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9" name="Google Shape;689;g3f8c9c594d6_2_606"/>
          <p:cNvSpPr/>
          <p:nvPr/>
        </p:nvSpPr>
        <p:spPr>
          <a:xfrm>
            <a:off x="3567538" y="3993079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8c9c594d6_2_606"/>
          <p:cNvSpPr txBox="1"/>
          <p:nvPr/>
        </p:nvSpPr>
        <p:spPr>
          <a:xfrm>
            <a:off x="3690800" y="3993079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11</a:t>
            </a: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W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1" name="Google Shape;691;g3f8c9c594d6_2_606"/>
          <p:cNvSpPr/>
          <p:nvPr/>
        </p:nvSpPr>
        <p:spPr>
          <a:xfrm>
            <a:off x="3567538" y="4288909"/>
            <a:ext cx="2103900" cy="2961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f8c9c594d6_2_606"/>
          <p:cNvSpPr txBox="1"/>
          <p:nvPr/>
        </p:nvSpPr>
        <p:spPr>
          <a:xfrm>
            <a:off x="3690800" y="4288909"/>
            <a:ext cx="184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9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3" name="Google Shape;693;g3f8c9c594d6_2_606"/>
          <p:cNvSpPr/>
          <p:nvPr/>
        </p:nvSpPr>
        <p:spPr>
          <a:xfrm>
            <a:off x="3567538" y="4584739"/>
            <a:ext cx="2103900" cy="6492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3f8c9c594d6_2_606"/>
          <p:cNvSpPr txBox="1"/>
          <p:nvPr/>
        </p:nvSpPr>
        <p:spPr>
          <a:xfrm>
            <a:off x="3690800" y="4584739"/>
            <a:ext cx="1841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Bajo costo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Muy difundido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5" name="Google Shape;695;g3f8c9c594d6_2_606"/>
          <p:cNvSpPr/>
          <p:nvPr/>
        </p:nvSpPr>
        <p:spPr>
          <a:xfrm>
            <a:off x="3567538" y="5233922"/>
            <a:ext cx="2103900" cy="673500"/>
          </a:xfrm>
          <a:prstGeom prst="rect">
            <a:avLst/>
          </a:prstGeom>
          <a:solidFill>
            <a:srgbClr val="FFFFFF"/>
          </a:solidFill>
          <a:ln cap="flat" cmpd="sng" w="17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t/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f8c9c594d6_2_606"/>
          <p:cNvSpPr txBox="1"/>
          <p:nvPr/>
        </p:nvSpPr>
        <p:spPr>
          <a:xfrm>
            <a:off x="3690800" y="5233922"/>
            <a:ext cx="1841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00" lIns="80200" spcFirstLastPara="1" rIns="80200" wrap="square" tIns="80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Solo GPS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4"/>
              <a:buFont typeface="Arial"/>
              <a:buNone/>
            </a:pPr>
            <a:r>
              <a:rPr b="0" i="0" lang="es-AR" sz="954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lang="es-AR" sz="954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Menor precisión</a:t>
            </a:r>
            <a:endParaRPr b="0" i="0" sz="954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97" name="Google Shape;697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3733782" y="475686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542" l="15516" r="58876" t="23302"/>
          <a:stretch/>
        </p:blipFill>
        <p:spPr>
          <a:xfrm>
            <a:off x="3733782" y="4938508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3733782" y="5418377"/>
            <a:ext cx="123266" cy="11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f8c9c594d6_2_606" title="ChatGPT Image 15 ago 2026, 13_05_22.png"/>
          <p:cNvPicPr preferRelativeResize="0"/>
          <p:nvPr/>
        </p:nvPicPr>
        <p:blipFill rotWithShape="1">
          <a:blip r:embed="rId3">
            <a:alphaModFix/>
          </a:blip>
          <a:srcRect b="26613" l="58666" r="15726" t="23232"/>
          <a:stretch/>
        </p:blipFill>
        <p:spPr>
          <a:xfrm>
            <a:off x="3733782" y="5600018"/>
            <a:ext cx="123266" cy="11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406dbf1c9_0_169"/>
          <p:cNvSpPr/>
          <p:nvPr/>
        </p:nvSpPr>
        <p:spPr>
          <a:xfrm>
            <a:off x="597550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f406dbf1c9_0_169"/>
          <p:cNvSpPr/>
          <p:nvPr/>
        </p:nvSpPr>
        <p:spPr>
          <a:xfrm>
            <a:off x="4578063" y="2975297"/>
            <a:ext cx="3001500" cy="27726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0D25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07" name="Google Shape;707;g3f406dbf1c9_0_169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708" name="Google Shape;708;g3f406dbf1c9_0_169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709" name="Google Shape;709;g3f406dbf1c9_0_169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g3f406dbf1c9_0_169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711" name="Google Shape;711;g3f406dbf1c9_0_16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712" name="Google Shape;712;g3f406dbf1c9_0_169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3" name="Google Shape;713;g3f406dbf1c9_0_169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714" name="Google Shape;714;g3f406dbf1c9_0_169"/>
          <p:cNvSpPr txBox="1"/>
          <p:nvPr/>
        </p:nvSpPr>
        <p:spPr>
          <a:xfrm>
            <a:off x="181650" y="90325"/>
            <a:ext cx="32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DIAGRAMA PANDA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15" name="Google Shape;715;g3f406dbf1c9_0_169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f406dbf1c9_0_169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f406dbf1c9_0_169"/>
          <p:cNvSpPr/>
          <p:nvPr/>
        </p:nvSpPr>
        <p:spPr>
          <a:xfrm>
            <a:off x="4578061" y="4292597"/>
            <a:ext cx="3001500" cy="14553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8" name="Google Shape;718;g3f406dbf1c9_0_169"/>
          <p:cNvSpPr txBox="1"/>
          <p:nvPr/>
        </p:nvSpPr>
        <p:spPr>
          <a:xfrm>
            <a:off x="4578063" y="3181805"/>
            <a:ext cx="3001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s-AR" sz="3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PANDA</a:t>
            </a:r>
            <a:endParaRPr b="0" i="0" sz="3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g3f406dbf1c9_0_169"/>
          <p:cNvCxnSpPr/>
          <p:nvPr/>
        </p:nvCxnSpPr>
        <p:spPr>
          <a:xfrm>
            <a:off x="5008413" y="3705739"/>
            <a:ext cx="2140800" cy="1500"/>
          </a:xfrm>
          <a:prstGeom prst="straightConnector1">
            <a:avLst/>
          </a:prstGeom>
          <a:noFill/>
          <a:ln cap="flat" cmpd="sng" w="23800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g3f406dbf1c9_0_169"/>
          <p:cNvSpPr txBox="1"/>
          <p:nvPr/>
        </p:nvSpPr>
        <p:spPr>
          <a:xfrm>
            <a:off x="4578063" y="3775391"/>
            <a:ext cx="3001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175" lIns="76175" spcFirstLastPara="1" rIns="76175" wrap="square" tIns="76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12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Paso A Nivel Dinámico y Activo</a:t>
            </a:r>
            <a:endParaRPr b="1" i="0" sz="112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1" name="Google Shape;721;g3f406dbf1c9_0_169"/>
          <p:cNvSpPr/>
          <p:nvPr/>
        </p:nvSpPr>
        <p:spPr>
          <a:xfrm>
            <a:off x="5568711" y="4560019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722" name="Google Shape;722;g3f406dbf1c9_0_169"/>
          <p:cNvSpPr txBox="1"/>
          <p:nvPr/>
        </p:nvSpPr>
        <p:spPr>
          <a:xfrm>
            <a:off x="597544" y="897652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DETECCIÓN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406dbf1c9_0_169"/>
          <p:cNvSpPr/>
          <p:nvPr/>
        </p:nvSpPr>
        <p:spPr>
          <a:xfrm>
            <a:off x="1069091" y="3165856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4" name="Google Shape;724;g3f406dbf1c9_0_169"/>
          <p:cNvSpPr/>
          <p:nvPr/>
        </p:nvSpPr>
        <p:spPr>
          <a:xfrm>
            <a:off x="617781" y="3409319"/>
            <a:ext cx="720000" cy="720000"/>
          </a:xfrm>
          <a:prstGeom prst="ellipse">
            <a:avLst/>
          </a:prstGeom>
          <a:solidFill>
            <a:srgbClr val="E3F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f406dbf1c9_0_169"/>
          <p:cNvSpPr/>
          <p:nvPr/>
        </p:nvSpPr>
        <p:spPr>
          <a:xfrm>
            <a:off x="1353950" y="294575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f406dbf1c9_0_169"/>
          <p:cNvSpPr txBox="1"/>
          <p:nvPr/>
        </p:nvSpPr>
        <p:spPr>
          <a:xfrm>
            <a:off x="1540849" y="308090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727" name="Google Shape;727;g3f406dbf1c9_0_169" title="ChatGPT Image 25 ago 2026, 11_51_30.png"/>
          <p:cNvPicPr preferRelativeResize="0"/>
          <p:nvPr/>
        </p:nvPicPr>
        <p:blipFill rotWithShape="1">
          <a:blip r:embed="rId4">
            <a:alphaModFix/>
          </a:blip>
          <a:srcRect b="57924" l="5848" r="90726" t="35447"/>
          <a:stretch/>
        </p:blipFill>
        <p:spPr>
          <a:xfrm>
            <a:off x="747494" y="3518531"/>
            <a:ext cx="460573" cy="501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8" name="Google Shape;728;g3f406dbf1c9_0_169"/>
          <p:cNvGrpSpPr/>
          <p:nvPr/>
        </p:nvGrpSpPr>
        <p:grpSpPr>
          <a:xfrm>
            <a:off x="1353970" y="3476134"/>
            <a:ext cx="1800261" cy="720452"/>
            <a:chOff x="787800" y="4827307"/>
            <a:chExt cx="2651732" cy="720452"/>
          </a:xfrm>
        </p:grpSpPr>
        <p:sp>
          <p:nvSpPr>
            <p:cNvPr id="729" name="Google Shape;729;g3f406dbf1c9_0_169"/>
            <p:cNvSpPr txBox="1"/>
            <p:nvPr/>
          </p:nvSpPr>
          <p:spPr>
            <a:xfrm>
              <a:off x="7878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Sensores ubicados en las vías en puntos críticos que detectan la ubicación del tren.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g3f406dbf1c9_0_169"/>
            <p:cNvSpPr txBox="1"/>
            <p:nvPr/>
          </p:nvSpPr>
          <p:spPr>
            <a:xfrm>
              <a:off x="7878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107439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VÍAS</a:t>
              </a:r>
              <a:endParaRPr b="0" i="0" sz="1027" u="none" cap="none" strike="noStrike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cxnSp>
        <p:nvCxnSpPr>
          <p:cNvPr id="731" name="Google Shape;731;g3f406dbf1c9_0_169"/>
          <p:cNvCxnSpPr>
            <a:stCxn id="723" idx="3"/>
          </p:cNvCxnSpPr>
          <p:nvPr/>
        </p:nvCxnSpPr>
        <p:spPr>
          <a:xfrm>
            <a:off x="3439091" y="3769306"/>
            <a:ext cx="1133700" cy="58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2" name="Google Shape;732;g3f406dbf1c9_0_169"/>
          <p:cNvSpPr txBox="1"/>
          <p:nvPr/>
        </p:nvSpPr>
        <p:spPr>
          <a:xfrm>
            <a:off x="3457635" y="3446725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Canal de comunicación B</a:t>
            </a:r>
            <a:endParaRPr b="0" i="0" sz="827" u="none" cap="none" strike="noStrike">
              <a:solidFill>
                <a:srgbClr val="107439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733" name="Google Shape;733;g3f406dbf1c9_0_169"/>
          <p:cNvSpPr/>
          <p:nvPr/>
        </p:nvSpPr>
        <p:spPr>
          <a:xfrm>
            <a:off x="1069091" y="1603775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4" name="Google Shape;734;g3f406dbf1c9_0_169"/>
          <p:cNvSpPr/>
          <p:nvPr/>
        </p:nvSpPr>
        <p:spPr>
          <a:xfrm>
            <a:off x="1353950" y="138367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f406dbf1c9_0_169"/>
          <p:cNvSpPr txBox="1"/>
          <p:nvPr/>
        </p:nvSpPr>
        <p:spPr>
          <a:xfrm>
            <a:off x="1447400" y="151883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grpSp>
        <p:nvGrpSpPr>
          <p:cNvPr id="736" name="Google Shape;736;g3f406dbf1c9_0_169"/>
          <p:cNvGrpSpPr/>
          <p:nvPr/>
        </p:nvGrpSpPr>
        <p:grpSpPr>
          <a:xfrm>
            <a:off x="1373090" y="1914078"/>
            <a:ext cx="1762076" cy="720452"/>
            <a:chOff x="816600" y="4827307"/>
            <a:chExt cx="2651732" cy="720452"/>
          </a:xfrm>
        </p:grpSpPr>
        <p:sp>
          <p:nvSpPr>
            <p:cNvPr id="737" name="Google Shape;737;g3f406dbf1c9_0_169"/>
            <p:cNvSpPr txBox="1"/>
            <p:nvPr/>
          </p:nvSpPr>
          <p:spPr>
            <a:xfrm>
              <a:off x="8166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Dispositivo instalado en el tren que obtiene las variables necesarias para accionar el sistema de seguridad.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g3f406dbf1c9_0_169"/>
            <p:cNvSpPr txBox="1"/>
            <p:nvPr/>
          </p:nvSpPr>
          <p:spPr>
            <a:xfrm>
              <a:off x="8166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E30D0E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TREN</a:t>
              </a:r>
              <a:endParaRPr b="0" i="0" sz="10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sp>
        <p:nvSpPr>
          <p:cNvPr id="739" name="Google Shape;739;g3f406dbf1c9_0_169"/>
          <p:cNvSpPr txBox="1"/>
          <p:nvPr/>
        </p:nvSpPr>
        <p:spPr>
          <a:xfrm>
            <a:off x="3461935" y="2429446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b="0" i="0" lang="es-AR" sz="8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Canal de comunicación </a:t>
            </a: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</a:t>
            </a:r>
            <a:endParaRPr b="0" i="0" sz="827" u="none" cap="none" strike="noStrike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740" name="Google Shape;740;g3f406dbf1c9_0_169"/>
          <p:cNvCxnSpPr/>
          <p:nvPr/>
        </p:nvCxnSpPr>
        <p:spPr>
          <a:xfrm>
            <a:off x="3447664" y="2766005"/>
            <a:ext cx="1124400" cy="435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741" name="Google Shape;741;g3f406dbf1c9_0_169" title="ChatGPT Image 25 ago 2026, 20_42_23.png"/>
          <p:cNvPicPr preferRelativeResize="0"/>
          <p:nvPr/>
        </p:nvPicPr>
        <p:blipFill rotWithShape="1">
          <a:blip r:embed="rId5">
            <a:alphaModFix/>
          </a:blip>
          <a:srcRect b="8072" l="7468" r="7382" t="6334"/>
          <a:stretch/>
        </p:blipFill>
        <p:spPr>
          <a:xfrm>
            <a:off x="623076" y="1846610"/>
            <a:ext cx="720000" cy="723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407d67d4d_0_88"/>
          <p:cNvSpPr/>
          <p:nvPr/>
        </p:nvSpPr>
        <p:spPr>
          <a:xfrm>
            <a:off x="615675" y="4861868"/>
            <a:ext cx="1695000" cy="13614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7" name="Google Shape;747;g3f407d67d4d_0_8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748" name="Google Shape;748;g3f407d67d4d_0_8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f407d67d4d_0_8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0" name="Google Shape;750;g3f407d67d4d_0_88"/>
          <p:cNvGrpSpPr/>
          <p:nvPr/>
        </p:nvGrpSpPr>
        <p:grpSpPr>
          <a:xfrm>
            <a:off x="-150" y="-173737"/>
            <a:ext cx="12191758" cy="1143009"/>
            <a:chOff x="0" y="-47625"/>
            <a:chExt cx="4816592" cy="318600"/>
          </a:xfrm>
        </p:grpSpPr>
        <p:sp>
          <p:nvSpPr>
            <p:cNvPr id="751" name="Google Shape;751;g3f407d67d4d_0_8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f407d67d4d_0_8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Google Shape;753;g3f407d67d4d_0_88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f407d67d4d_0_8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f407d67d4d_0_88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f407d67d4d_0_88"/>
          <p:cNvSpPr/>
          <p:nvPr/>
        </p:nvSpPr>
        <p:spPr>
          <a:xfrm>
            <a:off x="2310513" y="1251463"/>
            <a:ext cx="2317200" cy="629100"/>
          </a:xfrm>
          <a:prstGeom prst="rect">
            <a:avLst/>
          </a:prstGeom>
          <a:solidFill>
            <a:srgbClr val="10743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f407d67d4d_0_88"/>
          <p:cNvSpPr/>
          <p:nvPr/>
        </p:nvSpPr>
        <p:spPr>
          <a:xfrm>
            <a:off x="2310516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f407d67d4d_0_88"/>
          <p:cNvSpPr/>
          <p:nvPr/>
        </p:nvSpPr>
        <p:spPr>
          <a:xfrm>
            <a:off x="2308975" y="2743415"/>
            <a:ext cx="2317200" cy="211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f407d67d4d_0_88"/>
          <p:cNvSpPr/>
          <p:nvPr/>
        </p:nvSpPr>
        <p:spPr>
          <a:xfrm>
            <a:off x="615675" y="1882137"/>
            <a:ext cx="1695000" cy="8613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f407d67d4d_0_88"/>
          <p:cNvSpPr/>
          <p:nvPr/>
        </p:nvSpPr>
        <p:spPr>
          <a:xfrm>
            <a:off x="614025" y="2743415"/>
            <a:ext cx="1695000" cy="21120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f407d67d4d_0_88"/>
          <p:cNvSpPr/>
          <p:nvPr/>
        </p:nvSpPr>
        <p:spPr>
          <a:xfrm>
            <a:off x="4627713" y="1253027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f407d67d4d_0_88"/>
          <p:cNvSpPr/>
          <p:nvPr/>
        </p:nvSpPr>
        <p:spPr>
          <a:xfrm>
            <a:off x="4627719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f407d67d4d_0_88"/>
          <p:cNvSpPr/>
          <p:nvPr/>
        </p:nvSpPr>
        <p:spPr>
          <a:xfrm>
            <a:off x="4626176" y="2743415"/>
            <a:ext cx="2317200" cy="211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f407d67d4d_0_88"/>
          <p:cNvSpPr/>
          <p:nvPr/>
        </p:nvSpPr>
        <p:spPr>
          <a:xfrm>
            <a:off x="6944913" y="1253027"/>
            <a:ext cx="2317200" cy="629100"/>
          </a:xfrm>
          <a:prstGeom prst="rect">
            <a:avLst/>
          </a:prstGeom>
          <a:solidFill>
            <a:srgbClr val="10743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f407d67d4d_0_88"/>
          <p:cNvSpPr/>
          <p:nvPr/>
        </p:nvSpPr>
        <p:spPr>
          <a:xfrm>
            <a:off x="6944921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f407d67d4d_0_88"/>
          <p:cNvSpPr/>
          <p:nvPr/>
        </p:nvSpPr>
        <p:spPr>
          <a:xfrm>
            <a:off x="6943376" y="2743415"/>
            <a:ext cx="2317200" cy="211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f407d67d4d_0_88"/>
          <p:cNvSpPr/>
          <p:nvPr/>
        </p:nvSpPr>
        <p:spPr>
          <a:xfrm>
            <a:off x="9262063" y="1253027"/>
            <a:ext cx="2317200" cy="629100"/>
          </a:xfrm>
          <a:prstGeom prst="rect">
            <a:avLst/>
          </a:prstGeom>
          <a:solidFill>
            <a:srgbClr val="107439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f407d67d4d_0_88"/>
          <p:cNvSpPr/>
          <p:nvPr/>
        </p:nvSpPr>
        <p:spPr>
          <a:xfrm>
            <a:off x="9262074" y="1882127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f407d67d4d_0_88"/>
          <p:cNvSpPr/>
          <p:nvPr/>
        </p:nvSpPr>
        <p:spPr>
          <a:xfrm>
            <a:off x="9260527" y="2743415"/>
            <a:ext cx="2317200" cy="211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0" name="Google Shape;770;g3f407d67d4d_0_88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9439" l="6474" r="82881" t="56523"/>
          <a:stretch/>
        </p:blipFill>
        <p:spPr>
          <a:xfrm>
            <a:off x="720063" y="2111868"/>
            <a:ext cx="380230" cy="40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g3f407d67d4d_0_88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186" l="63577" r="25777" t="57775"/>
          <a:stretch/>
        </p:blipFill>
        <p:spPr>
          <a:xfrm>
            <a:off x="722256" y="5341654"/>
            <a:ext cx="380226" cy="401829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g3f407d67d4d_0_88"/>
          <p:cNvSpPr txBox="1"/>
          <p:nvPr/>
        </p:nvSpPr>
        <p:spPr>
          <a:xfrm>
            <a:off x="2602375" y="1317813"/>
            <a:ext cx="1730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5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COMUNICACIÓN CABLEADA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3" name="Google Shape;773;g3f407d67d4d_0_88"/>
          <p:cNvSpPr txBox="1"/>
          <p:nvPr/>
        </p:nvSpPr>
        <p:spPr>
          <a:xfrm>
            <a:off x="5129614" y="1292116"/>
            <a:ext cx="1313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5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 LoRa 915 MHz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4" name="Google Shape;774;g3f407d67d4d_0_88"/>
          <p:cNvSpPr txBox="1"/>
          <p:nvPr/>
        </p:nvSpPr>
        <p:spPr>
          <a:xfrm>
            <a:off x="7464203" y="1293666"/>
            <a:ext cx="1313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5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RADIOENLACE</a:t>
            </a:r>
            <a:endParaRPr b="1" sz="125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5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UHF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5" name="Google Shape;775;g3f407d67d4d_0_88"/>
          <p:cNvSpPr txBox="1"/>
          <p:nvPr/>
        </p:nvSpPr>
        <p:spPr>
          <a:xfrm>
            <a:off x="9766965" y="1292116"/>
            <a:ext cx="1313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5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CELULAR 4G / LTE-M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6" name="Google Shape;776;g3f407d67d4d_0_88"/>
          <p:cNvSpPr txBox="1"/>
          <p:nvPr/>
        </p:nvSpPr>
        <p:spPr>
          <a:xfrm>
            <a:off x="7102225" y="191512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Enlace de radio en banda asignada en exclusiva por el regulador a un titular.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7" name="Google Shape;777;g3f407d67d4d_0_88"/>
          <p:cNvSpPr txBox="1"/>
          <p:nvPr/>
        </p:nvSpPr>
        <p:spPr>
          <a:xfrm>
            <a:off x="4769175" y="191512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Enlace de radio en banda ISM de uso compartido, con espectro ensanchado.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8" name="Google Shape;778;g3f407d67d4d_0_88"/>
          <p:cNvSpPr txBox="1"/>
          <p:nvPr/>
        </p:nvSpPr>
        <p:spPr>
          <a:xfrm>
            <a:off x="2452050" y="1915127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Par de conductores entre el punto de detección y el cruce, con estado abierto o cerrado.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9" name="Google Shape;779;g3f407d67d4d_0_88"/>
          <p:cNvSpPr txBox="1"/>
          <p:nvPr/>
        </p:nvSpPr>
        <p:spPr>
          <a:xfrm>
            <a:off x="9435275" y="1915127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Enlace de datos sobre la red de un operador celular comercial.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0" name="Google Shape;780;g3f407d67d4d_0_88"/>
          <p:cNvSpPr txBox="1"/>
          <p:nvPr/>
        </p:nvSpPr>
        <p:spPr>
          <a:xfrm>
            <a:off x="1010162" y="2131287"/>
            <a:ext cx="1313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5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1" name="Google Shape;781;g3f407d67d4d_0_88"/>
          <p:cNvSpPr txBox="1"/>
          <p:nvPr/>
        </p:nvSpPr>
        <p:spPr>
          <a:xfrm>
            <a:off x="2450450" y="2851487"/>
            <a:ext cx="2034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Inmune a interferencia de radio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Comportamiento determinista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Tecnología ya instalada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Fácil mantenimiento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2" name="Google Shape;782;g3f407d67d4d_0_88"/>
          <p:cNvSpPr txBox="1"/>
          <p:nvPr/>
        </p:nvSpPr>
        <p:spPr>
          <a:xfrm>
            <a:off x="4767625" y="2847924"/>
            <a:ext cx="20343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Buen rango y bajo consumo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Banda de frecuencia pública, sin costos operativos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Enlace propio punto a punto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3" name="Google Shape;783;g3f407d67d4d_0_88"/>
          <p:cNvSpPr txBox="1"/>
          <p:nvPr/>
        </p:nvSpPr>
        <p:spPr>
          <a:xfrm>
            <a:off x="7084800" y="2851487"/>
            <a:ext cx="20343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Banda privada, sin límites de duty cycle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potencia permitida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Hardware propio, sin necesidad de un carrier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Canal legalmente protegido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4" name="Google Shape;784;g3f407d67d4d_0_88"/>
          <p:cNvSpPr txBox="1"/>
          <p:nvPr/>
        </p:nvSpPr>
        <p:spPr>
          <a:xfrm>
            <a:off x="9401975" y="2838162"/>
            <a:ext cx="20343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Cobertura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ya existente en zonas urbanas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obra de antena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Costos operativos bajos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Instalación muy sencilla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5" name="Google Shape;785;g3f407d67d4d_0_88"/>
          <p:cNvSpPr/>
          <p:nvPr/>
        </p:nvSpPr>
        <p:spPr>
          <a:xfrm>
            <a:off x="2310616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f407d67d4d_0_88"/>
          <p:cNvSpPr/>
          <p:nvPr/>
        </p:nvSpPr>
        <p:spPr>
          <a:xfrm>
            <a:off x="4627819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3f407d67d4d_0_88"/>
          <p:cNvSpPr/>
          <p:nvPr/>
        </p:nvSpPr>
        <p:spPr>
          <a:xfrm>
            <a:off x="6945022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3f407d67d4d_0_88"/>
          <p:cNvSpPr/>
          <p:nvPr/>
        </p:nvSpPr>
        <p:spPr>
          <a:xfrm>
            <a:off x="9262175" y="4862809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f407d67d4d_0_88"/>
          <p:cNvSpPr txBox="1"/>
          <p:nvPr/>
        </p:nvSpPr>
        <p:spPr>
          <a:xfrm>
            <a:off x="2452100" y="4953922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transporta posición ni velocidad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escala en red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0" name="Google Shape;790;g3f407d67d4d_0_88"/>
          <p:cNvSpPr txBox="1"/>
          <p:nvPr/>
        </p:nvSpPr>
        <p:spPr>
          <a:xfrm>
            <a:off x="4769275" y="4915609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Banda compartida, exige cifrado propio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Sensible a obstrucción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Ciclo de trabajo acotado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Bajo ancho de banda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1" name="Google Shape;791;g3f407d67d4d_0_88"/>
          <p:cNvSpPr txBox="1"/>
          <p:nvPr/>
        </p:nvSpPr>
        <p:spPr>
          <a:xfrm>
            <a:off x="7103750" y="4915609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Licencia a cargo del titular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Trámite ante el regulador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costo por hardware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Instalación 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más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custom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Puede ser obstruido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2" name="Google Shape;792;g3f407d67d4d_0_88"/>
          <p:cNvSpPr txBox="1"/>
          <p:nvPr/>
        </p:nvSpPr>
        <p:spPr>
          <a:xfrm>
            <a:off x="9406525" y="4915609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Puede haber regiones sin cobertura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Latencia 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al resto de las 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tecnologías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Abono mensual por nodo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93" name="Google Shape;793;g3f407d67d4d_0_88"/>
          <p:cNvGrpSpPr/>
          <p:nvPr/>
        </p:nvGrpSpPr>
        <p:grpSpPr>
          <a:xfrm>
            <a:off x="692104" y="3601735"/>
            <a:ext cx="1542145" cy="401829"/>
            <a:chOff x="781417" y="4084972"/>
            <a:chExt cx="1542145" cy="401829"/>
          </a:xfrm>
        </p:grpSpPr>
        <p:pic>
          <p:nvPicPr>
            <p:cNvPr id="794" name="Google Shape;794;g3f407d67d4d_0_88" title="ChatGPT Image 15 ago 2026, 13_18_36.png"/>
            <p:cNvPicPr preferRelativeResize="0"/>
            <p:nvPr/>
          </p:nvPicPr>
          <p:blipFill rotWithShape="1">
            <a:blip r:embed="rId4">
              <a:alphaModFix/>
            </a:blip>
            <a:srcRect b="18597" l="44711" r="44644" t="57364"/>
            <a:stretch/>
          </p:blipFill>
          <p:spPr>
            <a:xfrm>
              <a:off x="781417" y="4084972"/>
              <a:ext cx="380226" cy="4018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g3f407d67d4d_0_88"/>
            <p:cNvSpPr txBox="1"/>
            <p:nvPr/>
          </p:nvSpPr>
          <p:spPr>
            <a:xfrm>
              <a:off x="1010162" y="4108074"/>
              <a:ext cx="1313400" cy="3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300" lIns="88300" spcFirstLastPara="1" rIns="88300" wrap="square" tIns="883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AR" sz="125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VENTAJAS</a:t>
              </a:r>
              <a:endParaRPr b="1" i="0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96" name="Google Shape;796;g3f407d67d4d_0_88"/>
          <p:cNvSpPr txBox="1"/>
          <p:nvPr/>
        </p:nvSpPr>
        <p:spPr>
          <a:xfrm>
            <a:off x="997287" y="5361068"/>
            <a:ext cx="1313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5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7" name="Google Shape;797;g3f407d67d4d_0_88"/>
          <p:cNvSpPr txBox="1"/>
          <p:nvPr/>
        </p:nvSpPr>
        <p:spPr>
          <a:xfrm>
            <a:off x="182874" y="78679"/>
            <a:ext cx="7453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DE ALTERNATIVAS</a:t>
            </a:r>
            <a:endParaRPr sz="36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98" name="Google Shape;798;g3f407d67d4d_0_88"/>
          <p:cNvSpPr txBox="1"/>
          <p:nvPr/>
        </p:nvSpPr>
        <p:spPr>
          <a:xfrm>
            <a:off x="179813" y="585916"/>
            <a:ext cx="30537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2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CANALES DE COMUNICACIÓN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oogle Shape;803;g3f8c9c594d6_2_620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804" name="Google Shape;804;g3f8c9c594d6_2_620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805" name="Google Shape;805;g3f8c9c594d6_2_620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g3f8c9c594d6_2_620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807" name="Google Shape;807;g3f8c9c594d6_2_62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808" name="Google Shape;808;g3f8c9c594d6_2_620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9" name="Google Shape;809;g3f8c9c594d6_2_620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810" name="Google Shape;810;g3f8c9c594d6_2_620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g3f8c9c594d6_2_620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3f8c9c594d6_2_620"/>
          <p:cNvSpPr txBox="1"/>
          <p:nvPr/>
        </p:nvSpPr>
        <p:spPr>
          <a:xfrm>
            <a:off x="182875" y="78675"/>
            <a:ext cx="9470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DE ALTERNATIVAS - </a:t>
            </a: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COMUNICACIÓN</a:t>
            </a:r>
            <a:endParaRPr sz="36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13" name="Google Shape;813;g3f8c9c594d6_2_620"/>
          <p:cNvSpPr/>
          <p:nvPr/>
        </p:nvSpPr>
        <p:spPr>
          <a:xfrm>
            <a:off x="1939143" y="1021263"/>
            <a:ext cx="2424000" cy="530400"/>
          </a:xfrm>
          <a:prstGeom prst="rect">
            <a:avLst/>
          </a:prstGeom>
          <a:solidFill>
            <a:srgbClr val="107439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f8c9c594d6_2_620"/>
          <p:cNvSpPr txBox="1"/>
          <p:nvPr/>
        </p:nvSpPr>
        <p:spPr>
          <a:xfrm>
            <a:off x="2232669" y="1021263"/>
            <a:ext cx="1846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RAVEON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RV-M7-GX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5" name="Google Shape;815;g3f8c9c594d6_2_620"/>
          <p:cNvSpPr/>
          <p:nvPr/>
        </p:nvSpPr>
        <p:spPr>
          <a:xfrm>
            <a:off x="4363098" y="1021263"/>
            <a:ext cx="2424000" cy="530400"/>
          </a:xfrm>
          <a:prstGeom prst="rect">
            <a:avLst/>
          </a:prstGeom>
          <a:solidFill>
            <a:srgbClr val="061F45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f8c9c594d6_2_620"/>
          <p:cNvSpPr txBox="1"/>
          <p:nvPr/>
        </p:nvSpPr>
        <p:spPr>
          <a:xfrm>
            <a:off x="4656624" y="1021263"/>
            <a:ext cx="1846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SATEL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lang="es-AR" sz="1203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RF4</a:t>
            </a: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7" name="Google Shape;817;g3f8c9c594d6_2_620"/>
          <p:cNvSpPr/>
          <p:nvPr/>
        </p:nvSpPr>
        <p:spPr>
          <a:xfrm>
            <a:off x="6796521" y="1021263"/>
            <a:ext cx="2424000" cy="530400"/>
          </a:xfrm>
          <a:prstGeom prst="rect">
            <a:avLst/>
          </a:prstGeom>
          <a:solidFill>
            <a:srgbClr val="061F45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f8c9c594d6_2_620"/>
          <p:cNvSpPr txBox="1"/>
          <p:nvPr/>
        </p:nvSpPr>
        <p:spPr>
          <a:xfrm>
            <a:off x="7090047" y="1021263"/>
            <a:ext cx="1846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LIMESDR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USB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9" name="Google Shape;819;g3f8c9c594d6_2_620"/>
          <p:cNvSpPr/>
          <p:nvPr/>
        </p:nvSpPr>
        <p:spPr>
          <a:xfrm>
            <a:off x="9211008" y="1021263"/>
            <a:ext cx="2424000" cy="530400"/>
          </a:xfrm>
          <a:prstGeom prst="rect">
            <a:avLst/>
          </a:prstGeom>
          <a:solidFill>
            <a:srgbClr val="061F45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f8c9c594d6_2_620"/>
          <p:cNvSpPr txBox="1"/>
          <p:nvPr/>
        </p:nvSpPr>
        <p:spPr>
          <a:xfrm>
            <a:off x="9504534" y="1021263"/>
            <a:ext cx="1846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203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SX1262</a:t>
            </a:r>
            <a:endParaRPr b="1" i="0" sz="1256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1" name="Google Shape;821;g3f8c9c594d6_2_620"/>
          <p:cNvSpPr/>
          <p:nvPr/>
        </p:nvSpPr>
        <p:spPr>
          <a:xfrm>
            <a:off x="556731" y="1551503"/>
            <a:ext cx="1382400" cy="8901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2" name="Google Shape;822;g3f8c9c594d6_2_620"/>
          <p:cNvSpPr txBox="1"/>
          <p:nvPr/>
        </p:nvSpPr>
        <p:spPr>
          <a:xfrm>
            <a:off x="575668" y="1551503"/>
            <a:ext cx="13824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3" name="Google Shape;823;g3f8c9c594d6_2_620"/>
          <p:cNvSpPr/>
          <p:nvPr/>
        </p:nvSpPr>
        <p:spPr>
          <a:xfrm>
            <a:off x="1939143" y="1551503"/>
            <a:ext cx="2424000" cy="8901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3f8c9c594d6_2_620"/>
          <p:cNvSpPr txBox="1"/>
          <p:nvPr/>
        </p:nvSpPr>
        <p:spPr>
          <a:xfrm>
            <a:off x="2081171" y="1551503"/>
            <a:ext cx="21210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Radiomódem industrial con GPS interno y salida serie</a:t>
            </a:r>
            <a:r>
              <a:rPr lang="es-AR" sz="1099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5" name="Google Shape;825;g3f8c9c594d6_2_620"/>
          <p:cNvSpPr/>
          <p:nvPr/>
        </p:nvSpPr>
        <p:spPr>
          <a:xfrm>
            <a:off x="4363098" y="1551503"/>
            <a:ext cx="2424000" cy="8901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f8c9c594d6_2_620"/>
          <p:cNvSpPr txBox="1"/>
          <p:nvPr/>
        </p:nvSpPr>
        <p:spPr>
          <a:xfrm>
            <a:off x="4505126" y="1551503"/>
            <a:ext cx="21210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Radiomódem profesional europeo, usado en topografía y telemetría.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7" name="Google Shape;827;g3f8c9c594d6_2_620"/>
          <p:cNvSpPr/>
          <p:nvPr/>
        </p:nvSpPr>
        <p:spPr>
          <a:xfrm>
            <a:off x="6796521" y="1551503"/>
            <a:ext cx="2424000" cy="8901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f8c9c594d6_2_620"/>
          <p:cNvSpPr txBox="1"/>
          <p:nvPr/>
        </p:nvSpPr>
        <p:spPr>
          <a:xfrm>
            <a:off x="6938550" y="1551503"/>
            <a:ext cx="21210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 definida por software, de propósito general para desarrollo.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9" name="Google Shape;829;g3f8c9c594d6_2_620"/>
          <p:cNvSpPr/>
          <p:nvPr/>
        </p:nvSpPr>
        <p:spPr>
          <a:xfrm>
            <a:off x="9211008" y="1551503"/>
            <a:ext cx="2424000" cy="8901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f8c9c594d6_2_620"/>
          <p:cNvSpPr txBox="1"/>
          <p:nvPr/>
        </p:nvSpPr>
        <p:spPr>
          <a:xfrm>
            <a:off x="9353037" y="1551503"/>
            <a:ext cx="21210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Transceptor integrado en la placa PANDA con amplificador propio.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1" name="Google Shape;831;g3f8c9c594d6_2_620"/>
          <p:cNvSpPr/>
          <p:nvPr/>
        </p:nvSpPr>
        <p:spPr>
          <a:xfrm>
            <a:off x="556731" y="24415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2" name="Google Shape;832;g3f8c9c594d6_2_620"/>
          <p:cNvSpPr txBox="1"/>
          <p:nvPr/>
        </p:nvSpPr>
        <p:spPr>
          <a:xfrm>
            <a:off x="575668" y="24415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BANDA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3" name="Google Shape;833;g3f8c9c594d6_2_620"/>
          <p:cNvSpPr/>
          <p:nvPr/>
        </p:nvSpPr>
        <p:spPr>
          <a:xfrm>
            <a:off x="1939143" y="2441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f8c9c594d6_2_620"/>
          <p:cNvSpPr txBox="1"/>
          <p:nvPr/>
        </p:nvSpPr>
        <p:spPr>
          <a:xfrm>
            <a:off x="2081171" y="2441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</a:t>
            </a:r>
            <a:r>
              <a:rPr lang="es-AR" sz="1099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 a 480 MHz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5" name="Google Shape;835;g3f8c9c594d6_2_620"/>
          <p:cNvSpPr/>
          <p:nvPr/>
        </p:nvSpPr>
        <p:spPr>
          <a:xfrm>
            <a:off x="4363098" y="2441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f8c9c594d6_2_620"/>
          <p:cNvSpPr txBox="1"/>
          <p:nvPr/>
        </p:nvSpPr>
        <p:spPr>
          <a:xfrm>
            <a:off x="4505126" y="2441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403 a 473 MHz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7" name="Google Shape;837;g3f8c9c594d6_2_620"/>
          <p:cNvSpPr/>
          <p:nvPr/>
        </p:nvSpPr>
        <p:spPr>
          <a:xfrm>
            <a:off x="6796521" y="2441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f8c9c594d6_2_620"/>
          <p:cNvSpPr txBox="1"/>
          <p:nvPr/>
        </p:nvSpPr>
        <p:spPr>
          <a:xfrm>
            <a:off x="6938550" y="2441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100 kHz a 3,8 GHz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9" name="Google Shape;839;g3f8c9c594d6_2_620"/>
          <p:cNvSpPr/>
          <p:nvPr/>
        </p:nvSpPr>
        <p:spPr>
          <a:xfrm>
            <a:off x="9211008" y="2441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f8c9c594d6_2_620"/>
          <p:cNvSpPr txBox="1"/>
          <p:nvPr/>
        </p:nvSpPr>
        <p:spPr>
          <a:xfrm>
            <a:off x="9353037" y="2441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150 a 960 MHz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1" name="Google Shape;841;g3f8c9c594d6_2_620"/>
          <p:cNvSpPr/>
          <p:nvPr/>
        </p:nvSpPr>
        <p:spPr>
          <a:xfrm>
            <a:off x="556731" y="27729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2" name="Google Shape;842;g3f8c9c594d6_2_620"/>
          <p:cNvSpPr txBox="1"/>
          <p:nvPr/>
        </p:nvSpPr>
        <p:spPr>
          <a:xfrm>
            <a:off x="575668" y="27729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POTENCIA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3" name="Google Shape;843;g3f8c9c594d6_2_620"/>
          <p:cNvSpPr/>
          <p:nvPr/>
        </p:nvSpPr>
        <p:spPr>
          <a:xfrm>
            <a:off x="1939143" y="2772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f8c9c594d6_2_620"/>
          <p:cNvSpPr txBox="1"/>
          <p:nvPr/>
        </p:nvSpPr>
        <p:spPr>
          <a:xfrm>
            <a:off x="2081171" y="2772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0,5 a 5 W programable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5" name="Google Shape;845;g3f8c9c594d6_2_620"/>
          <p:cNvSpPr/>
          <p:nvPr/>
        </p:nvSpPr>
        <p:spPr>
          <a:xfrm>
            <a:off x="4363098" y="2772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f8c9c594d6_2_620"/>
          <p:cNvSpPr txBox="1"/>
          <p:nvPr/>
        </p:nvSpPr>
        <p:spPr>
          <a:xfrm>
            <a:off x="4505126" y="2772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0,01 a 1 W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7" name="Google Shape;847;g3f8c9c594d6_2_620"/>
          <p:cNvSpPr/>
          <p:nvPr/>
        </p:nvSpPr>
        <p:spPr>
          <a:xfrm>
            <a:off x="6796521" y="2772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f8c9c594d6_2_620"/>
          <p:cNvSpPr txBox="1"/>
          <p:nvPr/>
        </p:nvSpPr>
        <p:spPr>
          <a:xfrm>
            <a:off x="6938550" y="2772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 dBm, o sea 10 mW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9" name="Google Shape;849;g3f8c9c594d6_2_620"/>
          <p:cNvSpPr/>
          <p:nvPr/>
        </p:nvSpPr>
        <p:spPr>
          <a:xfrm>
            <a:off x="9211008" y="2772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f8c9c594d6_2_620"/>
          <p:cNvSpPr txBox="1"/>
          <p:nvPr/>
        </p:nvSpPr>
        <p:spPr>
          <a:xfrm>
            <a:off x="9353037" y="2772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 W con amplificador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1" name="Google Shape;851;g3f8c9c594d6_2_620"/>
          <p:cNvSpPr/>
          <p:nvPr/>
        </p:nvSpPr>
        <p:spPr>
          <a:xfrm>
            <a:off x="556731" y="31043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2" name="Google Shape;852;g3f8c9c594d6_2_620"/>
          <p:cNvSpPr txBox="1"/>
          <p:nvPr/>
        </p:nvSpPr>
        <p:spPr>
          <a:xfrm>
            <a:off x="575668" y="31043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VELOCIDAD DE DATOS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3" name="Google Shape;853;g3f8c9c594d6_2_620"/>
          <p:cNvSpPr/>
          <p:nvPr/>
        </p:nvSpPr>
        <p:spPr>
          <a:xfrm>
            <a:off x="1939143" y="31043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g3f8c9c594d6_2_620"/>
          <p:cNvSpPr txBox="1"/>
          <p:nvPr/>
        </p:nvSpPr>
        <p:spPr>
          <a:xfrm>
            <a:off x="2081171" y="31043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1200 a 19200 bps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5" name="Google Shape;855;g3f8c9c594d6_2_620"/>
          <p:cNvSpPr/>
          <p:nvPr/>
        </p:nvSpPr>
        <p:spPr>
          <a:xfrm>
            <a:off x="4363098" y="31043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f8c9c594d6_2_620"/>
          <p:cNvSpPr txBox="1"/>
          <p:nvPr/>
        </p:nvSpPr>
        <p:spPr>
          <a:xfrm>
            <a:off x="4505126" y="31043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Hasta 28800 bps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7" name="Google Shape;857;g3f8c9c594d6_2_620"/>
          <p:cNvSpPr/>
          <p:nvPr/>
        </p:nvSpPr>
        <p:spPr>
          <a:xfrm>
            <a:off x="6796521" y="31043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f8c9c594d6_2_620"/>
          <p:cNvSpPr txBox="1"/>
          <p:nvPr/>
        </p:nvSpPr>
        <p:spPr>
          <a:xfrm>
            <a:off x="6938550" y="31043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Definida por software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9" name="Google Shape;859;g3f8c9c594d6_2_620"/>
          <p:cNvSpPr/>
          <p:nvPr/>
        </p:nvSpPr>
        <p:spPr>
          <a:xfrm>
            <a:off x="9211008" y="31043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f8c9c594d6_2_620"/>
          <p:cNvSpPr txBox="1"/>
          <p:nvPr/>
        </p:nvSpPr>
        <p:spPr>
          <a:xfrm>
            <a:off x="9353037" y="31043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Hasta 300 kbps en FSK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1" name="Google Shape;861;g3f8c9c594d6_2_620"/>
          <p:cNvSpPr/>
          <p:nvPr/>
        </p:nvSpPr>
        <p:spPr>
          <a:xfrm>
            <a:off x="556731" y="34357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2" name="Google Shape;862;g3f8c9c594d6_2_620"/>
          <p:cNvSpPr txBox="1"/>
          <p:nvPr/>
        </p:nvSpPr>
        <p:spPr>
          <a:xfrm>
            <a:off x="575668" y="34357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SENSIBILIDAD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3" name="Google Shape;863;g3f8c9c594d6_2_620"/>
          <p:cNvSpPr/>
          <p:nvPr/>
        </p:nvSpPr>
        <p:spPr>
          <a:xfrm>
            <a:off x="1939143" y="34357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f8c9c594d6_2_620"/>
          <p:cNvSpPr txBox="1"/>
          <p:nvPr/>
        </p:nvSpPr>
        <p:spPr>
          <a:xfrm>
            <a:off x="2081171" y="34357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-116 dBm a 4800 bps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5" name="Google Shape;865;g3f8c9c594d6_2_620"/>
          <p:cNvSpPr/>
          <p:nvPr/>
        </p:nvSpPr>
        <p:spPr>
          <a:xfrm>
            <a:off x="4363098" y="34357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f8c9c594d6_2_620"/>
          <p:cNvSpPr txBox="1"/>
          <p:nvPr/>
        </p:nvSpPr>
        <p:spPr>
          <a:xfrm>
            <a:off x="4505126" y="34357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-115 dBm a 12,5 kHz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7" name="Google Shape;867;g3f8c9c594d6_2_620"/>
          <p:cNvSpPr/>
          <p:nvPr/>
        </p:nvSpPr>
        <p:spPr>
          <a:xfrm>
            <a:off x="6796521" y="34357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f8c9c594d6_2_620"/>
          <p:cNvSpPr txBox="1"/>
          <p:nvPr/>
        </p:nvSpPr>
        <p:spPr>
          <a:xfrm>
            <a:off x="6938550" y="34357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Según la implementación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9" name="Google Shape;869;g3f8c9c594d6_2_620"/>
          <p:cNvSpPr/>
          <p:nvPr/>
        </p:nvSpPr>
        <p:spPr>
          <a:xfrm>
            <a:off x="9211008" y="34357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f8c9c594d6_2_620"/>
          <p:cNvSpPr txBox="1"/>
          <p:nvPr/>
        </p:nvSpPr>
        <p:spPr>
          <a:xfrm>
            <a:off x="9353037" y="34357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-118 dBm a 4800 bps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1" name="Google Shape;871;g3f8c9c594d6_2_620"/>
          <p:cNvSpPr/>
          <p:nvPr/>
        </p:nvSpPr>
        <p:spPr>
          <a:xfrm>
            <a:off x="556731" y="37671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2" name="Google Shape;872;g3f8c9c594d6_2_620"/>
          <p:cNvSpPr txBox="1"/>
          <p:nvPr/>
        </p:nvSpPr>
        <p:spPr>
          <a:xfrm>
            <a:off x="575668" y="37671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TOPOLOGÍA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3" name="Google Shape;873;g3f8c9c594d6_2_620"/>
          <p:cNvSpPr/>
          <p:nvPr/>
        </p:nvSpPr>
        <p:spPr>
          <a:xfrm>
            <a:off x="1939143" y="37671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f8c9c594d6_2_620"/>
          <p:cNvSpPr txBox="1"/>
          <p:nvPr/>
        </p:nvSpPr>
        <p:spPr>
          <a:xfrm>
            <a:off x="2081171" y="37671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Punto a punto y </a:t>
            </a:r>
            <a:r>
              <a:rPr lang="es-AR" sz="1099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transparente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5" name="Google Shape;875;g3f8c9c594d6_2_620"/>
          <p:cNvSpPr/>
          <p:nvPr/>
        </p:nvSpPr>
        <p:spPr>
          <a:xfrm>
            <a:off x="4363098" y="37671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f8c9c594d6_2_620"/>
          <p:cNvSpPr txBox="1"/>
          <p:nvPr/>
        </p:nvSpPr>
        <p:spPr>
          <a:xfrm>
            <a:off x="4505126" y="37671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Punto a punto y red NMS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7" name="Google Shape;877;g3f8c9c594d6_2_620"/>
          <p:cNvSpPr/>
          <p:nvPr/>
        </p:nvSpPr>
        <p:spPr>
          <a:xfrm>
            <a:off x="6796521" y="37671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f8c9c594d6_2_620"/>
          <p:cNvSpPr txBox="1"/>
          <p:nvPr/>
        </p:nvSpPr>
        <p:spPr>
          <a:xfrm>
            <a:off x="6938550" y="37671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que se programe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9" name="Google Shape;879;g3f8c9c594d6_2_620"/>
          <p:cNvSpPr/>
          <p:nvPr/>
        </p:nvSpPr>
        <p:spPr>
          <a:xfrm>
            <a:off x="9211008" y="37671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f8c9c594d6_2_620"/>
          <p:cNvSpPr txBox="1"/>
          <p:nvPr/>
        </p:nvSpPr>
        <p:spPr>
          <a:xfrm>
            <a:off x="9353037" y="37671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Punto a punto propia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1" name="Google Shape;881;g3f8c9c594d6_2_620"/>
          <p:cNvSpPr/>
          <p:nvPr/>
        </p:nvSpPr>
        <p:spPr>
          <a:xfrm>
            <a:off x="556731" y="40985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2" name="Google Shape;882;g3f8c9c594d6_2_620"/>
          <p:cNvSpPr txBox="1"/>
          <p:nvPr/>
        </p:nvSpPr>
        <p:spPr>
          <a:xfrm>
            <a:off x="575668" y="40985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TEMPERATURA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3" name="Google Shape;883;g3f8c9c594d6_2_620"/>
          <p:cNvSpPr/>
          <p:nvPr/>
        </p:nvSpPr>
        <p:spPr>
          <a:xfrm>
            <a:off x="1939143" y="4098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f8c9c594d6_2_620"/>
          <p:cNvSpPr txBox="1"/>
          <p:nvPr/>
        </p:nvSpPr>
        <p:spPr>
          <a:xfrm>
            <a:off x="2081171" y="4098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-30 a +60 °C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5" name="Google Shape;885;g3f8c9c594d6_2_620"/>
          <p:cNvSpPr/>
          <p:nvPr/>
        </p:nvSpPr>
        <p:spPr>
          <a:xfrm>
            <a:off x="4363098" y="4098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f8c9c594d6_2_620"/>
          <p:cNvSpPr txBox="1"/>
          <p:nvPr/>
        </p:nvSpPr>
        <p:spPr>
          <a:xfrm>
            <a:off x="4505126" y="4098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-25 a +55 °C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7" name="Google Shape;887;g3f8c9c594d6_2_620"/>
          <p:cNvSpPr/>
          <p:nvPr/>
        </p:nvSpPr>
        <p:spPr>
          <a:xfrm>
            <a:off x="6796521" y="4098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f8c9c594d6_2_620"/>
          <p:cNvSpPr txBox="1"/>
          <p:nvPr/>
        </p:nvSpPr>
        <p:spPr>
          <a:xfrm>
            <a:off x="6938550" y="4098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especificar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9" name="Google Shape;889;g3f8c9c594d6_2_620"/>
          <p:cNvSpPr/>
          <p:nvPr/>
        </p:nvSpPr>
        <p:spPr>
          <a:xfrm>
            <a:off x="9211008" y="40985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f8c9c594d6_2_620"/>
          <p:cNvSpPr txBox="1"/>
          <p:nvPr/>
        </p:nvSpPr>
        <p:spPr>
          <a:xfrm>
            <a:off x="9353037" y="40985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-40 a +85 °C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1" name="Google Shape;891;g3f8c9c594d6_2_620"/>
          <p:cNvSpPr/>
          <p:nvPr/>
        </p:nvSpPr>
        <p:spPr>
          <a:xfrm>
            <a:off x="556731" y="4429948"/>
            <a:ext cx="1382400" cy="3315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2" name="Google Shape;892;g3f8c9c594d6_2_620"/>
          <p:cNvSpPr txBox="1"/>
          <p:nvPr/>
        </p:nvSpPr>
        <p:spPr>
          <a:xfrm>
            <a:off x="575668" y="4429948"/>
            <a:ext cx="1382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UNITARIO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3" name="Google Shape;893;g3f8c9c594d6_2_620"/>
          <p:cNvSpPr/>
          <p:nvPr/>
        </p:nvSpPr>
        <p:spPr>
          <a:xfrm>
            <a:off x="1939143" y="4429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f8c9c594d6_2_620"/>
          <p:cNvSpPr txBox="1"/>
          <p:nvPr/>
        </p:nvSpPr>
        <p:spPr>
          <a:xfrm>
            <a:off x="2081171" y="4429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 USD </a:t>
            </a:r>
            <a:r>
              <a:rPr lang="es-AR" sz="1099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35</a:t>
            </a: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5" name="Google Shape;895;g3f8c9c594d6_2_620"/>
          <p:cNvSpPr/>
          <p:nvPr/>
        </p:nvSpPr>
        <p:spPr>
          <a:xfrm>
            <a:off x="4363098" y="4429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f8c9c594d6_2_620"/>
          <p:cNvSpPr txBox="1"/>
          <p:nvPr/>
        </p:nvSpPr>
        <p:spPr>
          <a:xfrm>
            <a:off x="4505126" y="4429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 USD 900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7" name="Google Shape;897;g3f8c9c594d6_2_620"/>
          <p:cNvSpPr/>
          <p:nvPr/>
        </p:nvSpPr>
        <p:spPr>
          <a:xfrm>
            <a:off x="6796521" y="4429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f8c9c594d6_2_620"/>
          <p:cNvSpPr txBox="1"/>
          <p:nvPr/>
        </p:nvSpPr>
        <p:spPr>
          <a:xfrm>
            <a:off x="6938550" y="4429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 USD 300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9" name="Google Shape;899;g3f8c9c594d6_2_620"/>
          <p:cNvSpPr/>
          <p:nvPr/>
        </p:nvSpPr>
        <p:spPr>
          <a:xfrm>
            <a:off x="9211008" y="4429948"/>
            <a:ext cx="2424000" cy="3315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f8c9c594d6_2_620"/>
          <p:cNvSpPr txBox="1"/>
          <p:nvPr/>
        </p:nvSpPr>
        <p:spPr>
          <a:xfrm>
            <a:off x="9353037" y="4429948"/>
            <a:ext cx="212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 USD 40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1" name="Google Shape;901;g3f8c9c594d6_2_620"/>
          <p:cNvSpPr/>
          <p:nvPr/>
        </p:nvSpPr>
        <p:spPr>
          <a:xfrm>
            <a:off x="556731" y="4761347"/>
            <a:ext cx="1382400" cy="7194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2" name="Google Shape;902;g3f8c9c594d6_2_620"/>
          <p:cNvSpPr txBox="1"/>
          <p:nvPr/>
        </p:nvSpPr>
        <p:spPr>
          <a:xfrm>
            <a:off x="575668" y="4761347"/>
            <a:ext cx="13824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3" name="Google Shape;903;g3f8c9c594d6_2_620"/>
          <p:cNvSpPr/>
          <p:nvPr/>
        </p:nvSpPr>
        <p:spPr>
          <a:xfrm>
            <a:off x="1939143" y="4761347"/>
            <a:ext cx="2424000" cy="7194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f8c9c594d6_2_620"/>
          <p:cNvSpPr txBox="1"/>
          <p:nvPr/>
        </p:nvSpPr>
        <p:spPr>
          <a:xfrm>
            <a:off x="2081171" y="4761347"/>
            <a:ext cx="2121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GPS interno incluido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Listo para instalar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05" name="Google Shape;905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2161654" y="4945492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2161654" y="5154786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f8c9c594d6_2_620"/>
          <p:cNvSpPr/>
          <p:nvPr/>
        </p:nvSpPr>
        <p:spPr>
          <a:xfrm>
            <a:off x="4363098" y="4761347"/>
            <a:ext cx="2424000" cy="7194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f8c9c594d6_2_620"/>
          <p:cNvSpPr txBox="1"/>
          <p:nvPr/>
        </p:nvSpPr>
        <p:spPr>
          <a:xfrm>
            <a:off x="4505126" y="4761347"/>
            <a:ext cx="2121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Mayor velocidad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Versión módulo OEM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09" name="Google Shape;909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4585609" y="4945492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4585609" y="5154786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g3f8c9c594d6_2_620"/>
          <p:cNvSpPr/>
          <p:nvPr/>
        </p:nvSpPr>
        <p:spPr>
          <a:xfrm>
            <a:off x="6796521" y="4761347"/>
            <a:ext cx="2424000" cy="7194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f8c9c594d6_2_620"/>
          <p:cNvSpPr txBox="1"/>
          <p:nvPr/>
        </p:nvSpPr>
        <p:spPr>
          <a:xfrm>
            <a:off x="6938550" y="4761347"/>
            <a:ext cx="2121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Flexibilidad total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Sirve para medir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13" name="Google Shape;913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7019033" y="4945492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7019033" y="5154786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f8c9c594d6_2_620"/>
          <p:cNvSpPr/>
          <p:nvPr/>
        </p:nvSpPr>
        <p:spPr>
          <a:xfrm>
            <a:off x="9211008" y="4761347"/>
            <a:ext cx="2424000" cy="7194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f8c9c594d6_2_620"/>
          <p:cNvSpPr txBox="1"/>
          <p:nvPr/>
        </p:nvSpPr>
        <p:spPr>
          <a:xfrm>
            <a:off x="9353037" y="4761347"/>
            <a:ext cx="2121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El más barato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Se integra en la placa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17" name="Google Shape;917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9433520" y="4945492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9433520" y="5154786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f8c9c594d6_2_620"/>
          <p:cNvSpPr/>
          <p:nvPr/>
        </p:nvSpPr>
        <p:spPr>
          <a:xfrm>
            <a:off x="556731" y="5480959"/>
            <a:ext cx="1382400" cy="747900"/>
          </a:xfrm>
          <a:prstGeom prst="rect">
            <a:avLst/>
          </a:prstGeom>
          <a:solidFill>
            <a:srgbClr val="F3F7FA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256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20" name="Google Shape;920;g3f8c9c594d6_2_620"/>
          <p:cNvSpPr txBox="1"/>
          <p:nvPr/>
        </p:nvSpPr>
        <p:spPr>
          <a:xfrm>
            <a:off x="575668" y="5480959"/>
            <a:ext cx="13824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Arial"/>
              <a:buNone/>
            </a:pPr>
            <a:r>
              <a:rPr b="1" i="0" lang="es-AR" sz="1047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1047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21" name="Google Shape;921;g3f8c9c594d6_2_620"/>
          <p:cNvSpPr/>
          <p:nvPr/>
        </p:nvSpPr>
        <p:spPr>
          <a:xfrm>
            <a:off x="1939143" y="5480959"/>
            <a:ext cx="2424000" cy="7479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f8c9c594d6_2_620"/>
          <p:cNvSpPr txBox="1"/>
          <p:nvPr/>
        </p:nvSpPr>
        <p:spPr>
          <a:xfrm>
            <a:off x="2081171" y="5480959"/>
            <a:ext cx="21210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Solo hasta +60 °C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Caja externa aparte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23" name="Google Shape;923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2161654" y="5679306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2161654" y="5888600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f8c9c594d6_2_620"/>
          <p:cNvSpPr/>
          <p:nvPr/>
        </p:nvSpPr>
        <p:spPr>
          <a:xfrm>
            <a:off x="4363098" y="5480959"/>
            <a:ext cx="2424000" cy="7479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f8c9c594d6_2_620"/>
          <p:cNvSpPr txBox="1"/>
          <p:nvPr/>
        </p:nvSpPr>
        <p:spPr>
          <a:xfrm>
            <a:off x="4505126" y="5480959"/>
            <a:ext cx="21210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Solo hasta +55 °C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El más caro del grupo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27" name="Google Shape;927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4585609" y="5679306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4585609" y="5888600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g3f8c9c594d6_2_620"/>
          <p:cNvSpPr/>
          <p:nvPr/>
        </p:nvSpPr>
        <p:spPr>
          <a:xfrm>
            <a:off x="6796521" y="5480959"/>
            <a:ext cx="2424000" cy="7479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f8c9c594d6_2_620"/>
          <p:cNvSpPr txBox="1"/>
          <p:nvPr/>
        </p:nvSpPr>
        <p:spPr>
          <a:xfrm>
            <a:off x="6938550" y="5480959"/>
            <a:ext cx="21210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Necesita una PC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10 mW, sin alcance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31" name="Google Shape;931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7019033" y="5679306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7019033" y="5888600"/>
            <a:ext cx="142031" cy="1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3f8c9c594d6_2_620"/>
          <p:cNvSpPr/>
          <p:nvPr/>
        </p:nvSpPr>
        <p:spPr>
          <a:xfrm>
            <a:off x="9211008" y="5480959"/>
            <a:ext cx="2424000" cy="747900"/>
          </a:xfrm>
          <a:prstGeom prst="rect">
            <a:avLst/>
          </a:prstGeom>
          <a:solidFill>
            <a:srgbClr val="FFFFFF"/>
          </a:solidFill>
          <a:ln cap="flat" cmpd="sng" w="199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675" lIns="95675" spcFirstLastPara="1" rIns="95675" wrap="square" tIns="9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f8c9c594d6_2_620"/>
          <p:cNvSpPr txBox="1"/>
          <p:nvPr/>
        </p:nvSpPr>
        <p:spPr>
          <a:xfrm>
            <a:off x="9353037" y="5480959"/>
            <a:ext cx="21210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25" lIns="92425" spcFirstLastPara="1" rIns="92425" wrap="square" tIns="92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Diseño de RF propio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s-AR" sz="1099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Homologación a cargo</a:t>
            </a:r>
            <a:endParaRPr b="0" i="0" sz="1099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35" name="Google Shape;935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9433520" y="5679306"/>
            <a:ext cx="142031" cy="1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g3f8c9c594d6_2_620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9433520" y="5888600"/>
            <a:ext cx="142031" cy="13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g3f40500332f_0_0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942" name="Google Shape;942;g3f40500332f_0_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943" name="Google Shape;943;g3f40500332f_0_0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4" name="Google Shape;944;g3f40500332f_0_0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945" name="Google Shape;945;g3f40500332f_0_0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3f40500332f_0_0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7" name="Google Shape;947;g3f40500332f_0_0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f40500332f_0_0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f40500332f_0_0"/>
          <p:cNvSpPr txBox="1"/>
          <p:nvPr/>
        </p:nvSpPr>
        <p:spPr>
          <a:xfrm>
            <a:off x="930600" y="6129425"/>
            <a:ext cx="1033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55627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b="0" i="0" lang="es-AR" sz="1100" u="none" cap="none" strike="noStrike">
                <a:solidFill>
                  <a:srgbClr val="55627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*) </a:t>
            </a:r>
            <a:r>
              <a:rPr lang="es-AR" sz="1100">
                <a:solidFill>
                  <a:srgbClr val="55627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</a:t>
            </a:r>
            <a:r>
              <a:rPr b="0" i="0" lang="es-AR" sz="1100" u="none" cap="none" strike="noStrike">
                <a:solidFill>
                  <a:srgbClr val="55627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ada alternativa se puntúa de 1 a 5 en cada criterio. El resultado es la suma ponderada, sobre un máximo de 5,00.</a:t>
            </a:r>
            <a:endParaRPr/>
          </a:p>
        </p:txBody>
      </p:sp>
      <p:graphicFrame>
        <p:nvGraphicFramePr>
          <p:cNvPr id="950" name="Google Shape;950;g3f40500332f_0_0"/>
          <p:cNvGraphicFramePr/>
          <p:nvPr/>
        </p:nvGraphicFramePr>
        <p:xfrm>
          <a:off x="1828521" y="1700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{849CBABC-5613-4245-AD06-0B229CEA759C}</a:tableStyleId>
              </a:tblPr>
              <a:tblGrid>
                <a:gridCol w="2402800"/>
                <a:gridCol w="2025850"/>
                <a:gridCol w="4106325"/>
              </a:tblGrid>
              <a:tr h="62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AR" sz="15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Criterio</a:t>
                      </a:r>
                      <a:endParaRPr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AR" sz="15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Peso (*)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AR" sz="15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Descripción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F3C"/>
                    </a:solidFill>
                  </a:tcPr>
                </a:tc>
              </a:tr>
              <a:tr h="62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Seguridad funcional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30 %</a:t>
                      </a:r>
                      <a:endParaRPr sz="1200">
                        <a:solidFill>
                          <a:srgbClr val="0E8F6E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Nivel de seguridad respaldado por certificaciones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por cruce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</a:t>
                      </a: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%</a:t>
                      </a:r>
                      <a:endParaRPr sz="1200">
                        <a:solidFill>
                          <a:srgbClr val="0E8F6E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del hardware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Alcance y cobertura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</a:t>
                      </a: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%</a:t>
                      </a:r>
                      <a:endParaRPr sz="1200">
                        <a:solidFill>
                          <a:srgbClr val="0E8F6E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Rango de alcance y disponibilidad del enlace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Complejidad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15 %</a:t>
                      </a:r>
                      <a:endParaRPr sz="1200" u="none" cap="none" strike="noStrike">
                        <a:solidFill>
                          <a:srgbClr val="0E8F6E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Condiciona la viabilidad de escalar y el costo del mantenimiento distribuido.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Consumo y autonomía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0E8F6E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10 %</a:t>
                      </a:r>
                      <a:endParaRPr b="1" sz="1200">
                        <a:solidFill>
                          <a:srgbClr val="0E8F6E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Consumo de potencia y </a:t>
                      </a: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autonomía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1" name="Google Shape;951;g3f40500332f_0_0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952" name="Google Shape;952;g3f40500332f_0_0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CRITERIOS DE DECISIÓN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3" name="Google Shape;953;g3f40500332f_0_0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PONDERACIÓN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g3fa81065d42_0_0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959" name="Google Shape;959;g3fa81065d42_0_0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fa81065d42_0_0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1" name="Google Shape;961;g3fa81065d42_0_0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a81065d42_0_0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3" name="Google Shape;963;g3fa81065d42_0_0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964" name="Google Shape;964;g3fa81065d42_0_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965" name="Google Shape;965;g3fa81065d42_0_0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6" name="Google Shape;966;g3fa81065d42_0_0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967" name="Google Shape;967;g3fa81065d42_0_0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CRITERIOS DE DECISIÓN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68" name="Google Shape;968;g3fa81065d42_0_0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PONDERACIÓN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9" name="Google Shape;969;g3fa81065d42_0_0"/>
          <p:cNvGraphicFramePr/>
          <p:nvPr/>
        </p:nvGraphicFramePr>
        <p:xfrm>
          <a:off x="846375" y="1492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{849CBABC-5613-4245-AD06-0B229CEA759C}</a:tableStyleId>
              </a:tblPr>
              <a:tblGrid>
                <a:gridCol w="1411475"/>
                <a:gridCol w="2118425"/>
                <a:gridCol w="2027850"/>
                <a:gridCol w="2353900"/>
                <a:gridCol w="2587575"/>
              </a:tblGrid>
              <a:tr h="38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RAVEON</a:t>
                      </a:r>
                      <a:endParaRPr sz="1256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RV-M7-GX</a:t>
                      </a:r>
                      <a:endParaRPr sz="15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SATEL</a:t>
                      </a:r>
                      <a:endParaRPr sz="1256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RF4+</a:t>
                      </a:r>
                      <a:endParaRPr sz="15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LIMESDR</a:t>
                      </a:r>
                      <a:endParaRPr sz="1256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USB</a:t>
                      </a:r>
                      <a:endParaRPr sz="15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6"/>
                        <a:buFont typeface="Arial"/>
                        <a:buNone/>
                      </a:pPr>
                      <a:r>
                        <a:rPr lang="es-AR" sz="1203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SX1262</a:t>
                      </a:r>
                      <a:endParaRPr sz="15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Seguridad funcional</a:t>
                      </a:r>
                      <a:endParaRPr b="1"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4.5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por cruce</a:t>
                      </a:r>
                      <a:endParaRPr b="1"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Alcance y cobertura</a:t>
                      </a:r>
                      <a:endParaRPr b="1"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3.5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Complejidad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3.5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Consumo y autonomía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Total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3,450 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2,875 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1,900 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2,550 </a:t>
                      </a:r>
                      <a:endParaRPr sz="1200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406dbf1c9_0_473"/>
          <p:cNvSpPr/>
          <p:nvPr/>
        </p:nvSpPr>
        <p:spPr>
          <a:xfrm>
            <a:off x="597550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g3f406dbf1c9_0_473"/>
          <p:cNvSpPr/>
          <p:nvPr/>
        </p:nvSpPr>
        <p:spPr>
          <a:xfrm>
            <a:off x="4578063" y="2975297"/>
            <a:ext cx="3001500" cy="27726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0D25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76" name="Google Shape;976;g3f406dbf1c9_0_473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977" name="Google Shape;977;g3f406dbf1c9_0_473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978" name="Google Shape;978;g3f406dbf1c9_0_473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9" name="Google Shape;979;g3f406dbf1c9_0_473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980" name="Google Shape;980;g3f406dbf1c9_0_47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981" name="Google Shape;981;g3f406dbf1c9_0_473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2" name="Google Shape;982;g3f406dbf1c9_0_473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983" name="Google Shape;983;g3f406dbf1c9_0_473"/>
          <p:cNvSpPr txBox="1"/>
          <p:nvPr/>
        </p:nvSpPr>
        <p:spPr>
          <a:xfrm>
            <a:off x="181650" y="90325"/>
            <a:ext cx="32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DIAGRAMA PANDA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4" name="Google Shape;984;g3f406dbf1c9_0_473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g3f406dbf1c9_0_473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f406dbf1c9_0_473"/>
          <p:cNvSpPr/>
          <p:nvPr/>
        </p:nvSpPr>
        <p:spPr>
          <a:xfrm>
            <a:off x="4578061" y="4292597"/>
            <a:ext cx="3001500" cy="14553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87" name="Google Shape;987;g3f406dbf1c9_0_473"/>
          <p:cNvSpPr txBox="1"/>
          <p:nvPr/>
        </p:nvSpPr>
        <p:spPr>
          <a:xfrm>
            <a:off x="4578063" y="3181805"/>
            <a:ext cx="3001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s-AR" sz="3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PANDA</a:t>
            </a:r>
            <a:endParaRPr b="0" i="0" sz="3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g3f406dbf1c9_0_473"/>
          <p:cNvCxnSpPr/>
          <p:nvPr/>
        </p:nvCxnSpPr>
        <p:spPr>
          <a:xfrm>
            <a:off x="5008413" y="3705739"/>
            <a:ext cx="2140800" cy="1500"/>
          </a:xfrm>
          <a:prstGeom prst="straightConnector1">
            <a:avLst/>
          </a:prstGeom>
          <a:noFill/>
          <a:ln cap="flat" cmpd="sng" w="23800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9" name="Google Shape;989;g3f406dbf1c9_0_473"/>
          <p:cNvSpPr txBox="1"/>
          <p:nvPr/>
        </p:nvSpPr>
        <p:spPr>
          <a:xfrm>
            <a:off x="4578063" y="3775391"/>
            <a:ext cx="3001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175" lIns="76175" spcFirstLastPara="1" rIns="76175" wrap="square" tIns="76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12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Paso A Nivel Dinámico y Activo</a:t>
            </a:r>
            <a:endParaRPr b="1" i="0" sz="112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0" name="Google Shape;990;g3f406dbf1c9_0_473"/>
          <p:cNvSpPr/>
          <p:nvPr/>
        </p:nvSpPr>
        <p:spPr>
          <a:xfrm>
            <a:off x="5568711" y="4560019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991" name="Google Shape;991;g3f406dbf1c9_0_473"/>
          <p:cNvSpPr txBox="1"/>
          <p:nvPr/>
        </p:nvSpPr>
        <p:spPr>
          <a:xfrm>
            <a:off x="597544" y="897652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DETECCIÓN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f406dbf1c9_0_473"/>
          <p:cNvSpPr/>
          <p:nvPr/>
        </p:nvSpPr>
        <p:spPr>
          <a:xfrm>
            <a:off x="1069091" y="3165856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3" name="Google Shape;993;g3f406dbf1c9_0_473"/>
          <p:cNvSpPr/>
          <p:nvPr/>
        </p:nvSpPr>
        <p:spPr>
          <a:xfrm>
            <a:off x="617781" y="3409319"/>
            <a:ext cx="720000" cy="720000"/>
          </a:xfrm>
          <a:prstGeom prst="ellipse">
            <a:avLst/>
          </a:prstGeom>
          <a:solidFill>
            <a:srgbClr val="E3F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g3f406dbf1c9_0_473"/>
          <p:cNvSpPr/>
          <p:nvPr/>
        </p:nvSpPr>
        <p:spPr>
          <a:xfrm>
            <a:off x="1353950" y="294575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3f406dbf1c9_0_473"/>
          <p:cNvSpPr txBox="1"/>
          <p:nvPr/>
        </p:nvSpPr>
        <p:spPr>
          <a:xfrm>
            <a:off x="1540849" y="308090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996" name="Google Shape;996;g3f406dbf1c9_0_473" title="ChatGPT Image 25 ago 2026, 11_51_30.png"/>
          <p:cNvPicPr preferRelativeResize="0"/>
          <p:nvPr/>
        </p:nvPicPr>
        <p:blipFill rotWithShape="1">
          <a:blip r:embed="rId4">
            <a:alphaModFix/>
          </a:blip>
          <a:srcRect b="57924" l="5848" r="90726" t="35447"/>
          <a:stretch/>
        </p:blipFill>
        <p:spPr>
          <a:xfrm>
            <a:off x="747494" y="3518531"/>
            <a:ext cx="460573" cy="501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7" name="Google Shape;997;g3f406dbf1c9_0_473"/>
          <p:cNvGrpSpPr/>
          <p:nvPr/>
        </p:nvGrpSpPr>
        <p:grpSpPr>
          <a:xfrm>
            <a:off x="1353970" y="3476134"/>
            <a:ext cx="1800261" cy="720452"/>
            <a:chOff x="787800" y="4827307"/>
            <a:chExt cx="2651732" cy="720452"/>
          </a:xfrm>
        </p:grpSpPr>
        <p:sp>
          <p:nvSpPr>
            <p:cNvPr id="998" name="Google Shape;998;g3f406dbf1c9_0_473"/>
            <p:cNvSpPr txBox="1"/>
            <p:nvPr/>
          </p:nvSpPr>
          <p:spPr>
            <a:xfrm>
              <a:off x="7878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Sensores ubicados en las vías en puntos críticos que detectan la ubicación del tren.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g3f406dbf1c9_0_473"/>
            <p:cNvSpPr txBox="1"/>
            <p:nvPr/>
          </p:nvSpPr>
          <p:spPr>
            <a:xfrm>
              <a:off x="7878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107439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VÍAS</a:t>
              </a:r>
              <a:endParaRPr b="0" i="0" sz="1027" u="none" cap="none" strike="noStrike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cxnSp>
        <p:nvCxnSpPr>
          <p:cNvPr id="1000" name="Google Shape;1000;g3f406dbf1c9_0_473"/>
          <p:cNvCxnSpPr>
            <a:stCxn id="992" idx="3"/>
          </p:cNvCxnSpPr>
          <p:nvPr/>
        </p:nvCxnSpPr>
        <p:spPr>
          <a:xfrm>
            <a:off x="3439091" y="3769306"/>
            <a:ext cx="1133700" cy="58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1" name="Google Shape;1001;g3f406dbf1c9_0_473"/>
          <p:cNvSpPr txBox="1"/>
          <p:nvPr/>
        </p:nvSpPr>
        <p:spPr>
          <a:xfrm>
            <a:off x="3457635" y="3446725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Comunicación cableada</a:t>
            </a:r>
            <a:endParaRPr b="0" i="0" sz="827" u="none" cap="none" strike="noStrike">
              <a:solidFill>
                <a:srgbClr val="107439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002" name="Google Shape;1002;g3f406dbf1c9_0_473"/>
          <p:cNvSpPr/>
          <p:nvPr/>
        </p:nvSpPr>
        <p:spPr>
          <a:xfrm>
            <a:off x="1069091" y="1603775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03" name="Google Shape;1003;g3f406dbf1c9_0_473"/>
          <p:cNvSpPr/>
          <p:nvPr/>
        </p:nvSpPr>
        <p:spPr>
          <a:xfrm>
            <a:off x="1353950" y="138367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f406dbf1c9_0_473"/>
          <p:cNvSpPr txBox="1"/>
          <p:nvPr/>
        </p:nvSpPr>
        <p:spPr>
          <a:xfrm>
            <a:off x="1447400" y="151883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grpSp>
        <p:nvGrpSpPr>
          <p:cNvPr id="1005" name="Google Shape;1005;g3f406dbf1c9_0_473"/>
          <p:cNvGrpSpPr/>
          <p:nvPr/>
        </p:nvGrpSpPr>
        <p:grpSpPr>
          <a:xfrm>
            <a:off x="1373090" y="1914078"/>
            <a:ext cx="1762076" cy="720452"/>
            <a:chOff x="816600" y="4827307"/>
            <a:chExt cx="2651732" cy="720452"/>
          </a:xfrm>
        </p:grpSpPr>
        <p:sp>
          <p:nvSpPr>
            <p:cNvPr id="1006" name="Google Shape;1006;g3f406dbf1c9_0_473"/>
            <p:cNvSpPr txBox="1"/>
            <p:nvPr/>
          </p:nvSpPr>
          <p:spPr>
            <a:xfrm>
              <a:off x="8166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Dispositivo instalado en el tren que obtiene las variables necesarias para accionar el sistema de seguridad.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g3f406dbf1c9_0_473"/>
            <p:cNvSpPr txBox="1"/>
            <p:nvPr/>
          </p:nvSpPr>
          <p:spPr>
            <a:xfrm>
              <a:off x="8166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E30D0E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TREN</a:t>
              </a:r>
              <a:endParaRPr b="0" i="0" sz="10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sp>
        <p:nvSpPr>
          <p:cNvPr id="1008" name="Google Shape;1008;g3f406dbf1c9_0_473"/>
          <p:cNvSpPr txBox="1"/>
          <p:nvPr/>
        </p:nvSpPr>
        <p:spPr>
          <a:xfrm>
            <a:off x="3461935" y="2429446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Radioenlace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UHF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009" name="Google Shape;1009;g3f406dbf1c9_0_473"/>
          <p:cNvCxnSpPr/>
          <p:nvPr/>
        </p:nvCxnSpPr>
        <p:spPr>
          <a:xfrm>
            <a:off x="3447664" y="2766005"/>
            <a:ext cx="1124400" cy="435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0" name="Google Shape;1010;g3f406dbf1c9_0_473"/>
          <p:cNvSpPr/>
          <p:nvPr/>
        </p:nvSpPr>
        <p:spPr>
          <a:xfrm>
            <a:off x="4890429" y="1166979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1" name="Google Shape;1011;g3f406dbf1c9_0_473"/>
          <p:cNvSpPr/>
          <p:nvPr/>
        </p:nvSpPr>
        <p:spPr>
          <a:xfrm>
            <a:off x="5178775" y="215978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C6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2" name="Google Shape;1012;g3f406dbf1c9_0_473" title="ChatGPT Image 25 ago 2026, 20_39_26.png"/>
          <p:cNvPicPr preferRelativeResize="0"/>
          <p:nvPr/>
        </p:nvPicPr>
        <p:blipFill rotWithShape="1">
          <a:blip r:embed="rId5">
            <a:alphaModFix/>
          </a:blip>
          <a:srcRect b="7766" l="7851" r="7733" t="7732"/>
          <a:stretch/>
        </p:blipFill>
        <p:spPr>
          <a:xfrm>
            <a:off x="4529760" y="805671"/>
            <a:ext cx="720000" cy="720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13" name="Google Shape;1013;g3f406dbf1c9_0_473" title="ChatGPT Image 25 ago 2026, 20_42_23.png"/>
          <p:cNvPicPr preferRelativeResize="0"/>
          <p:nvPr/>
        </p:nvPicPr>
        <p:blipFill rotWithShape="1">
          <a:blip r:embed="rId6">
            <a:alphaModFix/>
          </a:blip>
          <a:srcRect b="8072" l="7468" r="7382" t="6334"/>
          <a:stretch/>
        </p:blipFill>
        <p:spPr>
          <a:xfrm>
            <a:off x="623076" y="1846610"/>
            <a:ext cx="720000" cy="723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14" name="Google Shape;1014;g3f406dbf1c9_0_473"/>
          <p:cNvSpPr txBox="1"/>
          <p:nvPr/>
        </p:nvSpPr>
        <p:spPr>
          <a:xfrm>
            <a:off x="5267088" y="229624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NUBE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015" name="Google Shape;1015;g3f406dbf1c9_0_473"/>
          <p:cNvCxnSpPr>
            <a:endCxn id="1012" idx="2"/>
          </p:cNvCxnSpPr>
          <p:nvPr/>
        </p:nvCxnSpPr>
        <p:spPr>
          <a:xfrm flipH="1" rot="10800000">
            <a:off x="3448560" y="1165971"/>
            <a:ext cx="1081200" cy="866700"/>
          </a:xfrm>
          <a:prstGeom prst="bentConnector3">
            <a:avLst>
              <a:gd fmla="val 66261" name="adj1"/>
            </a:avLst>
          </a:prstGeom>
          <a:noFill/>
          <a:ln cap="flat" cmpd="sng" w="19050">
            <a:solidFill>
              <a:srgbClr val="E30D0E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016" name="Google Shape;1016;g3f406dbf1c9_0_473"/>
          <p:cNvCxnSpPr>
            <a:stCxn id="1011" idx="2"/>
            <a:endCxn id="975" idx="0"/>
          </p:cNvCxnSpPr>
          <p:nvPr/>
        </p:nvCxnSpPr>
        <p:spPr>
          <a:xfrm>
            <a:off x="6078925" y="2583982"/>
            <a:ext cx="0" cy="391200"/>
          </a:xfrm>
          <a:prstGeom prst="straightConnector1">
            <a:avLst/>
          </a:prstGeom>
          <a:noFill/>
          <a:ln cap="flat" cmpd="sng" w="19050">
            <a:solidFill>
              <a:srgbClr val="1C6E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g3f406dbf1c9_0_473"/>
          <p:cNvSpPr txBox="1"/>
          <p:nvPr/>
        </p:nvSpPr>
        <p:spPr>
          <a:xfrm>
            <a:off x="5195842" y="1343809"/>
            <a:ext cx="18003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</a:pPr>
            <a:r>
              <a:rPr lang="es-AR" sz="1027">
                <a:solidFill>
                  <a:srgbClr val="1C6EBD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SERVIDOR</a:t>
            </a:r>
            <a:endParaRPr b="0" i="0" sz="1027" u="none" cap="none" strike="noStrike">
              <a:solidFill>
                <a:srgbClr val="1C6EBD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018" name="Google Shape;1018;g3f406dbf1c9_0_473"/>
          <p:cNvSpPr txBox="1"/>
          <p:nvPr/>
        </p:nvSpPr>
        <p:spPr>
          <a:xfrm>
            <a:off x="5192700" y="1609007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módulos </a:t>
            </a: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instalados</a:t>
            </a: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en trenes actualizan su información en tiempo real en un servidor </a:t>
            </a:r>
            <a:endParaRPr b="0" i="0" sz="8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9" name="Google Shape;1019;g3f406dbf1c9_0_473"/>
          <p:cNvSpPr txBox="1"/>
          <p:nvPr/>
        </p:nvSpPr>
        <p:spPr>
          <a:xfrm>
            <a:off x="3448550" y="1885650"/>
            <a:ext cx="7200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4G/LTE-M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f406dbf1c9_0_251"/>
          <p:cNvSpPr/>
          <p:nvPr/>
        </p:nvSpPr>
        <p:spPr>
          <a:xfrm>
            <a:off x="597550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3f406dbf1c9_0_251"/>
          <p:cNvSpPr/>
          <p:nvPr/>
        </p:nvSpPr>
        <p:spPr>
          <a:xfrm>
            <a:off x="4578063" y="2975297"/>
            <a:ext cx="3001500" cy="27726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0D25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26" name="Google Shape;1026;g3f406dbf1c9_0_251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027" name="Google Shape;1027;g3f406dbf1c9_0_251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028" name="Google Shape;1028;g3f406dbf1c9_0_251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g3f406dbf1c9_0_251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1030" name="Google Shape;1030;g3f406dbf1c9_0_25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031" name="Google Shape;1031;g3f406dbf1c9_0_251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g3f406dbf1c9_0_251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033" name="Google Shape;1033;g3f406dbf1c9_0_251"/>
          <p:cNvSpPr txBox="1"/>
          <p:nvPr/>
        </p:nvSpPr>
        <p:spPr>
          <a:xfrm>
            <a:off x="181650" y="90325"/>
            <a:ext cx="32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DIAGRAMA PANDA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34" name="Google Shape;1034;g3f406dbf1c9_0_251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f406dbf1c9_0_251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3f406dbf1c9_0_251"/>
          <p:cNvSpPr/>
          <p:nvPr/>
        </p:nvSpPr>
        <p:spPr>
          <a:xfrm>
            <a:off x="4578061" y="4292597"/>
            <a:ext cx="3001500" cy="14553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7" name="Google Shape;1037;g3f406dbf1c9_0_251"/>
          <p:cNvSpPr txBox="1"/>
          <p:nvPr/>
        </p:nvSpPr>
        <p:spPr>
          <a:xfrm>
            <a:off x="4578063" y="3181805"/>
            <a:ext cx="3001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s-AR" sz="3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PANDA</a:t>
            </a:r>
            <a:endParaRPr b="0" i="0" sz="3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g3f406dbf1c9_0_251"/>
          <p:cNvCxnSpPr/>
          <p:nvPr/>
        </p:nvCxnSpPr>
        <p:spPr>
          <a:xfrm>
            <a:off x="5008413" y="3705739"/>
            <a:ext cx="2140800" cy="1500"/>
          </a:xfrm>
          <a:prstGeom prst="straightConnector1">
            <a:avLst/>
          </a:prstGeom>
          <a:noFill/>
          <a:ln cap="flat" cmpd="sng" w="23800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9" name="Google Shape;1039;g3f406dbf1c9_0_251"/>
          <p:cNvSpPr txBox="1"/>
          <p:nvPr/>
        </p:nvSpPr>
        <p:spPr>
          <a:xfrm>
            <a:off x="4578063" y="3775391"/>
            <a:ext cx="3001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175" lIns="76175" spcFirstLastPara="1" rIns="76175" wrap="square" tIns="76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12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Paso A Nivel Dinámico y Activo</a:t>
            </a:r>
            <a:endParaRPr b="1" i="0" sz="112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0" name="Google Shape;1040;g3f406dbf1c9_0_251"/>
          <p:cNvSpPr/>
          <p:nvPr/>
        </p:nvSpPr>
        <p:spPr>
          <a:xfrm>
            <a:off x="5568711" y="4560019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041" name="Google Shape;1041;g3f406dbf1c9_0_251"/>
          <p:cNvSpPr txBox="1"/>
          <p:nvPr/>
        </p:nvSpPr>
        <p:spPr>
          <a:xfrm>
            <a:off x="597544" y="897652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DETECCIÓN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f406dbf1c9_0_251"/>
          <p:cNvSpPr/>
          <p:nvPr/>
        </p:nvSpPr>
        <p:spPr>
          <a:xfrm>
            <a:off x="1069091" y="3165856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3" name="Google Shape;1043;g3f406dbf1c9_0_251"/>
          <p:cNvSpPr/>
          <p:nvPr/>
        </p:nvSpPr>
        <p:spPr>
          <a:xfrm>
            <a:off x="617781" y="3409319"/>
            <a:ext cx="720000" cy="720000"/>
          </a:xfrm>
          <a:prstGeom prst="ellipse">
            <a:avLst/>
          </a:prstGeom>
          <a:solidFill>
            <a:srgbClr val="E3F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g3f406dbf1c9_0_251"/>
          <p:cNvSpPr/>
          <p:nvPr/>
        </p:nvSpPr>
        <p:spPr>
          <a:xfrm>
            <a:off x="1353950" y="294575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f406dbf1c9_0_251"/>
          <p:cNvSpPr txBox="1"/>
          <p:nvPr/>
        </p:nvSpPr>
        <p:spPr>
          <a:xfrm>
            <a:off x="1540849" y="308090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046" name="Google Shape;1046;g3f406dbf1c9_0_251" title="ChatGPT Image 25 ago 2026, 11_51_30.png"/>
          <p:cNvPicPr preferRelativeResize="0"/>
          <p:nvPr/>
        </p:nvPicPr>
        <p:blipFill rotWithShape="1">
          <a:blip r:embed="rId4">
            <a:alphaModFix/>
          </a:blip>
          <a:srcRect b="57924" l="5848" r="90726" t="35447"/>
          <a:stretch/>
        </p:blipFill>
        <p:spPr>
          <a:xfrm>
            <a:off x="747494" y="3518531"/>
            <a:ext cx="460573" cy="501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7" name="Google Shape;1047;g3f406dbf1c9_0_251"/>
          <p:cNvGrpSpPr/>
          <p:nvPr/>
        </p:nvGrpSpPr>
        <p:grpSpPr>
          <a:xfrm>
            <a:off x="1353970" y="3476134"/>
            <a:ext cx="1800261" cy="720452"/>
            <a:chOff x="787800" y="4827307"/>
            <a:chExt cx="2651732" cy="720452"/>
          </a:xfrm>
        </p:grpSpPr>
        <p:sp>
          <p:nvSpPr>
            <p:cNvPr id="1048" name="Google Shape;1048;g3f406dbf1c9_0_251"/>
            <p:cNvSpPr txBox="1"/>
            <p:nvPr/>
          </p:nvSpPr>
          <p:spPr>
            <a:xfrm>
              <a:off x="7878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Sensores ubicados en las vías en puntos críticos que detectan la ubicación del tren.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9" name="Google Shape;1049;g3f406dbf1c9_0_251"/>
            <p:cNvSpPr txBox="1"/>
            <p:nvPr/>
          </p:nvSpPr>
          <p:spPr>
            <a:xfrm>
              <a:off x="7878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107439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VÍAS</a:t>
              </a:r>
              <a:endParaRPr b="0" i="0" sz="1027" u="none" cap="none" strike="noStrike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cxnSp>
        <p:nvCxnSpPr>
          <p:cNvPr id="1050" name="Google Shape;1050;g3f406dbf1c9_0_251"/>
          <p:cNvCxnSpPr>
            <a:stCxn id="1042" idx="3"/>
          </p:cNvCxnSpPr>
          <p:nvPr/>
        </p:nvCxnSpPr>
        <p:spPr>
          <a:xfrm>
            <a:off x="3439091" y="3769306"/>
            <a:ext cx="1133700" cy="58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1" name="Google Shape;1051;g3f406dbf1c9_0_251"/>
          <p:cNvSpPr txBox="1"/>
          <p:nvPr/>
        </p:nvSpPr>
        <p:spPr>
          <a:xfrm>
            <a:off x="3457635" y="3446725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Comunicación cableada</a:t>
            </a:r>
            <a:endParaRPr b="0" i="0" sz="827" u="none" cap="none" strike="noStrike">
              <a:solidFill>
                <a:srgbClr val="107439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052" name="Google Shape;1052;g3f406dbf1c9_0_251"/>
          <p:cNvSpPr/>
          <p:nvPr/>
        </p:nvSpPr>
        <p:spPr>
          <a:xfrm>
            <a:off x="1069091" y="1603775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3" name="Google Shape;1053;g3f406dbf1c9_0_251"/>
          <p:cNvSpPr/>
          <p:nvPr/>
        </p:nvSpPr>
        <p:spPr>
          <a:xfrm>
            <a:off x="1353950" y="138367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f406dbf1c9_0_251"/>
          <p:cNvSpPr txBox="1"/>
          <p:nvPr/>
        </p:nvSpPr>
        <p:spPr>
          <a:xfrm>
            <a:off x="1447400" y="151883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grpSp>
        <p:nvGrpSpPr>
          <p:cNvPr id="1055" name="Google Shape;1055;g3f406dbf1c9_0_251"/>
          <p:cNvGrpSpPr/>
          <p:nvPr/>
        </p:nvGrpSpPr>
        <p:grpSpPr>
          <a:xfrm>
            <a:off x="1373090" y="1914078"/>
            <a:ext cx="1762076" cy="720452"/>
            <a:chOff x="816600" y="4827307"/>
            <a:chExt cx="2651732" cy="720452"/>
          </a:xfrm>
        </p:grpSpPr>
        <p:sp>
          <p:nvSpPr>
            <p:cNvPr id="1056" name="Google Shape;1056;g3f406dbf1c9_0_251"/>
            <p:cNvSpPr txBox="1"/>
            <p:nvPr/>
          </p:nvSpPr>
          <p:spPr>
            <a:xfrm>
              <a:off x="8166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Dispositivo instalado en el tren que obtiene las variables necesarias para accionar el sistema de seguridad.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7" name="Google Shape;1057;g3f406dbf1c9_0_251"/>
            <p:cNvSpPr txBox="1"/>
            <p:nvPr/>
          </p:nvSpPr>
          <p:spPr>
            <a:xfrm>
              <a:off x="8166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E30D0E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TREN</a:t>
              </a:r>
              <a:endParaRPr b="0" i="0" sz="10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sp>
        <p:nvSpPr>
          <p:cNvPr id="1058" name="Google Shape;1058;g3f406dbf1c9_0_251"/>
          <p:cNvSpPr txBox="1"/>
          <p:nvPr/>
        </p:nvSpPr>
        <p:spPr>
          <a:xfrm>
            <a:off x="3461935" y="2429446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Radioenlace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UHF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059" name="Google Shape;1059;g3f406dbf1c9_0_251"/>
          <p:cNvCxnSpPr/>
          <p:nvPr/>
        </p:nvCxnSpPr>
        <p:spPr>
          <a:xfrm>
            <a:off x="3447664" y="2766005"/>
            <a:ext cx="1124400" cy="435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0" name="Google Shape;1060;g3f406dbf1c9_0_251"/>
          <p:cNvSpPr/>
          <p:nvPr/>
        </p:nvSpPr>
        <p:spPr>
          <a:xfrm>
            <a:off x="4890429" y="1166979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61" name="Google Shape;1061;g3f406dbf1c9_0_251"/>
          <p:cNvSpPr/>
          <p:nvPr/>
        </p:nvSpPr>
        <p:spPr>
          <a:xfrm>
            <a:off x="5178775" y="215978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C6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2" name="Google Shape;1062;g3f406dbf1c9_0_251" title="ChatGPT Image 25 ago 2026, 20_39_26.png"/>
          <p:cNvPicPr preferRelativeResize="0"/>
          <p:nvPr/>
        </p:nvPicPr>
        <p:blipFill rotWithShape="1">
          <a:blip r:embed="rId5">
            <a:alphaModFix/>
          </a:blip>
          <a:srcRect b="7766" l="7851" r="7733" t="7732"/>
          <a:stretch/>
        </p:blipFill>
        <p:spPr>
          <a:xfrm>
            <a:off x="4529760" y="805671"/>
            <a:ext cx="720000" cy="720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63" name="Google Shape;1063;g3f406dbf1c9_0_251" title="ChatGPT Image 25 ago 2026, 20_42_23.png"/>
          <p:cNvPicPr preferRelativeResize="0"/>
          <p:nvPr/>
        </p:nvPicPr>
        <p:blipFill rotWithShape="1">
          <a:blip r:embed="rId6">
            <a:alphaModFix/>
          </a:blip>
          <a:srcRect b="8072" l="7468" r="7382" t="6334"/>
          <a:stretch/>
        </p:blipFill>
        <p:spPr>
          <a:xfrm>
            <a:off x="623076" y="1846610"/>
            <a:ext cx="720000" cy="723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64" name="Google Shape;1064;g3f406dbf1c9_0_251"/>
          <p:cNvSpPr txBox="1"/>
          <p:nvPr/>
        </p:nvSpPr>
        <p:spPr>
          <a:xfrm>
            <a:off x="5267088" y="229624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NUBE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065" name="Google Shape;1065;g3f406dbf1c9_0_251"/>
          <p:cNvCxnSpPr>
            <a:endCxn id="1062" idx="2"/>
          </p:cNvCxnSpPr>
          <p:nvPr/>
        </p:nvCxnSpPr>
        <p:spPr>
          <a:xfrm flipH="1" rot="10800000">
            <a:off x="3448560" y="1165971"/>
            <a:ext cx="1081200" cy="866700"/>
          </a:xfrm>
          <a:prstGeom prst="bentConnector3">
            <a:avLst>
              <a:gd fmla="val 66261" name="adj1"/>
            </a:avLst>
          </a:prstGeom>
          <a:noFill/>
          <a:ln cap="flat" cmpd="sng" w="19050">
            <a:solidFill>
              <a:srgbClr val="E30D0E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066" name="Google Shape;1066;g3f406dbf1c9_0_251"/>
          <p:cNvCxnSpPr>
            <a:stCxn id="1061" idx="2"/>
            <a:endCxn id="1025" idx="0"/>
          </p:cNvCxnSpPr>
          <p:nvPr/>
        </p:nvCxnSpPr>
        <p:spPr>
          <a:xfrm>
            <a:off x="6078925" y="2583982"/>
            <a:ext cx="0" cy="391200"/>
          </a:xfrm>
          <a:prstGeom prst="straightConnector1">
            <a:avLst/>
          </a:prstGeom>
          <a:noFill/>
          <a:ln cap="flat" cmpd="sng" w="19050">
            <a:solidFill>
              <a:srgbClr val="1C6E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7" name="Google Shape;1067;g3f406dbf1c9_0_251"/>
          <p:cNvSpPr/>
          <p:nvPr/>
        </p:nvSpPr>
        <p:spPr>
          <a:xfrm>
            <a:off x="8339657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g3f406dbf1c9_0_251"/>
          <p:cNvSpPr txBox="1"/>
          <p:nvPr/>
        </p:nvSpPr>
        <p:spPr>
          <a:xfrm>
            <a:off x="8339636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ALERTA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g3f406dbf1c9_0_251"/>
          <p:cNvSpPr/>
          <p:nvPr/>
        </p:nvSpPr>
        <p:spPr>
          <a:xfrm>
            <a:off x="8811091" y="5387363"/>
            <a:ext cx="25587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0" name="Google Shape;1070;g3f406dbf1c9_0_251"/>
          <p:cNvSpPr txBox="1"/>
          <p:nvPr/>
        </p:nvSpPr>
        <p:spPr>
          <a:xfrm>
            <a:off x="9209343" y="5735304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PANDA es capaz de advertir mediante alerta sonora y lumínica la llegada del tren.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1" name="Google Shape;1071;g3f406dbf1c9_0_251"/>
          <p:cNvSpPr/>
          <p:nvPr/>
        </p:nvSpPr>
        <p:spPr>
          <a:xfrm>
            <a:off x="9190278" y="516255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F88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g3f406dbf1c9_0_251"/>
          <p:cNvSpPr txBox="1"/>
          <p:nvPr/>
        </p:nvSpPr>
        <p:spPr>
          <a:xfrm>
            <a:off x="9283728" y="529771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SEÑALIZACIÓN ACTIVA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073" name="Google Shape;1073;g3f406dbf1c9_0_251" title="ChatGPT Image 25 ago 2026, 23_09_52.png"/>
          <p:cNvPicPr preferRelativeResize="0"/>
          <p:nvPr/>
        </p:nvPicPr>
        <p:blipFill rotWithShape="1">
          <a:blip r:embed="rId7">
            <a:alphaModFix/>
          </a:blip>
          <a:srcRect b="7583" l="7017" r="6140" t="4751"/>
          <a:stretch/>
        </p:blipFill>
        <p:spPr>
          <a:xfrm>
            <a:off x="8452107" y="5486192"/>
            <a:ext cx="720000" cy="7269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074" name="Google Shape;1074;g3f406dbf1c9_0_251"/>
          <p:cNvCxnSpPr>
            <a:stCxn id="1073" idx="2"/>
            <a:endCxn id="1036" idx="3"/>
          </p:cNvCxnSpPr>
          <p:nvPr/>
        </p:nvCxnSpPr>
        <p:spPr>
          <a:xfrm rot="10800000">
            <a:off x="7579707" y="5020142"/>
            <a:ext cx="872400" cy="8295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F885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5" name="Google Shape;1075;g3f406dbf1c9_0_251"/>
          <p:cNvSpPr txBox="1"/>
          <p:nvPr/>
        </p:nvSpPr>
        <p:spPr>
          <a:xfrm>
            <a:off x="5195842" y="1343809"/>
            <a:ext cx="18003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</a:pPr>
            <a:r>
              <a:rPr lang="es-AR" sz="1027">
                <a:solidFill>
                  <a:srgbClr val="1C6EBD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SERVIDOR</a:t>
            </a:r>
            <a:endParaRPr b="0" i="0" sz="1027" u="none" cap="none" strike="noStrike">
              <a:solidFill>
                <a:srgbClr val="1C6EBD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076" name="Google Shape;1076;g3f406dbf1c9_0_251"/>
          <p:cNvSpPr txBox="1"/>
          <p:nvPr/>
        </p:nvSpPr>
        <p:spPr>
          <a:xfrm>
            <a:off x="5192700" y="1609007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módulos instalados en trenes actualizan su información en tiempo real en un servidor </a:t>
            </a:r>
            <a:endParaRPr b="0" i="0" sz="8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7" name="Google Shape;1077;g3f406dbf1c9_0_251"/>
          <p:cNvSpPr txBox="1"/>
          <p:nvPr/>
        </p:nvSpPr>
        <p:spPr>
          <a:xfrm>
            <a:off x="3448550" y="1885650"/>
            <a:ext cx="7200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4G/LTE-M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078" name="Google Shape;1078;g3f406dbf1c9_0_251"/>
          <p:cNvSpPr/>
          <p:nvPr/>
        </p:nvSpPr>
        <p:spPr>
          <a:xfrm>
            <a:off x="1077675" y="5385275"/>
            <a:ext cx="23700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9" name="Google Shape;1079;g3f406dbf1c9_0_251"/>
          <p:cNvSpPr txBox="1"/>
          <p:nvPr/>
        </p:nvSpPr>
        <p:spPr>
          <a:xfrm>
            <a:off x="1333988" y="5709579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Dispositivo en los PAN que recibe información y determina las acciones de protección.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80" name="Google Shape;1080;g3f406dbf1c9_0_251"/>
          <p:cNvSpPr/>
          <p:nvPr/>
        </p:nvSpPr>
        <p:spPr>
          <a:xfrm>
            <a:off x="1373107" y="5160464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g3f406dbf1c9_0_251"/>
          <p:cNvSpPr txBox="1"/>
          <p:nvPr/>
        </p:nvSpPr>
        <p:spPr>
          <a:xfrm>
            <a:off x="1447407" y="5295624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DECISIÓN LOCAL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082" name="Google Shape;1082;g3f406dbf1c9_0_251"/>
          <p:cNvCxnSpPr>
            <a:stCxn id="1078" idx="3"/>
          </p:cNvCxnSpPr>
          <p:nvPr/>
        </p:nvCxnSpPr>
        <p:spPr>
          <a:xfrm flipH="1" rot="10800000">
            <a:off x="3447675" y="5104175"/>
            <a:ext cx="1130400" cy="741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083" name="Google Shape;1083;g3f406dbf1c9_0_251" title="ChatGPT Image 26 ago 2026, 10_30_13 a.m.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017" y="5425474"/>
            <a:ext cx="860100" cy="83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g3f406dbf1c9_0_251"/>
          <p:cNvSpPr/>
          <p:nvPr/>
        </p:nvSpPr>
        <p:spPr>
          <a:xfrm>
            <a:off x="597550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g3f406dbf1c9_0_251"/>
          <p:cNvSpPr txBox="1"/>
          <p:nvPr/>
        </p:nvSpPr>
        <p:spPr>
          <a:xfrm>
            <a:off x="597544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</a:t>
            </a: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DECISIÓN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g3f8c9c594d6_2_321"/>
          <p:cNvGrpSpPr/>
          <p:nvPr/>
        </p:nvGrpSpPr>
        <p:grpSpPr>
          <a:xfrm>
            <a:off x="-12915" y="6512948"/>
            <a:ext cx="12191758" cy="345055"/>
            <a:chOff x="0" y="-47625"/>
            <a:chExt cx="4816592" cy="185185"/>
          </a:xfrm>
        </p:grpSpPr>
        <p:sp>
          <p:nvSpPr>
            <p:cNvPr id="1091" name="Google Shape;1091;g3f8c9c594d6_2_321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092" name="Google Shape;1092;g3f8c9c594d6_2_321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g3f8c9c594d6_2_321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094" name="Google Shape;1094;g3f8c9c594d6_2_32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095" name="Google Shape;1095;g3f8c9c594d6_2_321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6" name="Google Shape;1096;g3f8c9c594d6_2_321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097" name="Google Shape;1097;g3f8c9c594d6_2_321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EAF1F7"/>
                </a:solidFill>
                <a:latin typeface="Impact"/>
                <a:ea typeface="Impact"/>
                <a:cs typeface="Impact"/>
                <a:sym typeface="Impact"/>
              </a:rPr>
              <a:t>ANÁLISIS DE ALTERNATIVAS</a:t>
            </a:r>
            <a:endParaRPr b="0" i="0" sz="3600" u="none" cap="none" strike="noStrike">
              <a:solidFill>
                <a:srgbClr val="EAF1F7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98" name="Google Shape;1098;g3f8c9c594d6_2_321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f8c9c594d6_2_321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g3f8c9c594d6_2_321"/>
          <p:cNvSpPr txBox="1"/>
          <p:nvPr/>
        </p:nvSpPr>
        <p:spPr>
          <a:xfrm>
            <a:off x="81387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MICROCONTROLADOR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g3f8c9c594d6_2_321"/>
          <p:cNvSpPr/>
          <p:nvPr/>
        </p:nvSpPr>
        <p:spPr>
          <a:xfrm>
            <a:off x="2215021" y="1199875"/>
            <a:ext cx="2337900" cy="508200"/>
          </a:xfrm>
          <a:prstGeom prst="rect">
            <a:avLst/>
          </a:prstGeom>
          <a:solidFill>
            <a:srgbClr val="107439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g3f8c9c594d6_2_321"/>
          <p:cNvSpPr txBox="1"/>
          <p:nvPr/>
        </p:nvSpPr>
        <p:spPr>
          <a:xfrm>
            <a:off x="2492255" y="1199875"/>
            <a:ext cx="178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ESP32-S3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ESPRESSIF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3" name="Google Shape;1103;g3f8c9c594d6_2_321"/>
          <p:cNvSpPr/>
          <p:nvPr/>
        </p:nvSpPr>
        <p:spPr>
          <a:xfrm>
            <a:off x="4553032" y="1199875"/>
            <a:ext cx="2337900" cy="508200"/>
          </a:xfrm>
          <a:prstGeom prst="rect">
            <a:avLst/>
          </a:prstGeom>
          <a:solidFill>
            <a:srgbClr val="061F45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sz="141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g3f8c9c594d6_2_321"/>
          <p:cNvSpPr txBox="1"/>
          <p:nvPr/>
        </p:nvSpPr>
        <p:spPr>
          <a:xfrm>
            <a:off x="4830267" y="1199875"/>
            <a:ext cx="178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STM32F407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STMICRO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5" name="Google Shape;1105;g3f8c9c594d6_2_321"/>
          <p:cNvSpPr/>
          <p:nvPr/>
        </p:nvSpPr>
        <p:spPr>
          <a:xfrm>
            <a:off x="6900285" y="1199875"/>
            <a:ext cx="2337900" cy="508200"/>
          </a:xfrm>
          <a:prstGeom prst="rect">
            <a:avLst/>
          </a:prstGeom>
          <a:solidFill>
            <a:srgbClr val="061F45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g3f8c9c594d6_2_321"/>
          <p:cNvSpPr txBox="1"/>
          <p:nvPr/>
        </p:nvSpPr>
        <p:spPr>
          <a:xfrm>
            <a:off x="7177520" y="1199875"/>
            <a:ext cx="178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FRDM-K64F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NXP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7" name="Google Shape;1107;g3f8c9c594d6_2_321"/>
          <p:cNvSpPr/>
          <p:nvPr/>
        </p:nvSpPr>
        <p:spPr>
          <a:xfrm>
            <a:off x="9238297" y="1199875"/>
            <a:ext cx="2337900" cy="508200"/>
          </a:xfrm>
          <a:prstGeom prst="rect">
            <a:avLst/>
          </a:prstGeom>
          <a:solidFill>
            <a:srgbClr val="061F45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f8c9c594d6_2_321"/>
          <p:cNvSpPr txBox="1"/>
          <p:nvPr/>
        </p:nvSpPr>
        <p:spPr>
          <a:xfrm>
            <a:off x="9515531" y="1199875"/>
            <a:ext cx="178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RASPBERRY PI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162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 / CM4</a:t>
            </a:r>
            <a:endParaRPr b="1" i="0" sz="1213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9" name="Google Shape;1109;g3f8c9c594d6_2_321"/>
          <p:cNvSpPr/>
          <p:nvPr/>
        </p:nvSpPr>
        <p:spPr>
          <a:xfrm>
            <a:off x="875254" y="1708141"/>
            <a:ext cx="1330800" cy="9240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0" name="Google Shape;1110;g3f8c9c594d6_2_321"/>
          <p:cNvSpPr txBox="1"/>
          <p:nvPr/>
        </p:nvSpPr>
        <p:spPr>
          <a:xfrm>
            <a:off x="893536" y="1708139"/>
            <a:ext cx="13308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1" name="Google Shape;1111;g3f8c9c594d6_2_321"/>
          <p:cNvSpPr/>
          <p:nvPr/>
        </p:nvSpPr>
        <p:spPr>
          <a:xfrm>
            <a:off x="2215021" y="1708139"/>
            <a:ext cx="2337900" cy="924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g3f8c9c594d6_2_321"/>
          <p:cNvSpPr txBox="1"/>
          <p:nvPr/>
        </p:nvSpPr>
        <p:spPr>
          <a:xfrm>
            <a:off x="2353638" y="1708139"/>
            <a:ext cx="2051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SoC con Wi-Fi y BLE integrados, muy difundido en prototipos.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3" name="Google Shape;1113;g3f8c9c594d6_2_321"/>
          <p:cNvSpPr/>
          <p:nvPr/>
        </p:nvSpPr>
        <p:spPr>
          <a:xfrm>
            <a:off x="4553032" y="1708139"/>
            <a:ext cx="2337900" cy="924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g3f8c9c594d6_2_321"/>
          <p:cNvSpPr txBox="1"/>
          <p:nvPr/>
        </p:nvSpPr>
        <p:spPr>
          <a:xfrm>
            <a:off x="4691650" y="1708139"/>
            <a:ext cx="2051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MCU industrial de 32 bits, con periféricos de sobra y suministro largo.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5" name="Google Shape;1115;g3f8c9c594d6_2_321"/>
          <p:cNvSpPr/>
          <p:nvPr/>
        </p:nvSpPr>
        <p:spPr>
          <a:xfrm>
            <a:off x="6900285" y="1708139"/>
            <a:ext cx="2337900" cy="924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g3f8c9c594d6_2_321"/>
          <p:cNvSpPr txBox="1"/>
          <p:nvPr/>
        </p:nvSpPr>
        <p:spPr>
          <a:xfrm>
            <a:off x="7038903" y="1708139"/>
            <a:ext cx="2051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MCU de NXP sobre placa de desarrollo, con Ethernet incluido.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7" name="Google Shape;1117;g3f8c9c594d6_2_321"/>
          <p:cNvSpPr/>
          <p:nvPr/>
        </p:nvSpPr>
        <p:spPr>
          <a:xfrm>
            <a:off x="9238297" y="1708139"/>
            <a:ext cx="2337900" cy="924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g3f8c9c594d6_2_321"/>
          <p:cNvSpPr txBox="1"/>
          <p:nvPr/>
        </p:nvSpPr>
        <p:spPr>
          <a:xfrm>
            <a:off x="9376914" y="1708139"/>
            <a:ext cx="2051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Computadora con Linux, pensada para procesar y comunicar.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9" name="Google Shape;1119;g3f8c9c594d6_2_321"/>
          <p:cNvSpPr/>
          <p:nvPr/>
        </p:nvSpPr>
        <p:spPr>
          <a:xfrm>
            <a:off x="875254" y="2632256"/>
            <a:ext cx="1330800" cy="3510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0" name="Google Shape;1120;g3f8c9c594d6_2_321"/>
          <p:cNvSpPr txBox="1"/>
          <p:nvPr/>
        </p:nvSpPr>
        <p:spPr>
          <a:xfrm>
            <a:off x="893536" y="2632254"/>
            <a:ext cx="1330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PROCESADOR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1" name="Google Shape;1121;g3f8c9c594d6_2_321"/>
          <p:cNvSpPr/>
          <p:nvPr/>
        </p:nvSpPr>
        <p:spPr>
          <a:xfrm>
            <a:off x="2215021" y="2632254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f8c9c594d6_2_321"/>
          <p:cNvSpPr txBox="1"/>
          <p:nvPr/>
        </p:nvSpPr>
        <p:spPr>
          <a:xfrm>
            <a:off x="2353638" y="2632254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2× Xtensa LX7, 240 MHz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3" name="Google Shape;1123;g3f8c9c594d6_2_321"/>
          <p:cNvSpPr/>
          <p:nvPr/>
        </p:nvSpPr>
        <p:spPr>
          <a:xfrm>
            <a:off x="4553032" y="2632254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f8c9c594d6_2_321"/>
          <p:cNvSpPr txBox="1"/>
          <p:nvPr/>
        </p:nvSpPr>
        <p:spPr>
          <a:xfrm>
            <a:off x="4691650" y="2632254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1× Cortex-M4F, 168 MHz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5" name="Google Shape;1125;g3f8c9c594d6_2_321"/>
          <p:cNvSpPr/>
          <p:nvPr/>
        </p:nvSpPr>
        <p:spPr>
          <a:xfrm>
            <a:off x="6900285" y="2632254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f8c9c594d6_2_321"/>
          <p:cNvSpPr txBox="1"/>
          <p:nvPr/>
        </p:nvSpPr>
        <p:spPr>
          <a:xfrm>
            <a:off x="7038903" y="2632254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1× Cortex-M4F, 120 MHz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7" name="Google Shape;1127;g3f8c9c594d6_2_321"/>
          <p:cNvSpPr/>
          <p:nvPr/>
        </p:nvSpPr>
        <p:spPr>
          <a:xfrm>
            <a:off x="9238297" y="2632254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g3f8c9c594d6_2_321"/>
          <p:cNvSpPr txBox="1"/>
          <p:nvPr/>
        </p:nvSpPr>
        <p:spPr>
          <a:xfrm>
            <a:off x="9376914" y="2632254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4× Cortex-A72, 1,5 GHz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9" name="Google Shape;1129;g3f8c9c594d6_2_321"/>
          <p:cNvSpPr/>
          <p:nvPr/>
        </p:nvSpPr>
        <p:spPr>
          <a:xfrm>
            <a:off x="875254" y="2983419"/>
            <a:ext cx="1330800" cy="3510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0" name="Google Shape;1130;g3f8c9c594d6_2_321"/>
          <p:cNvSpPr txBox="1"/>
          <p:nvPr/>
        </p:nvSpPr>
        <p:spPr>
          <a:xfrm>
            <a:off x="893536" y="2983418"/>
            <a:ext cx="1330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MEMORIA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1" name="Google Shape;1131;g3f8c9c594d6_2_321"/>
          <p:cNvSpPr/>
          <p:nvPr/>
        </p:nvSpPr>
        <p:spPr>
          <a:xfrm>
            <a:off x="2215021" y="2983418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g3f8c9c594d6_2_321"/>
          <p:cNvSpPr txBox="1"/>
          <p:nvPr/>
        </p:nvSpPr>
        <p:spPr>
          <a:xfrm>
            <a:off x="2353638" y="2983418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512 KB RAM, flash externa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3" name="Google Shape;1133;g3f8c9c594d6_2_321"/>
          <p:cNvSpPr/>
          <p:nvPr/>
        </p:nvSpPr>
        <p:spPr>
          <a:xfrm>
            <a:off x="4553032" y="2983418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g3f8c9c594d6_2_321"/>
          <p:cNvSpPr txBox="1"/>
          <p:nvPr/>
        </p:nvSpPr>
        <p:spPr>
          <a:xfrm>
            <a:off x="4691650" y="2983418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 MB flash, 192 KB RAM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5" name="Google Shape;1135;g3f8c9c594d6_2_321"/>
          <p:cNvSpPr/>
          <p:nvPr/>
        </p:nvSpPr>
        <p:spPr>
          <a:xfrm>
            <a:off x="6900285" y="2983418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g3f8c9c594d6_2_321"/>
          <p:cNvSpPr txBox="1"/>
          <p:nvPr/>
        </p:nvSpPr>
        <p:spPr>
          <a:xfrm>
            <a:off x="7038903" y="2983418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 MB flash, 256 KB RAM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7" name="Google Shape;1137;g3f8c9c594d6_2_321"/>
          <p:cNvSpPr/>
          <p:nvPr/>
        </p:nvSpPr>
        <p:spPr>
          <a:xfrm>
            <a:off x="9238297" y="2983418"/>
            <a:ext cx="2337900" cy="3510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g3f8c9c594d6_2_321"/>
          <p:cNvSpPr txBox="1"/>
          <p:nvPr/>
        </p:nvSpPr>
        <p:spPr>
          <a:xfrm>
            <a:off x="9376914" y="2983418"/>
            <a:ext cx="2051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 a 8 GB RAM, microSD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9" name="Google Shape;1139;g3f8c9c594d6_2_321"/>
          <p:cNvSpPr/>
          <p:nvPr/>
        </p:nvSpPr>
        <p:spPr>
          <a:xfrm>
            <a:off x="875254" y="3334583"/>
            <a:ext cx="1330800" cy="425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0" name="Google Shape;1140;g3f8c9c594d6_2_321"/>
          <p:cNvSpPr txBox="1"/>
          <p:nvPr/>
        </p:nvSpPr>
        <p:spPr>
          <a:xfrm>
            <a:off x="893536" y="3334582"/>
            <a:ext cx="1330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PUERTOS PARA UHF, GPS Y 4G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1" name="Google Shape;1141;g3f8c9c594d6_2_321"/>
          <p:cNvSpPr/>
          <p:nvPr/>
        </p:nvSpPr>
        <p:spPr>
          <a:xfrm>
            <a:off x="2215021" y="3334582"/>
            <a:ext cx="2337900" cy="425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g3f8c9c594d6_2_321"/>
          <p:cNvSpPr txBox="1"/>
          <p:nvPr/>
        </p:nvSpPr>
        <p:spPr>
          <a:xfrm>
            <a:off x="2353638" y="3334582"/>
            <a:ext cx="205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UART y 4 SPI, </a:t>
            </a: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</a:t>
            </a: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lcanza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3" name="Google Shape;1143;g3f8c9c594d6_2_321"/>
          <p:cNvSpPr/>
          <p:nvPr/>
        </p:nvSpPr>
        <p:spPr>
          <a:xfrm>
            <a:off x="4553032" y="3334582"/>
            <a:ext cx="2337900" cy="425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g3f8c9c594d6_2_321"/>
          <p:cNvSpPr txBox="1"/>
          <p:nvPr/>
        </p:nvSpPr>
        <p:spPr>
          <a:xfrm>
            <a:off x="4691650" y="3334582"/>
            <a:ext cx="205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6 USART y 3 SPI, sobra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5" name="Google Shape;1145;g3f8c9c594d6_2_321"/>
          <p:cNvSpPr/>
          <p:nvPr/>
        </p:nvSpPr>
        <p:spPr>
          <a:xfrm>
            <a:off x="6900285" y="3334582"/>
            <a:ext cx="2337900" cy="425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g3f8c9c594d6_2_321"/>
          <p:cNvSpPr txBox="1"/>
          <p:nvPr/>
        </p:nvSpPr>
        <p:spPr>
          <a:xfrm>
            <a:off x="7038903" y="3334582"/>
            <a:ext cx="205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6 UART y 3 SPI, sobra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7" name="Google Shape;1147;g3f8c9c594d6_2_321"/>
          <p:cNvSpPr/>
          <p:nvPr/>
        </p:nvSpPr>
        <p:spPr>
          <a:xfrm>
            <a:off x="9238297" y="3334582"/>
            <a:ext cx="2337900" cy="425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g3f8c9c594d6_2_321"/>
          <p:cNvSpPr txBox="1"/>
          <p:nvPr/>
        </p:nvSpPr>
        <p:spPr>
          <a:xfrm>
            <a:off x="9376914" y="3334582"/>
            <a:ext cx="205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 UART útil, 4G por USB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9" name="Google Shape;1149;g3f8c9c594d6_2_321"/>
          <p:cNvSpPr/>
          <p:nvPr/>
        </p:nvSpPr>
        <p:spPr>
          <a:xfrm>
            <a:off x="875254" y="3759676"/>
            <a:ext cx="1330800" cy="3327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0" name="Google Shape;1150;g3f8c9c594d6_2_321"/>
          <p:cNvSpPr txBox="1"/>
          <p:nvPr/>
        </p:nvSpPr>
        <p:spPr>
          <a:xfrm>
            <a:off x="893536" y="3759675"/>
            <a:ext cx="133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CONSUMO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1" name="Google Shape;1151;g3f8c9c594d6_2_321"/>
          <p:cNvSpPr/>
          <p:nvPr/>
        </p:nvSpPr>
        <p:spPr>
          <a:xfrm>
            <a:off x="2215021" y="3759675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g3f8c9c594d6_2_321"/>
          <p:cNvSpPr txBox="1"/>
          <p:nvPr/>
        </p:nvSpPr>
        <p:spPr>
          <a:xfrm>
            <a:off x="2353638" y="3759675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0,13 W sin radio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3" name="Google Shape;1153;g3f8c9c594d6_2_321"/>
          <p:cNvSpPr/>
          <p:nvPr/>
        </p:nvSpPr>
        <p:spPr>
          <a:xfrm>
            <a:off x="4553032" y="3759675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g3f8c9c594d6_2_321"/>
          <p:cNvSpPr txBox="1"/>
          <p:nvPr/>
        </p:nvSpPr>
        <p:spPr>
          <a:xfrm>
            <a:off x="4691650" y="3759675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0,17 W típico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5" name="Google Shape;1155;g3f8c9c594d6_2_321"/>
          <p:cNvSpPr/>
          <p:nvPr/>
        </p:nvSpPr>
        <p:spPr>
          <a:xfrm>
            <a:off x="6900285" y="3759675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g3f8c9c594d6_2_321"/>
          <p:cNvSpPr txBox="1"/>
          <p:nvPr/>
        </p:nvSpPr>
        <p:spPr>
          <a:xfrm>
            <a:off x="7038903" y="3759675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0,15 W típico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7" name="Google Shape;1157;g3f8c9c594d6_2_321"/>
          <p:cNvSpPr/>
          <p:nvPr/>
        </p:nvSpPr>
        <p:spPr>
          <a:xfrm>
            <a:off x="9238297" y="3759675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g3f8c9c594d6_2_321"/>
          <p:cNvSpPr txBox="1"/>
          <p:nvPr/>
        </p:nvSpPr>
        <p:spPr>
          <a:xfrm>
            <a:off x="9376914" y="3759675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a 6 W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9" name="Google Shape;1159;g3f8c9c594d6_2_321"/>
          <p:cNvSpPr/>
          <p:nvPr/>
        </p:nvSpPr>
        <p:spPr>
          <a:xfrm>
            <a:off x="875254" y="4092357"/>
            <a:ext cx="1330800" cy="3327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0" name="Google Shape;1160;g3f8c9c594d6_2_321"/>
          <p:cNvSpPr txBox="1"/>
          <p:nvPr/>
        </p:nvSpPr>
        <p:spPr>
          <a:xfrm>
            <a:off x="893536" y="4092357"/>
            <a:ext cx="133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TEMPERATURA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1" name="Google Shape;1161;g3f8c9c594d6_2_321"/>
          <p:cNvSpPr/>
          <p:nvPr/>
        </p:nvSpPr>
        <p:spPr>
          <a:xfrm>
            <a:off x="2215021" y="4092357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3f8c9c594d6_2_321"/>
          <p:cNvSpPr txBox="1"/>
          <p:nvPr/>
        </p:nvSpPr>
        <p:spPr>
          <a:xfrm>
            <a:off x="2353638" y="4092357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-40 a +85 °C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3" name="Google Shape;1163;g3f8c9c594d6_2_321"/>
          <p:cNvSpPr/>
          <p:nvPr/>
        </p:nvSpPr>
        <p:spPr>
          <a:xfrm>
            <a:off x="4553032" y="4092357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g3f8c9c594d6_2_321"/>
          <p:cNvSpPr txBox="1"/>
          <p:nvPr/>
        </p:nvSpPr>
        <p:spPr>
          <a:xfrm>
            <a:off x="4691650" y="4092357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-40 a +105 °C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5" name="Google Shape;1165;g3f8c9c594d6_2_321"/>
          <p:cNvSpPr/>
          <p:nvPr/>
        </p:nvSpPr>
        <p:spPr>
          <a:xfrm>
            <a:off x="6900285" y="4092357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g3f8c9c594d6_2_321"/>
          <p:cNvSpPr txBox="1"/>
          <p:nvPr/>
        </p:nvSpPr>
        <p:spPr>
          <a:xfrm>
            <a:off x="7038903" y="4092357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-40 a +105 °C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7" name="Google Shape;1167;g3f8c9c594d6_2_321"/>
          <p:cNvSpPr/>
          <p:nvPr/>
        </p:nvSpPr>
        <p:spPr>
          <a:xfrm>
            <a:off x="9238297" y="4092357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3f8c9c594d6_2_321"/>
          <p:cNvSpPr txBox="1"/>
          <p:nvPr/>
        </p:nvSpPr>
        <p:spPr>
          <a:xfrm>
            <a:off x="9376914" y="4092357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-20 a +85 °C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9" name="Google Shape;1169;g3f8c9c594d6_2_321"/>
          <p:cNvSpPr/>
          <p:nvPr/>
        </p:nvSpPr>
        <p:spPr>
          <a:xfrm>
            <a:off x="875254" y="4425039"/>
            <a:ext cx="1330800" cy="3327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0" name="Google Shape;1170;g3f8c9c594d6_2_321"/>
          <p:cNvSpPr txBox="1"/>
          <p:nvPr/>
        </p:nvSpPr>
        <p:spPr>
          <a:xfrm>
            <a:off x="893536" y="4425038"/>
            <a:ext cx="133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UNITARIO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1" name="Google Shape;1171;g3f8c9c594d6_2_321"/>
          <p:cNvSpPr/>
          <p:nvPr/>
        </p:nvSpPr>
        <p:spPr>
          <a:xfrm>
            <a:off x="2215021" y="4425038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3f8c9c594d6_2_321"/>
          <p:cNvSpPr txBox="1"/>
          <p:nvPr/>
        </p:nvSpPr>
        <p:spPr>
          <a:xfrm>
            <a:off x="2353638" y="4425038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4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3" name="Google Shape;1173;g3f8c9c594d6_2_321"/>
          <p:cNvSpPr/>
          <p:nvPr/>
        </p:nvSpPr>
        <p:spPr>
          <a:xfrm>
            <a:off x="4553032" y="4425038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3f8c9c594d6_2_321"/>
          <p:cNvSpPr txBox="1"/>
          <p:nvPr/>
        </p:nvSpPr>
        <p:spPr>
          <a:xfrm>
            <a:off x="4691650" y="4425038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9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5" name="Google Shape;1175;g3f8c9c594d6_2_321"/>
          <p:cNvSpPr/>
          <p:nvPr/>
        </p:nvSpPr>
        <p:spPr>
          <a:xfrm>
            <a:off x="6900285" y="4425038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g3f8c9c594d6_2_321"/>
          <p:cNvSpPr txBox="1"/>
          <p:nvPr/>
        </p:nvSpPr>
        <p:spPr>
          <a:xfrm>
            <a:off x="7038903" y="4425038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12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7" name="Google Shape;1177;g3f8c9c594d6_2_321"/>
          <p:cNvSpPr/>
          <p:nvPr/>
        </p:nvSpPr>
        <p:spPr>
          <a:xfrm>
            <a:off x="9238297" y="4425038"/>
            <a:ext cx="2337900" cy="3327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g3f8c9c594d6_2_321"/>
          <p:cNvSpPr txBox="1"/>
          <p:nvPr/>
        </p:nvSpPr>
        <p:spPr>
          <a:xfrm>
            <a:off x="9376914" y="4425038"/>
            <a:ext cx="205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45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9" name="Google Shape;1179;g3f8c9c594d6_2_321"/>
          <p:cNvSpPr/>
          <p:nvPr/>
        </p:nvSpPr>
        <p:spPr>
          <a:xfrm>
            <a:off x="875254" y="4757720"/>
            <a:ext cx="1330800" cy="7206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0" name="Google Shape;1180;g3f8c9c594d6_2_321"/>
          <p:cNvSpPr txBox="1"/>
          <p:nvPr/>
        </p:nvSpPr>
        <p:spPr>
          <a:xfrm>
            <a:off x="893536" y="4757720"/>
            <a:ext cx="13308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1" name="Google Shape;1181;g3f8c9c594d6_2_321"/>
          <p:cNvSpPr/>
          <p:nvPr/>
        </p:nvSpPr>
        <p:spPr>
          <a:xfrm>
            <a:off x="2215021" y="4757720"/>
            <a:ext cx="2337900" cy="7206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g3f8c9c594d6_2_321"/>
          <p:cNvSpPr txBox="1"/>
          <p:nvPr/>
        </p:nvSpPr>
        <p:spPr>
          <a:xfrm>
            <a:off x="2353638" y="4757720"/>
            <a:ext cx="20517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mínimo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Radio y AES integrados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83" name="Google Shape;1183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2427570" y="4936360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2427572" y="5170142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g3f8c9c594d6_2_321"/>
          <p:cNvSpPr/>
          <p:nvPr/>
        </p:nvSpPr>
        <p:spPr>
          <a:xfrm>
            <a:off x="4553032" y="4757720"/>
            <a:ext cx="2337900" cy="7206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g3f8c9c594d6_2_321"/>
          <p:cNvSpPr txBox="1"/>
          <p:nvPr/>
        </p:nvSpPr>
        <p:spPr>
          <a:xfrm>
            <a:off x="4691650" y="4757720"/>
            <a:ext cx="20517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Periféricos de sobra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Temperatura industrial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87" name="Google Shape;1187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4774820" y="4919928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4774820" y="5170149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g3f8c9c594d6_2_321"/>
          <p:cNvSpPr/>
          <p:nvPr/>
        </p:nvSpPr>
        <p:spPr>
          <a:xfrm>
            <a:off x="6900285" y="4757720"/>
            <a:ext cx="2337900" cy="7206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g3f8c9c594d6_2_321"/>
          <p:cNvSpPr txBox="1"/>
          <p:nvPr/>
        </p:nvSpPr>
        <p:spPr>
          <a:xfrm>
            <a:off x="7038903" y="4757720"/>
            <a:ext cx="20517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Temperatura industrial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Herramientas mbed     simples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91" name="Google Shape;1191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7117448" y="4839503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7122073" y="5053437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g3f8c9c594d6_2_321"/>
          <p:cNvSpPr/>
          <p:nvPr/>
        </p:nvSpPr>
        <p:spPr>
          <a:xfrm>
            <a:off x="9238297" y="4757720"/>
            <a:ext cx="2337900" cy="7206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f8c9c594d6_2_321"/>
          <p:cNvSpPr txBox="1"/>
          <p:nvPr/>
        </p:nvSpPr>
        <p:spPr>
          <a:xfrm>
            <a:off x="9376914" y="4757720"/>
            <a:ext cx="20517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Cómputo muy superior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4G y servidor por USB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Desarrollo en alto nivel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95" name="Google Shape;1195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9460085" y="4804190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9460085" y="5053437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542" l="15516" r="58876" t="23302"/>
          <a:stretch/>
        </p:blipFill>
        <p:spPr>
          <a:xfrm>
            <a:off x="9460085" y="5296159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g3f8c9c594d6_2_321"/>
          <p:cNvSpPr/>
          <p:nvPr/>
        </p:nvSpPr>
        <p:spPr>
          <a:xfrm>
            <a:off x="875254" y="5478530"/>
            <a:ext cx="1330800" cy="7485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99" name="Google Shape;1199;g3f8c9c594d6_2_321"/>
          <p:cNvSpPr txBox="1"/>
          <p:nvPr/>
        </p:nvSpPr>
        <p:spPr>
          <a:xfrm>
            <a:off x="893536" y="5478530"/>
            <a:ext cx="1330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00" name="Google Shape;1200;g3f8c9c594d6_2_321"/>
          <p:cNvSpPr/>
          <p:nvPr/>
        </p:nvSpPr>
        <p:spPr>
          <a:xfrm>
            <a:off x="2215021" y="5478530"/>
            <a:ext cx="2337900" cy="7485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3f8c9c594d6_2_321"/>
          <p:cNvSpPr txBox="1"/>
          <p:nvPr/>
        </p:nvSpPr>
        <p:spPr>
          <a:xfrm>
            <a:off x="2353638" y="5478530"/>
            <a:ext cx="20517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Puertos serie al límite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Solo hasta +85 °C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202" name="Google Shape;1202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2427584" y="5673287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2427584" y="5912480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f8c9c594d6_2_321"/>
          <p:cNvSpPr/>
          <p:nvPr/>
        </p:nvSpPr>
        <p:spPr>
          <a:xfrm>
            <a:off x="4553032" y="5478530"/>
            <a:ext cx="2337900" cy="7485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g3f8c9c594d6_2_321"/>
          <p:cNvSpPr txBox="1"/>
          <p:nvPr/>
        </p:nvSpPr>
        <p:spPr>
          <a:xfrm>
            <a:off x="4691650" y="5478530"/>
            <a:ext cx="20517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radio propia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Curva de aprendizaje mayor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206" name="Google Shape;1206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4774820" y="5546962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4774820" y="5788109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g3f8c9c594d6_2_321"/>
          <p:cNvSpPr/>
          <p:nvPr/>
        </p:nvSpPr>
        <p:spPr>
          <a:xfrm>
            <a:off x="6900285" y="5478530"/>
            <a:ext cx="2337900" cy="7485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3f8c9c594d6_2_321"/>
          <p:cNvSpPr txBox="1"/>
          <p:nvPr/>
        </p:nvSpPr>
        <p:spPr>
          <a:xfrm>
            <a:off x="7038903" y="5478530"/>
            <a:ext cx="20517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Placa</a:t>
            </a: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cara por unidad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Menor oferta de módulos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210" name="Google Shape;1210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7117448" y="5676237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7117448" y="5912484"/>
            <a:ext cx="134922" cy="1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g3f8c9c594d6_2_321"/>
          <p:cNvSpPr/>
          <p:nvPr/>
        </p:nvSpPr>
        <p:spPr>
          <a:xfrm>
            <a:off x="9238297" y="5478530"/>
            <a:ext cx="2337900" cy="7485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g3f8c9c594d6_2_321"/>
          <p:cNvSpPr txBox="1"/>
          <p:nvPr/>
        </p:nvSpPr>
        <p:spPr>
          <a:xfrm>
            <a:off x="9376914" y="5478530"/>
            <a:ext cx="20517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Arranque lento tras un corte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</a:t>
            </a:r>
            <a:r>
              <a:rPr b="0" i="0" lang="es-AR" sz="10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Consumo alto para la UPS</a:t>
            </a:r>
            <a:endParaRPr b="0" i="0" sz="10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214" name="Google Shape;1214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9460085" y="5569287"/>
            <a:ext cx="134922" cy="1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g3f8c9c594d6_2_321" title="ChatGPT Image 15 ago 2026, 13_05_22.png"/>
          <p:cNvPicPr preferRelativeResize="0"/>
          <p:nvPr/>
        </p:nvPicPr>
        <p:blipFill rotWithShape="1">
          <a:blip r:embed="rId4">
            <a:alphaModFix/>
          </a:blip>
          <a:srcRect b="26613" l="58666" r="15726" t="23232"/>
          <a:stretch/>
        </p:blipFill>
        <p:spPr>
          <a:xfrm>
            <a:off x="9460085" y="6041118"/>
            <a:ext cx="134922" cy="13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f8c9c594d6_2_335"/>
          <p:cNvSpPr/>
          <p:nvPr/>
        </p:nvSpPr>
        <p:spPr>
          <a:xfrm>
            <a:off x="597550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g3f8c9c594d6_2_335"/>
          <p:cNvSpPr/>
          <p:nvPr/>
        </p:nvSpPr>
        <p:spPr>
          <a:xfrm>
            <a:off x="4578063" y="2975297"/>
            <a:ext cx="3001500" cy="27726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0D25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22" name="Google Shape;1222;g3f8c9c594d6_2_33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223" name="Google Shape;1223;g3f8c9c594d6_2_33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224" name="Google Shape;1224;g3f8c9c594d6_2_33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5" name="Google Shape;1225;g3f8c9c594d6_2_335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1226" name="Google Shape;1226;g3f8c9c594d6_2_33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227" name="Google Shape;1227;g3f8c9c594d6_2_33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8" name="Google Shape;1228;g3f8c9c594d6_2_335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229" name="Google Shape;1229;g3f8c9c594d6_2_335"/>
          <p:cNvSpPr txBox="1"/>
          <p:nvPr/>
        </p:nvSpPr>
        <p:spPr>
          <a:xfrm>
            <a:off x="181650" y="90325"/>
            <a:ext cx="32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DIAGRAMA PANDA</a:t>
            </a:r>
            <a:endParaRPr b="0" i="0" sz="3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30" name="Google Shape;1230;g3f8c9c594d6_2_33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3f8c9c594d6_2_33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3f8c9c594d6_2_335"/>
          <p:cNvSpPr/>
          <p:nvPr/>
        </p:nvSpPr>
        <p:spPr>
          <a:xfrm>
            <a:off x="4578050" y="4292600"/>
            <a:ext cx="3001500" cy="16230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3" name="Google Shape;1233;g3f8c9c594d6_2_335"/>
          <p:cNvSpPr txBox="1"/>
          <p:nvPr/>
        </p:nvSpPr>
        <p:spPr>
          <a:xfrm>
            <a:off x="4578063" y="3181805"/>
            <a:ext cx="3001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s-AR" sz="3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PANDA</a:t>
            </a:r>
            <a:endParaRPr b="0" i="0" sz="3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4" name="Google Shape;1234;g3f8c9c594d6_2_335"/>
          <p:cNvCxnSpPr/>
          <p:nvPr/>
        </p:nvCxnSpPr>
        <p:spPr>
          <a:xfrm>
            <a:off x="5008413" y="3705739"/>
            <a:ext cx="2140800" cy="1500"/>
          </a:xfrm>
          <a:prstGeom prst="straightConnector1">
            <a:avLst/>
          </a:prstGeom>
          <a:noFill/>
          <a:ln cap="flat" cmpd="sng" w="23800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5" name="Google Shape;1235;g3f8c9c594d6_2_335"/>
          <p:cNvSpPr txBox="1"/>
          <p:nvPr/>
        </p:nvSpPr>
        <p:spPr>
          <a:xfrm>
            <a:off x="4578063" y="3775391"/>
            <a:ext cx="3001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175" lIns="76175" spcFirstLastPara="1" rIns="76175" wrap="square" tIns="76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12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Paso A Nivel Dinámico y Activo</a:t>
            </a:r>
            <a:endParaRPr b="1" i="0" sz="112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6" name="Google Shape;1236;g3f8c9c594d6_2_335"/>
          <p:cNvSpPr/>
          <p:nvPr/>
        </p:nvSpPr>
        <p:spPr>
          <a:xfrm>
            <a:off x="5568711" y="4811228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237" name="Google Shape;1237;g3f8c9c594d6_2_335"/>
          <p:cNvSpPr txBox="1"/>
          <p:nvPr/>
        </p:nvSpPr>
        <p:spPr>
          <a:xfrm>
            <a:off x="597544" y="897652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DETECCIÓN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g3f8c9c594d6_2_335"/>
          <p:cNvSpPr/>
          <p:nvPr/>
        </p:nvSpPr>
        <p:spPr>
          <a:xfrm>
            <a:off x="1069091" y="3165856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9" name="Google Shape;1239;g3f8c9c594d6_2_335"/>
          <p:cNvSpPr/>
          <p:nvPr/>
        </p:nvSpPr>
        <p:spPr>
          <a:xfrm>
            <a:off x="617781" y="3409319"/>
            <a:ext cx="720000" cy="720000"/>
          </a:xfrm>
          <a:prstGeom prst="ellipse">
            <a:avLst/>
          </a:prstGeom>
          <a:solidFill>
            <a:srgbClr val="E3F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g3f8c9c594d6_2_335"/>
          <p:cNvSpPr/>
          <p:nvPr/>
        </p:nvSpPr>
        <p:spPr>
          <a:xfrm>
            <a:off x="1353950" y="294575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g3f8c9c594d6_2_335"/>
          <p:cNvSpPr txBox="1"/>
          <p:nvPr/>
        </p:nvSpPr>
        <p:spPr>
          <a:xfrm>
            <a:off x="1540849" y="308090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242" name="Google Shape;1242;g3f8c9c594d6_2_335" title="ChatGPT Image 25 ago 2026, 11_51_30.png"/>
          <p:cNvPicPr preferRelativeResize="0"/>
          <p:nvPr/>
        </p:nvPicPr>
        <p:blipFill rotWithShape="1">
          <a:blip r:embed="rId4">
            <a:alphaModFix/>
          </a:blip>
          <a:srcRect b="57924" l="5848" r="90726" t="35447"/>
          <a:stretch/>
        </p:blipFill>
        <p:spPr>
          <a:xfrm>
            <a:off x="747494" y="3518531"/>
            <a:ext cx="460573" cy="501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3" name="Google Shape;1243;g3f8c9c594d6_2_335"/>
          <p:cNvGrpSpPr/>
          <p:nvPr/>
        </p:nvGrpSpPr>
        <p:grpSpPr>
          <a:xfrm>
            <a:off x="1353970" y="3476134"/>
            <a:ext cx="1800261" cy="720452"/>
            <a:chOff x="787800" y="4827307"/>
            <a:chExt cx="2651732" cy="720452"/>
          </a:xfrm>
        </p:grpSpPr>
        <p:sp>
          <p:nvSpPr>
            <p:cNvPr id="1244" name="Google Shape;1244;g3f8c9c594d6_2_335"/>
            <p:cNvSpPr txBox="1"/>
            <p:nvPr/>
          </p:nvSpPr>
          <p:spPr>
            <a:xfrm>
              <a:off x="7878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Sensores ubicados en las vías en puntos críticos que detectan la ubicación del tren.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5" name="Google Shape;1245;g3f8c9c594d6_2_335"/>
            <p:cNvSpPr txBox="1"/>
            <p:nvPr/>
          </p:nvSpPr>
          <p:spPr>
            <a:xfrm>
              <a:off x="7878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107439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VÍAS</a:t>
              </a:r>
              <a:endParaRPr b="0" i="0" sz="1027" u="none" cap="none" strike="noStrike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cxnSp>
        <p:nvCxnSpPr>
          <p:cNvPr id="1246" name="Google Shape;1246;g3f8c9c594d6_2_335"/>
          <p:cNvCxnSpPr>
            <a:stCxn id="1238" idx="3"/>
          </p:cNvCxnSpPr>
          <p:nvPr/>
        </p:nvCxnSpPr>
        <p:spPr>
          <a:xfrm>
            <a:off x="3439091" y="3769306"/>
            <a:ext cx="1133700" cy="58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7" name="Google Shape;1247;g3f8c9c594d6_2_335"/>
          <p:cNvSpPr txBox="1"/>
          <p:nvPr/>
        </p:nvSpPr>
        <p:spPr>
          <a:xfrm>
            <a:off x="3457635" y="3446725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Comunicación cableada binaria</a:t>
            </a:r>
            <a:endParaRPr b="0" i="0" sz="827" u="none" cap="none" strike="noStrike">
              <a:solidFill>
                <a:srgbClr val="107439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248" name="Google Shape;1248;g3f8c9c594d6_2_335"/>
          <p:cNvSpPr/>
          <p:nvPr/>
        </p:nvSpPr>
        <p:spPr>
          <a:xfrm>
            <a:off x="1069091" y="1603775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49" name="Google Shape;1249;g3f8c9c594d6_2_335"/>
          <p:cNvSpPr/>
          <p:nvPr/>
        </p:nvSpPr>
        <p:spPr>
          <a:xfrm>
            <a:off x="1353950" y="138367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3f8c9c594d6_2_335"/>
          <p:cNvSpPr txBox="1"/>
          <p:nvPr/>
        </p:nvSpPr>
        <p:spPr>
          <a:xfrm>
            <a:off x="1447400" y="151883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grpSp>
        <p:nvGrpSpPr>
          <p:cNvPr id="1251" name="Google Shape;1251;g3f8c9c594d6_2_335"/>
          <p:cNvGrpSpPr/>
          <p:nvPr/>
        </p:nvGrpSpPr>
        <p:grpSpPr>
          <a:xfrm>
            <a:off x="1373090" y="1914078"/>
            <a:ext cx="1762076" cy="720452"/>
            <a:chOff x="816600" y="4827307"/>
            <a:chExt cx="2651732" cy="720452"/>
          </a:xfrm>
        </p:grpSpPr>
        <p:sp>
          <p:nvSpPr>
            <p:cNvPr id="1252" name="Google Shape;1252;g3f8c9c594d6_2_335"/>
            <p:cNvSpPr txBox="1"/>
            <p:nvPr/>
          </p:nvSpPr>
          <p:spPr>
            <a:xfrm>
              <a:off x="8166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Dispositivo instalado en el tren que obtiene las variables necesarias para accionar el sistema de seguridad.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3" name="Google Shape;1253;g3f8c9c594d6_2_335"/>
            <p:cNvSpPr txBox="1"/>
            <p:nvPr/>
          </p:nvSpPr>
          <p:spPr>
            <a:xfrm>
              <a:off x="8166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E30D0E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TREN</a:t>
              </a:r>
              <a:endParaRPr b="0" i="0" sz="10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sp>
        <p:nvSpPr>
          <p:cNvPr id="1254" name="Google Shape;1254;g3f8c9c594d6_2_335"/>
          <p:cNvSpPr txBox="1"/>
          <p:nvPr/>
        </p:nvSpPr>
        <p:spPr>
          <a:xfrm>
            <a:off x="3461935" y="2429446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Radioenlace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UHF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255" name="Google Shape;1255;g3f8c9c594d6_2_335"/>
          <p:cNvCxnSpPr/>
          <p:nvPr/>
        </p:nvCxnSpPr>
        <p:spPr>
          <a:xfrm>
            <a:off x="3447664" y="2766005"/>
            <a:ext cx="1124400" cy="435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6" name="Google Shape;1256;g3f8c9c594d6_2_335"/>
          <p:cNvSpPr/>
          <p:nvPr/>
        </p:nvSpPr>
        <p:spPr>
          <a:xfrm>
            <a:off x="4890429" y="1166979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57" name="Google Shape;1257;g3f8c9c594d6_2_335"/>
          <p:cNvSpPr/>
          <p:nvPr/>
        </p:nvSpPr>
        <p:spPr>
          <a:xfrm>
            <a:off x="5178775" y="215978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C6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8" name="Google Shape;1258;g3f8c9c594d6_2_335" title="ChatGPT Image 25 ago 2026, 20_39_26.png"/>
          <p:cNvPicPr preferRelativeResize="0"/>
          <p:nvPr/>
        </p:nvPicPr>
        <p:blipFill rotWithShape="1">
          <a:blip r:embed="rId5">
            <a:alphaModFix/>
          </a:blip>
          <a:srcRect b="7766" l="7851" r="7733" t="7732"/>
          <a:stretch/>
        </p:blipFill>
        <p:spPr>
          <a:xfrm>
            <a:off x="4529760" y="805671"/>
            <a:ext cx="720000" cy="720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59" name="Google Shape;1259;g3f8c9c594d6_2_335" title="ChatGPT Image 25 ago 2026, 20_42_23.png"/>
          <p:cNvPicPr preferRelativeResize="0"/>
          <p:nvPr/>
        </p:nvPicPr>
        <p:blipFill rotWithShape="1">
          <a:blip r:embed="rId6">
            <a:alphaModFix/>
          </a:blip>
          <a:srcRect b="8072" l="7468" r="7382" t="6334"/>
          <a:stretch/>
        </p:blipFill>
        <p:spPr>
          <a:xfrm>
            <a:off x="623076" y="1846610"/>
            <a:ext cx="720000" cy="723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60" name="Google Shape;1260;g3f8c9c594d6_2_335"/>
          <p:cNvSpPr txBox="1"/>
          <p:nvPr/>
        </p:nvSpPr>
        <p:spPr>
          <a:xfrm>
            <a:off x="5267088" y="229624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NUBE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261" name="Google Shape;1261;g3f8c9c594d6_2_335"/>
          <p:cNvCxnSpPr>
            <a:endCxn id="1258" idx="2"/>
          </p:cNvCxnSpPr>
          <p:nvPr/>
        </p:nvCxnSpPr>
        <p:spPr>
          <a:xfrm flipH="1" rot="10800000">
            <a:off x="3448560" y="1165971"/>
            <a:ext cx="1081200" cy="866700"/>
          </a:xfrm>
          <a:prstGeom prst="bentConnector3">
            <a:avLst>
              <a:gd fmla="val 66261" name="adj1"/>
            </a:avLst>
          </a:prstGeom>
          <a:noFill/>
          <a:ln cap="flat" cmpd="sng" w="19050">
            <a:solidFill>
              <a:srgbClr val="E30D0E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262" name="Google Shape;1262;g3f8c9c594d6_2_335"/>
          <p:cNvCxnSpPr>
            <a:stCxn id="1257" idx="2"/>
            <a:endCxn id="1221" idx="0"/>
          </p:cNvCxnSpPr>
          <p:nvPr/>
        </p:nvCxnSpPr>
        <p:spPr>
          <a:xfrm>
            <a:off x="6078925" y="2583982"/>
            <a:ext cx="0" cy="391200"/>
          </a:xfrm>
          <a:prstGeom prst="straightConnector1">
            <a:avLst/>
          </a:prstGeom>
          <a:noFill/>
          <a:ln cap="flat" cmpd="sng" w="19050">
            <a:solidFill>
              <a:srgbClr val="1C6E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g3f8c9c594d6_2_335"/>
          <p:cNvSpPr/>
          <p:nvPr/>
        </p:nvSpPr>
        <p:spPr>
          <a:xfrm>
            <a:off x="8339657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3f8c9c594d6_2_335"/>
          <p:cNvSpPr txBox="1"/>
          <p:nvPr/>
        </p:nvSpPr>
        <p:spPr>
          <a:xfrm>
            <a:off x="8339636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ALERTA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g3f8c9c594d6_2_335"/>
          <p:cNvSpPr/>
          <p:nvPr/>
        </p:nvSpPr>
        <p:spPr>
          <a:xfrm>
            <a:off x="8811091" y="5387363"/>
            <a:ext cx="25587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66" name="Google Shape;1266;g3f8c9c594d6_2_335"/>
          <p:cNvSpPr txBox="1"/>
          <p:nvPr/>
        </p:nvSpPr>
        <p:spPr>
          <a:xfrm>
            <a:off x="9209343" y="5735304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PANDA es capaz de advertir mediante alerta sonora y lumínica la llegada del tren.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67" name="Google Shape;1267;g3f8c9c594d6_2_335"/>
          <p:cNvSpPr/>
          <p:nvPr/>
        </p:nvSpPr>
        <p:spPr>
          <a:xfrm>
            <a:off x="9190278" y="516255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F88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g3f8c9c594d6_2_335"/>
          <p:cNvSpPr txBox="1"/>
          <p:nvPr/>
        </p:nvSpPr>
        <p:spPr>
          <a:xfrm>
            <a:off x="9283728" y="529771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SEÑALIZACIÓN ACTIVA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269" name="Google Shape;1269;g3f8c9c594d6_2_335" title="ChatGPT Image 25 ago 2026, 23_09_52.png"/>
          <p:cNvPicPr preferRelativeResize="0"/>
          <p:nvPr/>
        </p:nvPicPr>
        <p:blipFill rotWithShape="1">
          <a:blip r:embed="rId7">
            <a:alphaModFix/>
          </a:blip>
          <a:srcRect b="7583" l="7017" r="6140" t="4751"/>
          <a:stretch/>
        </p:blipFill>
        <p:spPr>
          <a:xfrm>
            <a:off x="8452107" y="5486192"/>
            <a:ext cx="720000" cy="7269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270" name="Google Shape;1270;g3f8c9c594d6_2_335"/>
          <p:cNvCxnSpPr>
            <a:stCxn id="1269" idx="2"/>
            <a:endCxn id="1232" idx="3"/>
          </p:cNvCxnSpPr>
          <p:nvPr/>
        </p:nvCxnSpPr>
        <p:spPr>
          <a:xfrm rot="10800000">
            <a:off x="7579407" y="5104142"/>
            <a:ext cx="872700" cy="7455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F885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1" name="Google Shape;1271;g3f8c9c594d6_2_335"/>
          <p:cNvSpPr/>
          <p:nvPr/>
        </p:nvSpPr>
        <p:spPr>
          <a:xfrm>
            <a:off x="1077675" y="5385275"/>
            <a:ext cx="23700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72" name="Google Shape;1272;g3f8c9c594d6_2_335"/>
          <p:cNvSpPr txBox="1"/>
          <p:nvPr/>
        </p:nvSpPr>
        <p:spPr>
          <a:xfrm>
            <a:off x="1333988" y="5709579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Dispositivo en los PAN que recibe información y determina las acciones de protección.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73" name="Google Shape;1273;g3f8c9c594d6_2_335"/>
          <p:cNvSpPr/>
          <p:nvPr/>
        </p:nvSpPr>
        <p:spPr>
          <a:xfrm>
            <a:off x="1373107" y="5160464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3f8c9c594d6_2_335"/>
          <p:cNvSpPr txBox="1"/>
          <p:nvPr/>
        </p:nvSpPr>
        <p:spPr>
          <a:xfrm>
            <a:off x="1447407" y="5295624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DECISIÓN LOCAL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275" name="Google Shape;1275;g3f8c9c594d6_2_335"/>
          <p:cNvCxnSpPr>
            <a:stCxn id="1271" idx="3"/>
            <a:endCxn id="1232" idx="1"/>
          </p:cNvCxnSpPr>
          <p:nvPr/>
        </p:nvCxnSpPr>
        <p:spPr>
          <a:xfrm flipH="1" rot="10800000">
            <a:off x="3447675" y="5104175"/>
            <a:ext cx="1130400" cy="7413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276" name="Google Shape;1276;g3f8c9c594d6_2_335" title="ChatGPT Image 26 ago 2026, 10_30_13 a.m.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017" y="5425474"/>
            <a:ext cx="860100" cy="83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g3f8c9c594d6_2_335"/>
          <p:cNvSpPr/>
          <p:nvPr/>
        </p:nvSpPr>
        <p:spPr>
          <a:xfrm>
            <a:off x="597550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g3f8c9c594d6_2_335"/>
          <p:cNvSpPr txBox="1"/>
          <p:nvPr/>
        </p:nvSpPr>
        <p:spPr>
          <a:xfrm>
            <a:off x="597544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</a:t>
            </a: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DECISIÓN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f8c9c594d6_2_335"/>
          <p:cNvSpPr txBox="1"/>
          <p:nvPr/>
        </p:nvSpPr>
        <p:spPr>
          <a:xfrm>
            <a:off x="5195842" y="1343809"/>
            <a:ext cx="18003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</a:pPr>
            <a:r>
              <a:rPr lang="es-AR" sz="1027">
                <a:solidFill>
                  <a:srgbClr val="1C6EBD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SERVIDOR</a:t>
            </a:r>
            <a:endParaRPr b="0" i="0" sz="1027" u="none" cap="none" strike="noStrike">
              <a:solidFill>
                <a:srgbClr val="1C6EBD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280" name="Google Shape;1280;g3f8c9c594d6_2_335"/>
          <p:cNvSpPr txBox="1"/>
          <p:nvPr/>
        </p:nvSpPr>
        <p:spPr>
          <a:xfrm>
            <a:off x="5192700" y="1609007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módulos instalados en trenes actualizan su información en tiempo real en un servidor </a:t>
            </a:r>
            <a:endParaRPr b="0" i="0" sz="8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81" name="Google Shape;1281;g3f8c9c594d6_2_335"/>
          <p:cNvSpPr txBox="1"/>
          <p:nvPr/>
        </p:nvSpPr>
        <p:spPr>
          <a:xfrm>
            <a:off x="3448550" y="1885650"/>
            <a:ext cx="7200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4G/LTE-M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282" name="Google Shape;1282;g3f8c9c594d6_2_335"/>
          <p:cNvSpPr txBox="1"/>
          <p:nvPr/>
        </p:nvSpPr>
        <p:spPr>
          <a:xfrm>
            <a:off x="4578050" y="4330673"/>
            <a:ext cx="300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ESP32-S3 de ESPRESSIF</a:t>
            </a:r>
            <a:endParaRPr b="1" sz="16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f862d9fef2_1_1081"/>
          <p:cNvSpPr/>
          <p:nvPr/>
        </p:nvSpPr>
        <p:spPr>
          <a:xfrm>
            <a:off x="1773275" y="4865259"/>
            <a:ext cx="1695000" cy="13614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8" name="Google Shape;1288;g3f862d9fef2_1_1081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289" name="Google Shape;1289;g3f862d9fef2_1_1081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290" name="Google Shape;1290;g3f862d9fef2_1_1081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1" name="Google Shape;1291;g3f862d9fef2_1_1081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292" name="Google Shape;1292;g3f862d9fef2_1_108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293" name="Google Shape;1293;g3f862d9fef2_1_1081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4" name="Google Shape;1294;g3f862d9fef2_1_1081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295" name="Google Shape;1295;g3f862d9fef2_1_1081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ANÁLISIS DE ALTERNATIVAS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96" name="Google Shape;1296;g3f862d9fef2_1_1081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3f862d9fef2_1_1081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g3f862d9fef2_1_1081"/>
          <p:cNvSpPr/>
          <p:nvPr/>
        </p:nvSpPr>
        <p:spPr>
          <a:xfrm>
            <a:off x="3468113" y="1254854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f862d9fef2_1_1081"/>
          <p:cNvSpPr/>
          <p:nvPr/>
        </p:nvSpPr>
        <p:spPr>
          <a:xfrm>
            <a:off x="3468116" y="1885518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g3f862d9fef2_1_1081"/>
          <p:cNvSpPr/>
          <p:nvPr/>
        </p:nvSpPr>
        <p:spPr>
          <a:xfrm>
            <a:off x="3468116" y="2746823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g3f862d9fef2_1_1081"/>
          <p:cNvSpPr/>
          <p:nvPr/>
        </p:nvSpPr>
        <p:spPr>
          <a:xfrm>
            <a:off x="3466565" y="3719728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g3f862d9fef2_1_1081"/>
          <p:cNvSpPr/>
          <p:nvPr/>
        </p:nvSpPr>
        <p:spPr>
          <a:xfrm>
            <a:off x="1773275" y="1885528"/>
            <a:ext cx="1695000" cy="8613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g3f862d9fef2_1_1081"/>
          <p:cNvSpPr/>
          <p:nvPr/>
        </p:nvSpPr>
        <p:spPr>
          <a:xfrm>
            <a:off x="1773275" y="2746823"/>
            <a:ext cx="1695000" cy="9729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g3f862d9fef2_1_1081"/>
          <p:cNvSpPr/>
          <p:nvPr/>
        </p:nvSpPr>
        <p:spPr>
          <a:xfrm>
            <a:off x="1771625" y="3719728"/>
            <a:ext cx="1695000" cy="1139100"/>
          </a:xfrm>
          <a:prstGeom prst="rect">
            <a:avLst/>
          </a:prstGeom>
          <a:solidFill>
            <a:srgbClr val="F3F7FA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g3f862d9fef2_1_1081"/>
          <p:cNvSpPr/>
          <p:nvPr/>
        </p:nvSpPr>
        <p:spPr>
          <a:xfrm>
            <a:off x="5785313" y="1256418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g3f862d9fef2_1_1081"/>
          <p:cNvSpPr/>
          <p:nvPr/>
        </p:nvSpPr>
        <p:spPr>
          <a:xfrm>
            <a:off x="5785319" y="1885518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g3f862d9fef2_1_1081"/>
          <p:cNvSpPr/>
          <p:nvPr/>
        </p:nvSpPr>
        <p:spPr>
          <a:xfrm>
            <a:off x="5785319" y="2746823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g3f862d9fef2_1_1081"/>
          <p:cNvSpPr/>
          <p:nvPr/>
        </p:nvSpPr>
        <p:spPr>
          <a:xfrm>
            <a:off x="5783768" y="3719728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g3f862d9fef2_1_1081"/>
          <p:cNvSpPr/>
          <p:nvPr/>
        </p:nvSpPr>
        <p:spPr>
          <a:xfrm>
            <a:off x="8102513" y="1256418"/>
            <a:ext cx="2317200" cy="629100"/>
          </a:xfrm>
          <a:prstGeom prst="rect">
            <a:avLst/>
          </a:prstGeom>
          <a:solidFill>
            <a:srgbClr val="061F45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g3f862d9fef2_1_1081"/>
          <p:cNvSpPr/>
          <p:nvPr/>
        </p:nvSpPr>
        <p:spPr>
          <a:xfrm>
            <a:off x="8102521" y="1885518"/>
            <a:ext cx="2317200" cy="86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g3f862d9fef2_1_1081"/>
          <p:cNvSpPr/>
          <p:nvPr/>
        </p:nvSpPr>
        <p:spPr>
          <a:xfrm>
            <a:off x="8102522" y="2746823"/>
            <a:ext cx="2317200" cy="972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3f862d9fef2_1_1081"/>
          <p:cNvSpPr/>
          <p:nvPr/>
        </p:nvSpPr>
        <p:spPr>
          <a:xfrm>
            <a:off x="8100970" y="3719728"/>
            <a:ext cx="2317200" cy="113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3" name="Google Shape;1313;g3f862d9fef2_1_1081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9439" l="6474" r="82881" t="56523"/>
          <a:stretch/>
        </p:blipFill>
        <p:spPr>
          <a:xfrm>
            <a:off x="1877663" y="2115259"/>
            <a:ext cx="380230" cy="40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g3f862d9fef2_1_1081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528" l="25220" r="64135" t="57434"/>
          <a:stretch/>
        </p:blipFill>
        <p:spPr>
          <a:xfrm>
            <a:off x="1847793" y="2998473"/>
            <a:ext cx="444352" cy="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g3f862d9fef2_1_1081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597" l="44711" r="44644" t="57364"/>
          <a:stretch/>
        </p:blipFill>
        <p:spPr>
          <a:xfrm>
            <a:off x="1939017" y="4088363"/>
            <a:ext cx="380226" cy="40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g3f862d9fef2_1_1081" title="ChatGPT Image 15 ago 2026, 13_18_36.png"/>
          <p:cNvPicPr preferRelativeResize="0"/>
          <p:nvPr/>
        </p:nvPicPr>
        <p:blipFill rotWithShape="1">
          <a:blip r:embed="rId4">
            <a:alphaModFix/>
          </a:blip>
          <a:srcRect b="18186" l="63577" r="25777" t="57775"/>
          <a:stretch/>
        </p:blipFill>
        <p:spPr>
          <a:xfrm>
            <a:off x="1879856" y="5345045"/>
            <a:ext cx="380226" cy="40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g3f862d9fef2_1_1081"/>
          <p:cNvSpPr txBox="1"/>
          <p:nvPr/>
        </p:nvSpPr>
        <p:spPr>
          <a:xfrm>
            <a:off x="3743725" y="1295504"/>
            <a:ext cx="173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ALIMENTACIÓN DIRECTA</a:t>
            </a:r>
            <a:endParaRPr b="1" i="0" sz="1200" u="none" cap="none" strike="noStrike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18" name="Google Shape;1318;g3f862d9fef2_1_1081"/>
          <p:cNvSpPr txBox="1"/>
          <p:nvPr/>
        </p:nvSpPr>
        <p:spPr>
          <a:xfrm>
            <a:off x="6133178" y="1285141"/>
            <a:ext cx="16215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ALIMENTACIÓN</a:t>
            </a:r>
            <a:endParaRPr b="1"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SOLAR</a:t>
            </a:r>
            <a:endParaRPr b="1"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19" name="Google Shape;1319;g3f862d9fef2_1_1081"/>
          <p:cNvSpPr txBox="1"/>
          <p:nvPr/>
        </p:nvSpPr>
        <p:spPr>
          <a:xfrm>
            <a:off x="8413600" y="1285141"/>
            <a:ext cx="1695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s-AR" sz="12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ALIMENTACIÓN</a:t>
            </a:r>
            <a:endParaRPr b="1"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s-AR" sz="12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AUXILIAR / UPS</a:t>
            </a:r>
            <a:endParaRPr b="1"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0" name="Google Shape;1320;g3f862d9fef2_1_1081"/>
          <p:cNvSpPr txBox="1"/>
          <p:nvPr/>
        </p:nvSpPr>
        <p:spPr>
          <a:xfrm>
            <a:off x="8259825" y="1918518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Sistema auxiliar con una batería de respaldo ante cortes. 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1" name="Google Shape;1321;g3f862d9fef2_1_1081"/>
          <p:cNvSpPr txBox="1"/>
          <p:nvPr/>
        </p:nvSpPr>
        <p:spPr>
          <a:xfrm>
            <a:off x="5926775" y="1918518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Panel solar que genera energía y carga una batería para alimentar el sistema.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2" name="Google Shape;1322;g3f862d9fef2_1_1081"/>
          <p:cNvSpPr txBox="1"/>
          <p:nvPr/>
        </p:nvSpPr>
        <p:spPr>
          <a:xfrm>
            <a:off x="3609650" y="1918518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Conexión directa a la red eléctrica disponible en el sitio.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3" name="Google Shape;1323;g3f862d9fef2_1_1081"/>
          <p:cNvSpPr txBox="1"/>
          <p:nvPr/>
        </p:nvSpPr>
        <p:spPr>
          <a:xfrm>
            <a:off x="3609650" y="2836223"/>
            <a:ext cx="2034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red eléctrica alimenta continuamente los equipos.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4" name="Google Shape;1324;g3f862d9fef2_1_1081"/>
          <p:cNvSpPr txBox="1"/>
          <p:nvPr/>
        </p:nvSpPr>
        <p:spPr>
          <a:xfrm>
            <a:off x="5926775" y="2836223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energía solar alimenta el sistema y/o carga la batería durante el día.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5" name="Google Shape;1325;g3f862d9fef2_1_1081"/>
          <p:cNvSpPr txBox="1"/>
          <p:nvPr/>
        </p:nvSpPr>
        <p:spPr>
          <a:xfrm>
            <a:off x="8243950" y="2836223"/>
            <a:ext cx="203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red alimenta el sistema. Ante un corte, la UPS conmuta automáticamente a batería.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6" name="Google Shape;1326;g3f862d9fef2_1_1081"/>
          <p:cNvSpPr txBox="1"/>
          <p:nvPr/>
        </p:nvSpPr>
        <p:spPr>
          <a:xfrm>
            <a:off x="2167762" y="2134678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DESCRIPCIÓN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7" name="Google Shape;1327;g3f862d9fef2_1_1081"/>
          <p:cNvSpPr txBox="1"/>
          <p:nvPr/>
        </p:nvSpPr>
        <p:spPr>
          <a:xfrm>
            <a:off x="3608050" y="3776878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Simple de implementar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Alta disponibilidad de energía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b="0" i="0" lang="es-AR" sz="10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Bajo costo 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operativo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8" name="Google Shape;1328;g3f862d9fef2_1_1081"/>
          <p:cNvSpPr txBox="1"/>
          <p:nvPr/>
        </p:nvSpPr>
        <p:spPr>
          <a:xfrm>
            <a:off x="5925225" y="3776878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Independiente a la red eléctrica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Permite instalaciones remotas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9" name="Google Shape;1329;g3f862d9fef2_1_1081"/>
          <p:cNvSpPr txBox="1"/>
          <p:nvPr/>
        </p:nvSpPr>
        <p:spPr>
          <a:xfrm>
            <a:off x="8259700" y="3776878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Continuidad ante cortes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Conmutación automática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Tecnología ampliamente utilizada 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0" name="Google Shape;1330;g3f862d9fef2_1_1081"/>
          <p:cNvSpPr/>
          <p:nvPr/>
        </p:nvSpPr>
        <p:spPr>
          <a:xfrm>
            <a:off x="3468216" y="4866200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g3f862d9fef2_1_1081"/>
          <p:cNvSpPr/>
          <p:nvPr/>
        </p:nvSpPr>
        <p:spPr>
          <a:xfrm>
            <a:off x="5785419" y="4866200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g3f862d9fef2_1_1081"/>
          <p:cNvSpPr/>
          <p:nvPr/>
        </p:nvSpPr>
        <p:spPr>
          <a:xfrm>
            <a:off x="8102622" y="4866200"/>
            <a:ext cx="2317200" cy="1361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g3f862d9fef2_1_1081"/>
          <p:cNvSpPr txBox="1"/>
          <p:nvPr/>
        </p:nvSpPr>
        <p:spPr>
          <a:xfrm>
            <a:off x="3609700" y="4919000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Depende de la infraestructura eléctrica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Vulnerable a cortes de suministro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4" name="Google Shape;1334;g3f862d9fef2_1_1081"/>
          <p:cNvSpPr txBox="1"/>
          <p:nvPr/>
        </p:nvSpPr>
        <p:spPr>
          <a:xfrm>
            <a:off x="5926875" y="4919000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Dependiente de las condiciones climáticas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inversión inicial 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Requiere baterías y mantenimiento 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5" name="Google Shape;1335;g3f862d9fef2_1_1081"/>
          <p:cNvSpPr txBox="1"/>
          <p:nvPr/>
        </p:nvSpPr>
        <p:spPr>
          <a:xfrm>
            <a:off x="8261350" y="4919000"/>
            <a:ext cx="2034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Requiere mantenimiento y reemplazo de baterías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Autonomía limitada por la batería 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6" name="Google Shape;1336;g3f862d9fef2_1_1081"/>
          <p:cNvSpPr txBox="1"/>
          <p:nvPr/>
        </p:nvSpPr>
        <p:spPr>
          <a:xfrm>
            <a:off x="2154887" y="2960104"/>
            <a:ext cx="131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¿</a:t>
            </a: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CÓMO FUNCIONA</a:t>
            </a: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?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7" name="Google Shape;1337;g3f862d9fef2_1_1081"/>
          <p:cNvSpPr txBox="1"/>
          <p:nvPr/>
        </p:nvSpPr>
        <p:spPr>
          <a:xfrm>
            <a:off x="2167762" y="4111465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8" name="Google Shape;1338;g3f862d9fef2_1_1081"/>
          <p:cNvSpPr txBox="1"/>
          <p:nvPr/>
        </p:nvSpPr>
        <p:spPr>
          <a:xfrm>
            <a:off x="2154887" y="5364459"/>
            <a:ext cx="1313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DESVENTAJAS</a:t>
            </a:r>
            <a:endParaRPr b="1" i="0" sz="12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339" name="Google Shape;1339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3686134" y="4567237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3686134" y="3885782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3686134" y="4115065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6004584" y="4341110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6004584" y="3884819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8339004" y="433903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8339004" y="3884832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3686134" y="5024355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3686134" y="5482301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6001207" y="5033057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6001207" y="549100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8339007" y="5032821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8339007" y="5480685"/>
            <a:ext cx="133298" cy="13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g3f862d9fef2_1_1081"/>
          <p:cNvSpPr txBox="1"/>
          <p:nvPr/>
        </p:nvSpPr>
        <p:spPr>
          <a:xfrm>
            <a:off x="81387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ALIMENTACIÓN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3" name="Google Shape;1353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613" l="58666" r="15726" t="23232"/>
          <a:stretch/>
        </p:blipFill>
        <p:spPr>
          <a:xfrm>
            <a:off x="6004582" y="5713104"/>
            <a:ext cx="133298" cy="13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g3f862d9fef2_1_1081" title="ChatGPT Image 15 ago 2026, 13_05_22.png"/>
          <p:cNvPicPr preferRelativeResize="0"/>
          <p:nvPr/>
        </p:nvPicPr>
        <p:blipFill rotWithShape="1">
          <a:blip r:embed="rId5">
            <a:alphaModFix/>
          </a:blip>
          <a:srcRect b="26542" l="15516" r="58876" t="23302"/>
          <a:stretch/>
        </p:blipFill>
        <p:spPr>
          <a:xfrm>
            <a:off x="8339004" y="4115084"/>
            <a:ext cx="133298" cy="13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g3f8c9c594d6_2_27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360" name="Google Shape;1360;g3f8c9c594d6_2_27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361" name="Google Shape;1361;g3f8c9c594d6_2_27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2" name="Google Shape;1362;g3f8c9c594d6_2_27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1363" name="Google Shape;1363;g3f8c9c594d6_2_2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364" name="Google Shape;1364;g3f8c9c594d6_2_27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5" name="Google Shape;1365;g3f8c9c594d6_2_27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366" name="Google Shape;1366;g3f8c9c594d6_2_27"/>
          <p:cNvSpPr txBox="1"/>
          <p:nvPr/>
        </p:nvSpPr>
        <p:spPr>
          <a:xfrm>
            <a:off x="181650" y="90325"/>
            <a:ext cx="62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REDUNDANCIA DE ALIMENTACIÓN</a:t>
            </a:r>
            <a:endParaRPr b="0" i="0" sz="3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7" name="Google Shape;1367;g3f8c9c594d6_2_27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g3f8c9c594d6_2_27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g3f8c9c594d6_2_27"/>
          <p:cNvSpPr/>
          <p:nvPr/>
        </p:nvSpPr>
        <p:spPr>
          <a:xfrm>
            <a:off x="595375" y="946525"/>
            <a:ext cx="10913100" cy="920400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0" name="Google Shape;1370;g3f8c9c594d6_2_27"/>
          <p:cNvSpPr txBox="1"/>
          <p:nvPr/>
        </p:nvSpPr>
        <p:spPr>
          <a:xfrm>
            <a:off x="2081750" y="1092950"/>
            <a:ext cx="9272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diferencia de la estructura 1oo2, e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sta redundancia </a:t>
            </a:r>
            <a:r>
              <a:rPr lang="es-AR" u="sng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independiza las causas de falla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El objetivo de esta es</a:t>
            </a: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eliminar un punto único de falla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dentro del subsistema más crítico de sistema PANDA.</a:t>
            </a:r>
            <a:endParaRPr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371" name="Google Shape;1371;g3f8c9c594d6_2_27"/>
          <p:cNvCxnSpPr/>
          <p:nvPr/>
        </p:nvCxnSpPr>
        <p:spPr>
          <a:xfrm>
            <a:off x="6097975" y="2130850"/>
            <a:ext cx="4200" cy="39402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2" name="Google Shape;1372;g3f8c9c594d6_2_27"/>
          <p:cNvSpPr/>
          <p:nvPr/>
        </p:nvSpPr>
        <p:spPr>
          <a:xfrm>
            <a:off x="8268417" y="3686180"/>
            <a:ext cx="1613400" cy="14553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3" name="Google Shape;1373;g3f8c9c594d6_2_27"/>
          <p:cNvSpPr/>
          <p:nvPr/>
        </p:nvSpPr>
        <p:spPr>
          <a:xfrm>
            <a:off x="8564885" y="4048862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374" name="Google Shape;1374;g3f8c9c594d6_2_27"/>
          <p:cNvSpPr/>
          <p:nvPr/>
        </p:nvSpPr>
        <p:spPr>
          <a:xfrm>
            <a:off x="9647300" y="566694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g3f8c9c594d6_2_27"/>
          <p:cNvSpPr txBox="1"/>
          <p:nvPr/>
        </p:nvSpPr>
        <p:spPr>
          <a:xfrm>
            <a:off x="9834199" y="580209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376" name="Google Shape;1376;g3f8c9c594d6_2_27"/>
          <p:cNvCxnSpPr>
            <a:stCxn id="1377" idx="0"/>
            <a:endCxn id="1372" idx="3"/>
          </p:cNvCxnSpPr>
          <p:nvPr/>
        </p:nvCxnSpPr>
        <p:spPr>
          <a:xfrm flipH="1" rot="5400000">
            <a:off x="9767302" y="4528212"/>
            <a:ext cx="894600" cy="665700"/>
          </a:xfrm>
          <a:prstGeom prst="bentConnector2">
            <a:avLst/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8" name="Google Shape;1378;g3f8c9c594d6_2_27"/>
          <p:cNvSpPr/>
          <p:nvPr/>
        </p:nvSpPr>
        <p:spPr>
          <a:xfrm>
            <a:off x="6709475" y="5666950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g3f8c9c594d6_2_27"/>
          <p:cNvSpPr txBox="1"/>
          <p:nvPr/>
        </p:nvSpPr>
        <p:spPr>
          <a:xfrm>
            <a:off x="6802925" y="5802110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380" name="Google Shape;1380;g3f8c9c594d6_2_27"/>
          <p:cNvCxnSpPr>
            <a:stCxn id="1381" idx="0"/>
            <a:endCxn id="1372" idx="1"/>
          </p:cNvCxnSpPr>
          <p:nvPr/>
        </p:nvCxnSpPr>
        <p:spPr>
          <a:xfrm rot="-5400000">
            <a:off x="7492763" y="4530693"/>
            <a:ext cx="892500" cy="658800"/>
          </a:xfrm>
          <a:prstGeom prst="bentConnector2">
            <a:avLst/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81" name="Google Shape;1381;g3f8c9c594d6_2_27" title="ChatGPT Image 25 ago 2026, 20_42_23.png"/>
          <p:cNvPicPr preferRelativeResize="0"/>
          <p:nvPr/>
        </p:nvPicPr>
        <p:blipFill rotWithShape="1">
          <a:blip r:embed="rId4">
            <a:alphaModFix/>
          </a:blip>
          <a:srcRect b="8072" l="7468" r="7382" t="6334"/>
          <a:stretch/>
        </p:blipFill>
        <p:spPr>
          <a:xfrm>
            <a:off x="7379363" y="5306343"/>
            <a:ext cx="460500" cy="4632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82" name="Google Shape;1382;g3f8c9c594d6_2_27"/>
          <p:cNvGrpSpPr/>
          <p:nvPr/>
        </p:nvGrpSpPr>
        <p:grpSpPr>
          <a:xfrm>
            <a:off x="10317202" y="5308362"/>
            <a:ext cx="460500" cy="460500"/>
            <a:chOff x="10317202" y="4827564"/>
            <a:chExt cx="460500" cy="460500"/>
          </a:xfrm>
        </p:grpSpPr>
        <p:sp>
          <p:nvSpPr>
            <p:cNvPr id="1377" name="Google Shape;1377;g3f8c9c594d6_2_27"/>
            <p:cNvSpPr/>
            <p:nvPr/>
          </p:nvSpPr>
          <p:spPr>
            <a:xfrm>
              <a:off x="10317202" y="4827564"/>
              <a:ext cx="460500" cy="460500"/>
            </a:xfrm>
            <a:prstGeom prst="ellipse">
              <a:avLst/>
            </a:prstGeom>
            <a:solidFill>
              <a:srgbClr val="E3F0E7"/>
            </a:solidFill>
            <a:ln>
              <a:noFill/>
            </a:ln>
          </p:spPr>
          <p:txBody>
            <a:bodyPr anchorCtr="0" anchor="ctr" bIns="58475" lIns="58475" spcFirstLastPara="1" rIns="58475" wrap="square" tIns="58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5"/>
                <a:buFont typeface="Arial"/>
                <a:buNone/>
              </a:pPr>
              <a:r>
                <a:t/>
              </a:r>
              <a:endParaRPr b="0" i="0" sz="8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83" name="Google Shape;1383;g3f8c9c594d6_2_27" title="ChatGPT Image 25 ago 2026, 11_51_30.png"/>
            <p:cNvPicPr preferRelativeResize="0"/>
            <p:nvPr/>
          </p:nvPicPr>
          <p:blipFill rotWithShape="1">
            <a:blip r:embed="rId5">
              <a:alphaModFix/>
            </a:blip>
            <a:srcRect b="57924" l="5848" r="90726" t="35447"/>
            <a:stretch/>
          </p:blipFill>
          <p:spPr>
            <a:xfrm>
              <a:off x="10400152" y="4897415"/>
              <a:ext cx="294573" cy="320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4" name="Google Shape;1384;g3f8c9c594d6_2_27"/>
          <p:cNvSpPr txBox="1"/>
          <p:nvPr/>
        </p:nvSpPr>
        <p:spPr>
          <a:xfrm>
            <a:off x="8268425" y="3751531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SUBSISTEMA CRÍTICO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385" name="Google Shape;1385;g3f8c9c594d6_2_27"/>
          <p:cNvCxnSpPr>
            <a:stCxn id="1386" idx="4"/>
            <a:endCxn id="1372" idx="0"/>
          </p:cNvCxnSpPr>
          <p:nvPr/>
        </p:nvCxnSpPr>
        <p:spPr>
          <a:xfrm flipH="1" rot="-5400000">
            <a:off x="8812625" y="3423218"/>
            <a:ext cx="525600" cy="600"/>
          </a:xfrm>
          <a:prstGeom prst="bentConnector3">
            <a:avLst>
              <a:gd fmla="val 49987" name="adj1"/>
            </a:avLst>
          </a:prstGeom>
          <a:noFill/>
          <a:ln cap="flat" cmpd="sng" w="19050">
            <a:solidFill>
              <a:srgbClr val="692A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7" name="Google Shape;1387;g3f8c9c594d6_2_27"/>
          <p:cNvSpPr/>
          <p:nvPr/>
        </p:nvSpPr>
        <p:spPr>
          <a:xfrm>
            <a:off x="8174978" y="239766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692A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g3f8c9c594d6_2_27"/>
          <p:cNvSpPr txBox="1"/>
          <p:nvPr/>
        </p:nvSpPr>
        <p:spPr>
          <a:xfrm>
            <a:off x="8268428" y="253282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ALIMENTACIÓN DIRECTA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386" name="Google Shape;1386;g3f8c9c594d6_2_27" title="ChatGPT Image 25 ago 2026, 19_46_53.png"/>
          <p:cNvPicPr preferRelativeResize="0"/>
          <p:nvPr/>
        </p:nvPicPr>
        <p:blipFill rotWithShape="1">
          <a:blip r:embed="rId6">
            <a:alphaModFix/>
          </a:blip>
          <a:srcRect b="10452" l="7228" r="53826" t="9084"/>
          <a:stretch/>
        </p:blipFill>
        <p:spPr>
          <a:xfrm>
            <a:off x="8838125" y="2686718"/>
            <a:ext cx="474000" cy="4740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389" name="Google Shape;1389;g3f8c9c594d6_2_27"/>
          <p:cNvCxnSpPr/>
          <p:nvPr/>
        </p:nvCxnSpPr>
        <p:spPr>
          <a:xfrm flipH="1">
            <a:off x="1875567" y="1083130"/>
            <a:ext cx="5100" cy="6648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90" name="Google Shape;1390;g3f8c9c594d6_2_27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73004" l="3304" r="88782" t="14632"/>
          <a:stretch/>
        </p:blipFill>
        <p:spPr>
          <a:xfrm>
            <a:off x="827198" y="982750"/>
            <a:ext cx="814076" cy="84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g3f8c9c594d6_2_27"/>
          <p:cNvSpPr txBox="1"/>
          <p:nvPr/>
        </p:nvSpPr>
        <p:spPr>
          <a:xfrm>
            <a:off x="1333850" y="2312552"/>
            <a:ext cx="441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Subsistema integral</a:t>
            </a:r>
            <a:endParaRPr b="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El subsistema donde se encuentran los módulos de comunicación,</a:t>
            </a: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la lógica de decisión y</a:t>
            </a: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el microprocesador en </a:t>
            </a: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sí</a:t>
            </a: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mismo, es el más crítico.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92" name="Google Shape;1392;g3f8c9c594d6_2_27"/>
          <p:cNvSpPr txBox="1"/>
          <p:nvPr/>
        </p:nvSpPr>
        <p:spPr>
          <a:xfrm>
            <a:off x="1333850" y="3738140"/>
            <a:ext cx="4415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alimentación</a:t>
            </a:r>
            <a:endParaRPr b="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Una pérdida de alimentación, por más corta que sea, inhabilita la detección y por lo tanto la decisión.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393" name="Google Shape;1393;g3f8c9c594d6_2_27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58060" l="1246" r="90841" t="29576"/>
          <a:stretch/>
        </p:blipFill>
        <p:spPr>
          <a:xfrm>
            <a:off x="392423" y="2465777"/>
            <a:ext cx="814076" cy="84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g3f8c9c594d6_2_27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41827" l="1246" r="90841" t="45809"/>
          <a:stretch/>
        </p:blipFill>
        <p:spPr>
          <a:xfrm>
            <a:off x="392423" y="3752790"/>
            <a:ext cx="814076" cy="84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9" name="Google Shape;1399;g3f8c9c594d6_2_273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400" name="Google Shape;1400;g3f8c9c594d6_2_273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401" name="Google Shape;1401;g3f8c9c594d6_2_273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2" name="Google Shape;1402;g3f8c9c594d6_2_273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1403" name="Google Shape;1403;g3f8c9c594d6_2_27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404" name="Google Shape;1404;g3f8c9c594d6_2_273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5" name="Google Shape;1405;g3f8c9c594d6_2_273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406" name="Google Shape;1406;g3f8c9c594d6_2_273"/>
          <p:cNvSpPr txBox="1"/>
          <p:nvPr/>
        </p:nvSpPr>
        <p:spPr>
          <a:xfrm>
            <a:off x="181650" y="90325"/>
            <a:ext cx="62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REDUNDANCIA DE ALIMENTACIÓN</a:t>
            </a:r>
            <a:endParaRPr b="0" i="0" sz="3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07" name="Google Shape;1407;g3f8c9c594d6_2_273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g3f8c9c594d6_2_273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g3f8c9c594d6_2_273"/>
          <p:cNvSpPr/>
          <p:nvPr/>
        </p:nvSpPr>
        <p:spPr>
          <a:xfrm>
            <a:off x="595375" y="946525"/>
            <a:ext cx="10913100" cy="920400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10" name="Google Shape;1410;g3f8c9c594d6_2_273"/>
          <p:cNvSpPr txBox="1"/>
          <p:nvPr/>
        </p:nvSpPr>
        <p:spPr>
          <a:xfrm>
            <a:off x="2081750" y="1092950"/>
            <a:ext cx="9272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 diferencia de la estructura 1oo2, esta redundancia </a:t>
            </a:r>
            <a:r>
              <a:rPr lang="es-AR" u="sng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 independiza las causas de falla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El objetivo de esta es</a:t>
            </a: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eliminar un punto único de falla</a:t>
            </a:r>
            <a:r>
              <a:rPr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dentro del subsistema más crítico de sistema PANDA.</a:t>
            </a:r>
            <a:endParaRPr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411" name="Google Shape;1411;g3f8c9c594d6_2_273"/>
          <p:cNvCxnSpPr/>
          <p:nvPr/>
        </p:nvCxnSpPr>
        <p:spPr>
          <a:xfrm>
            <a:off x="6097975" y="2130850"/>
            <a:ext cx="4200" cy="3940200"/>
          </a:xfrm>
          <a:prstGeom prst="straightConnector1">
            <a:avLst/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g3f8c9c594d6_2_273"/>
          <p:cNvSpPr/>
          <p:nvPr/>
        </p:nvSpPr>
        <p:spPr>
          <a:xfrm>
            <a:off x="8268417" y="3965493"/>
            <a:ext cx="1613400" cy="14553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13" name="Google Shape;1413;g3f8c9c594d6_2_273"/>
          <p:cNvSpPr/>
          <p:nvPr/>
        </p:nvSpPr>
        <p:spPr>
          <a:xfrm>
            <a:off x="8564885" y="4328174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414" name="Google Shape;1414;g3f8c9c594d6_2_273"/>
          <p:cNvSpPr/>
          <p:nvPr/>
        </p:nvSpPr>
        <p:spPr>
          <a:xfrm>
            <a:off x="9647300" y="566694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g3f8c9c594d6_2_273"/>
          <p:cNvSpPr txBox="1"/>
          <p:nvPr/>
        </p:nvSpPr>
        <p:spPr>
          <a:xfrm>
            <a:off x="9834199" y="580209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416" name="Google Shape;1416;g3f8c9c594d6_2_273"/>
          <p:cNvCxnSpPr>
            <a:stCxn id="1417" idx="0"/>
            <a:endCxn id="1412" idx="3"/>
          </p:cNvCxnSpPr>
          <p:nvPr/>
        </p:nvCxnSpPr>
        <p:spPr>
          <a:xfrm flipH="1" rot="5400000">
            <a:off x="9906952" y="4667862"/>
            <a:ext cx="615300" cy="665700"/>
          </a:xfrm>
          <a:prstGeom prst="bentConnector2">
            <a:avLst/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8" name="Google Shape;1418;g3f8c9c594d6_2_273"/>
          <p:cNvSpPr/>
          <p:nvPr/>
        </p:nvSpPr>
        <p:spPr>
          <a:xfrm>
            <a:off x="6709475" y="5666950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g3f8c9c594d6_2_273"/>
          <p:cNvSpPr txBox="1"/>
          <p:nvPr/>
        </p:nvSpPr>
        <p:spPr>
          <a:xfrm>
            <a:off x="6802925" y="5802110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420" name="Google Shape;1420;g3f8c9c594d6_2_273"/>
          <p:cNvCxnSpPr>
            <a:stCxn id="1421" idx="0"/>
            <a:endCxn id="1412" idx="1"/>
          </p:cNvCxnSpPr>
          <p:nvPr/>
        </p:nvCxnSpPr>
        <p:spPr>
          <a:xfrm rot="-5400000">
            <a:off x="7632413" y="4670343"/>
            <a:ext cx="613200" cy="658800"/>
          </a:xfrm>
          <a:prstGeom prst="bentConnector2">
            <a:avLst/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421" name="Google Shape;1421;g3f8c9c594d6_2_273" title="ChatGPT Image 25 ago 2026, 20_42_23.png"/>
          <p:cNvPicPr preferRelativeResize="0"/>
          <p:nvPr/>
        </p:nvPicPr>
        <p:blipFill rotWithShape="1">
          <a:blip r:embed="rId4">
            <a:alphaModFix/>
          </a:blip>
          <a:srcRect b="8072" l="7468" r="7382" t="6334"/>
          <a:stretch/>
        </p:blipFill>
        <p:spPr>
          <a:xfrm>
            <a:off x="7379363" y="5306343"/>
            <a:ext cx="460500" cy="4632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422" name="Google Shape;1422;g3f8c9c594d6_2_273"/>
          <p:cNvGrpSpPr/>
          <p:nvPr/>
        </p:nvGrpSpPr>
        <p:grpSpPr>
          <a:xfrm>
            <a:off x="10317202" y="5308362"/>
            <a:ext cx="460500" cy="460500"/>
            <a:chOff x="10317202" y="4827564"/>
            <a:chExt cx="460500" cy="460500"/>
          </a:xfrm>
        </p:grpSpPr>
        <p:sp>
          <p:nvSpPr>
            <p:cNvPr id="1417" name="Google Shape;1417;g3f8c9c594d6_2_273"/>
            <p:cNvSpPr/>
            <p:nvPr/>
          </p:nvSpPr>
          <p:spPr>
            <a:xfrm>
              <a:off x="10317202" y="4827564"/>
              <a:ext cx="460500" cy="460500"/>
            </a:xfrm>
            <a:prstGeom prst="ellipse">
              <a:avLst/>
            </a:prstGeom>
            <a:solidFill>
              <a:srgbClr val="E3F0E7"/>
            </a:solidFill>
            <a:ln>
              <a:noFill/>
            </a:ln>
          </p:spPr>
          <p:txBody>
            <a:bodyPr anchorCtr="0" anchor="ctr" bIns="58475" lIns="58475" spcFirstLastPara="1" rIns="58475" wrap="square" tIns="58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5"/>
                <a:buFont typeface="Arial"/>
                <a:buNone/>
              </a:pPr>
              <a:r>
                <a:t/>
              </a:r>
              <a:endParaRPr b="0" i="0" sz="8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23" name="Google Shape;1423;g3f8c9c594d6_2_273" title="ChatGPT Image 25 ago 2026, 11_51_30.png"/>
            <p:cNvPicPr preferRelativeResize="0"/>
            <p:nvPr/>
          </p:nvPicPr>
          <p:blipFill rotWithShape="1">
            <a:blip r:embed="rId5">
              <a:alphaModFix/>
            </a:blip>
            <a:srcRect b="57924" l="5848" r="90726" t="35447"/>
            <a:stretch/>
          </p:blipFill>
          <p:spPr>
            <a:xfrm>
              <a:off x="10400152" y="4897415"/>
              <a:ext cx="294573" cy="320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4" name="Google Shape;1424;g3f8c9c594d6_2_273"/>
          <p:cNvSpPr txBox="1"/>
          <p:nvPr/>
        </p:nvSpPr>
        <p:spPr>
          <a:xfrm>
            <a:off x="8268425" y="4030843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SUBSISTEMA CRÍTICO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425" name="Google Shape;1425;g3f8c9c594d6_2_273"/>
          <p:cNvCxnSpPr>
            <a:stCxn id="1426" idx="4"/>
            <a:endCxn id="1427" idx="1"/>
          </p:cNvCxnSpPr>
          <p:nvPr/>
        </p:nvCxnSpPr>
        <p:spPr>
          <a:xfrm flipH="1" rot="-5400000">
            <a:off x="7748675" y="3021668"/>
            <a:ext cx="287100" cy="565200"/>
          </a:xfrm>
          <a:prstGeom prst="bentConnector2">
            <a:avLst/>
          </a:prstGeom>
          <a:noFill/>
          <a:ln cap="flat" cmpd="sng" w="19050">
            <a:solidFill>
              <a:srgbClr val="692AA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8" name="Google Shape;1428;g3f8c9c594d6_2_273"/>
          <p:cNvCxnSpPr>
            <a:stCxn id="1429" idx="4"/>
            <a:endCxn id="1427" idx="3"/>
          </p:cNvCxnSpPr>
          <p:nvPr/>
        </p:nvCxnSpPr>
        <p:spPr>
          <a:xfrm rot="5400000">
            <a:off x="10115142" y="3015521"/>
            <a:ext cx="292500" cy="572100"/>
          </a:xfrm>
          <a:prstGeom prst="bentConnector2">
            <a:avLst/>
          </a:prstGeom>
          <a:noFill/>
          <a:ln cap="flat" cmpd="sng" w="19050">
            <a:solidFill>
              <a:srgbClr val="FCCD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7" name="Google Shape;1427;g3f8c9c594d6_2_273"/>
          <p:cNvSpPr/>
          <p:nvPr/>
        </p:nvSpPr>
        <p:spPr>
          <a:xfrm>
            <a:off x="8174963" y="3235866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C6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g3f8c9c594d6_2_273"/>
          <p:cNvSpPr txBox="1"/>
          <p:nvPr/>
        </p:nvSpPr>
        <p:spPr>
          <a:xfrm>
            <a:off x="8268400" y="3371001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CONMUTACIÓN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431" name="Google Shape;1431;g3f8c9c594d6_2_273"/>
          <p:cNvCxnSpPr>
            <a:stCxn id="1427" idx="2"/>
            <a:endCxn id="1412" idx="0"/>
          </p:cNvCxnSpPr>
          <p:nvPr/>
        </p:nvCxnSpPr>
        <p:spPr>
          <a:xfrm>
            <a:off x="9075113" y="3660066"/>
            <a:ext cx="0" cy="305400"/>
          </a:xfrm>
          <a:prstGeom prst="straightConnector1">
            <a:avLst/>
          </a:prstGeom>
          <a:noFill/>
          <a:ln cap="flat" cmpd="sng" w="19050">
            <a:solidFill>
              <a:srgbClr val="1C6E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2" name="Google Shape;1432;g3f8c9c594d6_2_273"/>
          <p:cNvSpPr/>
          <p:nvPr/>
        </p:nvSpPr>
        <p:spPr>
          <a:xfrm>
            <a:off x="6709478" y="239766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692A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g3f8c9c594d6_2_273"/>
          <p:cNvSpPr txBox="1"/>
          <p:nvPr/>
        </p:nvSpPr>
        <p:spPr>
          <a:xfrm>
            <a:off x="6802928" y="253282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ALIMENTACIÓN DIRECTA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426" name="Google Shape;1426;g3f8c9c594d6_2_273" title="ChatGPT Image 25 ago 2026, 19_46_53.png"/>
          <p:cNvPicPr preferRelativeResize="0"/>
          <p:nvPr/>
        </p:nvPicPr>
        <p:blipFill rotWithShape="1">
          <a:blip r:embed="rId6">
            <a:alphaModFix/>
          </a:blip>
          <a:srcRect b="10452" l="7228" r="53826" t="9084"/>
          <a:stretch/>
        </p:blipFill>
        <p:spPr>
          <a:xfrm>
            <a:off x="7372625" y="2686718"/>
            <a:ext cx="474000" cy="47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34" name="Google Shape;1434;g3f8c9c594d6_2_273"/>
          <p:cNvSpPr/>
          <p:nvPr/>
        </p:nvSpPr>
        <p:spPr>
          <a:xfrm>
            <a:off x="9647303" y="2404723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FCC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g3f8c9c594d6_2_273"/>
          <p:cNvSpPr txBox="1"/>
          <p:nvPr/>
        </p:nvSpPr>
        <p:spPr>
          <a:xfrm>
            <a:off x="9740753" y="2539883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ALIMENTACIÓN AUX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429" name="Google Shape;1429;g3f8c9c594d6_2_273" title="ChatGPT Image 25 ago 2026, 19_46_53.png"/>
          <p:cNvPicPr preferRelativeResize="0"/>
          <p:nvPr/>
        </p:nvPicPr>
        <p:blipFill rotWithShape="1">
          <a:blip r:embed="rId6">
            <a:alphaModFix/>
          </a:blip>
          <a:srcRect b="10637" l="53425" r="7629" t="8899"/>
          <a:stretch/>
        </p:blipFill>
        <p:spPr>
          <a:xfrm>
            <a:off x="10323192" y="2692121"/>
            <a:ext cx="448500" cy="4632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436" name="Google Shape;1436;g3f8c9c594d6_2_273"/>
          <p:cNvCxnSpPr/>
          <p:nvPr/>
        </p:nvCxnSpPr>
        <p:spPr>
          <a:xfrm flipH="1">
            <a:off x="1875567" y="1083130"/>
            <a:ext cx="5100" cy="6648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37" name="Google Shape;1437;g3f8c9c594d6_2_273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73004" l="3304" r="88782" t="14632"/>
          <a:stretch/>
        </p:blipFill>
        <p:spPr>
          <a:xfrm>
            <a:off x="827198" y="982750"/>
            <a:ext cx="814076" cy="84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g3f8c9c594d6_2_273"/>
          <p:cNvSpPr txBox="1"/>
          <p:nvPr/>
        </p:nvSpPr>
        <p:spPr>
          <a:xfrm>
            <a:off x="1333850" y="2312552"/>
            <a:ext cx="441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Subsistema integral</a:t>
            </a:r>
            <a:endParaRPr b="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El subsistema donde se encuentran los módulos de comunicación, la lógica de decisión y el microprocesador en sí mismo, es el más crítico.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39" name="Google Shape;1439;g3f8c9c594d6_2_273"/>
          <p:cNvSpPr txBox="1"/>
          <p:nvPr/>
        </p:nvSpPr>
        <p:spPr>
          <a:xfrm>
            <a:off x="1333850" y="3738140"/>
            <a:ext cx="4415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alimentación</a:t>
            </a:r>
            <a:endParaRPr b="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Una pérdida de alimentación, por más corta que sea, inhabilita la detección y por lo tanto la decisión.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40" name="Google Shape;1440;g3f8c9c594d6_2_273"/>
          <p:cNvSpPr txBox="1"/>
          <p:nvPr/>
        </p:nvSpPr>
        <p:spPr>
          <a:xfrm>
            <a:off x="1333850" y="4886552"/>
            <a:ext cx="4415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Solución</a:t>
            </a:r>
            <a:endParaRPr b="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Alimentación primaria + alimentación de respaldo, con conmutación automática.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41" name="Google Shape;1441;g3f8c9c594d6_2_273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58060" l="1246" r="90841" t="29576"/>
          <a:stretch/>
        </p:blipFill>
        <p:spPr>
          <a:xfrm>
            <a:off x="392423" y="2465777"/>
            <a:ext cx="814076" cy="84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2" name="Google Shape;1442;g3f8c9c594d6_2_273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41827" l="1246" r="90841" t="45809"/>
          <a:stretch/>
        </p:blipFill>
        <p:spPr>
          <a:xfrm>
            <a:off x="392423" y="3752790"/>
            <a:ext cx="814076" cy="84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g3f8c9c594d6_2_273" title="ChatGPT Image 8 sept 2026, 14_25_09.png"/>
          <p:cNvPicPr preferRelativeResize="0"/>
          <p:nvPr/>
        </p:nvPicPr>
        <p:blipFill rotWithShape="1">
          <a:blip r:embed="rId7">
            <a:alphaModFix/>
          </a:blip>
          <a:srcRect b="21486" l="1223" r="90863" t="66149"/>
          <a:stretch/>
        </p:blipFill>
        <p:spPr>
          <a:xfrm>
            <a:off x="392423" y="4947377"/>
            <a:ext cx="814076" cy="84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f8c9c594d6_2_419"/>
          <p:cNvSpPr/>
          <p:nvPr/>
        </p:nvSpPr>
        <p:spPr>
          <a:xfrm>
            <a:off x="862687" y="1260030"/>
            <a:ext cx="4992600" cy="4983600"/>
          </a:xfrm>
          <a:prstGeom prst="roundRect">
            <a:avLst>
              <a:gd fmla="val 6000" name="adj"/>
            </a:avLst>
          </a:prstGeom>
          <a:solidFill>
            <a:srgbClr val="FAFCFE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49" name="Google Shape;1449;g3f8c9c594d6_2_419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450" name="Google Shape;1450;g3f8c9c594d6_2_419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451" name="Google Shape;1451;g3f8c9c594d6_2_419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2" name="Google Shape;1452;g3f8c9c594d6_2_419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g3f8c9c594d6_2_419"/>
          <p:cNvSpPr txBox="1"/>
          <p:nvPr/>
        </p:nvSpPr>
        <p:spPr>
          <a:xfrm>
            <a:off x="8772676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g3f8c9c594d6_2_419"/>
          <p:cNvSpPr txBox="1"/>
          <p:nvPr/>
        </p:nvSpPr>
        <p:spPr>
          <a:xfrm>
            <a:off x="959050" y="1827525"/>
            <a:ext cx="476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red alimenta la UPS, que entrega energía en CA a la carga. Esta debe ser convertida a CC mediante una fuente AC/DC para alimentar PANDA.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55" name="Google Shape;1455;g3f8c9c594d6_2_419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456" name="Google Shape;1456;g3f8c9c594d6_2_4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457" name="Google Shape;1457;g3f8c9c594d6_2_419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8" name="Google Shape;1458;g3f8c9c594d6_2_419"/>
          <p:cNvSpPr/>
          <p:nvPr/>
        </p:nvSpPr>
        <p:spPr>
          <a:xfrm>
            <a:off x="11447602" y="222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459" name="Google Shape;1459;g3f8c9c594d6_2_419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SELECCIÓN DE UPS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0" name="Google Shape;1460;g3f8c9c594d6_2_419"/>
          <p:cNvSpPr txBox="1"/>
          <p:nvPr/>
        </p:nvSpPr>
        <p:spPr>
          <a:xfrm>
            <a:off x="81387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COMPARACIÓN DE TOPOLOGÍAS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g3f8c9c594d6_2_419"/>
          <p:cNvSpPr/>
          <p:nvPr/>
        </p:nvSpPr>
        <p:spPr>
          <a:xfrm>
            <a:off x="856599" y="1260019"/>
            <a:ext cx="4992600" cy="501600"/>
          </a:xfrm>
          <a:prstGeom prst="roundRect">
            <a:avLst>
              <a:gd fmla="val 35251" name="adj"/>
            </a:avLst>
          </a:prstGeom>
          <a:solidFill>
            <a:srgbClr val="0D2547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2" name="Google Shape;1462;g3f8c9c594d6_2_419"/>
          <p:cNvSpPr txBox="1"/>
          <p:nvPr/>
        </p:nvSpPr>
        <p:spPr>
          <a:xfrm>
            <a:off x="856599" y="1356919"/>
            <a:ext cx="49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UPS Offline</a:t>
            </a:r>
            <a:endParaRPr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3" name="Google Shape;1463;g3f8c9c594d6_2_419"/>
          <p:cNvSpPr/>
          <p:nvPr/>
        </p:nvSpPr>
        <p:spPr>
          <a:xfrm>
            <a:off x="6342812" y="1259775"/>
            <a:ext cx="4992600" cy="4983600"/>
          </a:xfrm>
          <a:prstGeom prst="roundRect">
            <a:avLst>
              <a:gd fmla="val 6000" name="adj"/>
            </a:avLst>
          </a:prstGeom>
          <a:solidFill>
            <a:srgbClr val="F6FBFD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4" name="Google Shape;1464;g3f8c9c594d6_2_419"/>
          <p:cNvSpPr txBox="1"/>
          <p:nvPr/>
        </p:nvSpPr>
        <p:spPr>
          <a:xfrm>
            <a:off x="6439175" y="1827275"/>
            <a:ext cx="476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red alimenta una fuente AC/DC que, mediante un cargador, mantiene las baterías cargadas. Las baterías alimentan directamente a PANDA mediante un conversor DC/DC.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5" name="Google Shape;1465;g3f8c9c594d6_2_419"/>
          <p:cNvSpPr/>
          <p:nvPr/>
        </p:nvSpPr>
        <p:spPr>
          <a:xfrm>
            <a:off x="6336724" y="1259764"/>
            <a:ext cx="4992600" cy="501600"/>
          </a:xfrm>
          <a:prstGeom prst="roundRect">
            <a:avLst>
              <a:gd fmla="val 35251" name="adj"/>
            </a:avLst>
          </a:prstGeom>
          <a:solidFill>
            <a:srgbClr val="107439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6" name="Google Shape;1466;g3f8c9c594d6_2_419"/>
          <p:cNvSpPr txBox="1"/>
          <p:nvPr/>
        </p:nvSpPr>
        <p:spPr>
          <a:xfrm>
            <a:off x="6336724" y="1356664"/>
            <a:ext cx="49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Fuente + Baterias</a:t>
            </a:r>
            <a:endParaRPr sz="12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67" name="Google Shape;1467;g3f8c9c594d6_2_419" title="ChatGPT Image 9 sept 2026, 00_06_23.png"/>
          <p:cNvPicPr preferRelativeResize="0"/>
          <p:nvPr/>
        </p:nvPicPr>
        <p:blipFill rotWithShape="1">
          <a:blip r:embed="rId4">
            <a:alphaModFix/>
          </a:blip>
          <a:srcRect b="60733" l="2704" r="51467" t="25625"/>
          <a:stretch/>
        </p:blipFill>
        <p:spPr>
          <a:xfrm>
            <a:off x="974275" y="2795864"/>
            <a:ext cx="4769399" cy="94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g3f8c9c594d6_2_419" title="ChatGPT Image 9 sept 2026, 00_06_23.png"/>
          <p:cNvPicPr preferRelativeResize="0"/>
          <p:nvPr/>
        </p:nvPicPr>
        <p:blipFill rotWithShape="1">
          <a:blip r:embed="rId4">
            <a:alphaModFix/>
          </a:blip>
          <a:srcRect b="59205" l="51539" r="2439" t="25661"/>
          <a:stretch/>
        </p:blipFill>
        <p:spPr>
          <a:xfrm>
            <a:off x="6444475" y="2744100"/>
            <a:ext cx="4789252" cy="104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g3f8c9c594d6_2_419"/>
          <p:cNvSpPr/>
          <p:nvPr/>
        </p:nvSpPr>
        <p:spPr>
          <a:xfrm>
            <a:off x="1009000" y="4097175"/>
            <a:ext cx="2250000" cy="2005200"/>
          </a:xfrm>
          <a:prstGeom prst="roundRect">
            <a:avLst>
              <a:gd fmla="val 12254" name="adj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g3f8c9c594d6_2_419"/>
          <p:cNvSpPr/>
          <p:nvPr/>
        </p:nvSpPr>
        <p:spPr>
          <a:xfrm>
            <a:off x="3439350" y="4097175"/>
            <a:ext cx="2250000" cy="2005200"/>
          </a:xfrm>
          <a:prstGeom prst="roundRect">
            <a:avLst>
              <a:gd fmla="val 12254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g3f8c9c594d6_2_419"/>
          <p:cNvSpPr/>
          <p:nvPr/>
        </p:nvSpPr>
        <p:spPr>
          <a:xfrm>
            <a:off x="6498925" y="4097175"/>
            <a:ext cx="2250000" cy="2005200"/>
          </a:xfrm>
          <a:prstGeom prst="roundRect">
            <a:avLst>
              <a:gd fmla="val 12254" name="adj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g3f8c9c594d6_2_419"/>
          <p:cNvSpPr/>
          <p:nvPr/>
        </p:nvSpPr>
        <p:spPr>
          <a:xfrm>
            <a:off x="8929275" y="4097175"/>
            <a:ext cx="2250000" cy="2005200"/>
          </a:xfrm>
          <a:prstGeom prst="roundRect">
            <a:avLst>
              <a:gd fmla="val 12254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g3f8c9c594d6_2_419"/>
          <p:cNvSpPr txBox="1"/>
          <p:nvPr/>
        </p:nvSpPr>
        <p:spPr>
          <a:xfrm>
            <a:off x="1116850" y="4383507"/>
            <a:ext cx="20343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Decenas de milisegundos de conmutación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Protección completa de la carga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Regulación de tensión y filtrado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Compras certificación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4" name="Google Shape;1474;g3f8c9c594d6_2_419"/>
          <p:cNvSpPr txBox="1"/>
          <p:nvPr/>
        </p:nvSpPr>
        <p:spPr>
          <a:xfrm>
            <a:off x="1009000" y="4144504"/>
            <a:ext cx="225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5" name="Google Shape;1475;g3f8c9c594d6_2_419"/>
          <p:cNvSpPr txBox="1"/>
          <p:nvPr/>
        </p:nvSpPr>
        <p:spPr>
          <a:xfrm>
            <a:off x="3547200" y="4383507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elevado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Menor eficiencia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Sobredimensionamiento respecto del sistema PANDA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6" name="Google Shape;1476;g3f8c9c594d6_2_419"/>
          <p:cNvSpPr txBox="1"/>
          <p:nvPr/>
        </p:nvSpPr>
        <p:spPr>
          <a:xfrm>
            <a:off x="3439350" y="4144504"/>
            <a:ext cx="225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</a:t>
            </a: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entajas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7" name="Google Shape;1477;g3f8c9c594d6_2_419"/>
          <p:cNvSpPr txBox="1"/>
          <p:nvPr/>
        </p:nvSpPr>
        <p:spPr>
          <a:xfrm>
            <a:off x="6606775" y="4383507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Mayor eficiencia</a:t>
            </a:r>
            <a:endParaRPr b="0" i="0" sz="10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Menor costo para bajas potencias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Escalable según necesidad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conmutación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8" name="Google Shape;1478;g3f8c9c594d6_2_419"/>
          <p:cNvSpPr txBox="1"/>
          <p:nvPr/>
        </p:nvSpPr>
        <p:spPr>
          <a:xfrm>
            <a:off x="6498925" y="4144504"/>
            <a:ext cx="225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Ventajas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9" name="Google Shape;1479;g3f8c9c594d6_2_419"/>
          <p:cNvSpPr txBox="1"/>
          <p:nvPr/>
        </p:nvSpPr>
        <p:spPr>
          <a:xfrm>
            <a:off x="9037125" y="4384702"/>
            <a:ext cx="203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300" lIns="88300" spcFirstLastPara="1" rIns="88300" wrap="square" tIns="88300">
            <a:spAutoFit/>
          </a:bodyPr>
          <a:lstStyle/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Requiere diseño e integración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autonomía depende de la 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batería</a:t>
            </a: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seleccionada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149225" lvl="0" marL="18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547"/>
              </a:buClr>
              <a:buSzPts val="1000"/>
              <a:buFont typeface="Noto Sans Symbols"/>
              <a:buChar char="●"/>
            </a:pPr>
            <a:r>
              <a:rPr lang="es-AR" sz="10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regulación por red</a:t>
            </a:r>
            <a:endParaRPr sz="10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80" name="Google Shape;1480;g3f8c9c594d6_2_419"/>
          <p:cNvSpPr txBox="1"/>
          <p:nvPr/>
        </p:nvSpPr>
        <p:spPr>
          <a:xfrm>
            <a:off x="8929275" y="4145698"/>
            <a:ext cx="225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Desv</a:t>
            </a:r>
            <a:r>
              <a:rPr b="1" lang="es-AR" sz="12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entajas</a:t>
            </a:r>
            <a:endParaRPr sz="12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fa6abdca1a_0_28"/>
          <p:cNvSpPr/>
          <p:nvPr/>
        </p:nvSpPr>
        <p:spPr>
          <a:xfrm>
            <a:off x="597550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g3fa6abdca1a_0_28"/>
          <p:cNvSpPr/>
          <p:nvPr/>
        </p:nvSpPr>
        <p:spPr>
          <a:xfrm>
            <a:off x="4578063" y="2975297"/>
            <a:ext cx="3001500" cy="27726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0D25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87" name="Google Shape;1487;g3fa6abdca1a_0_2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488" name="Google Shape;1488;g3fa6abdca1a_0_2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</p:sp>
        <p:sp>
          <p:nvSpPr>
            <p:cNvPr id="1489" name="Google Shape;1489;g3fa6abdca1a_0_2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0" name="Google Shape;1490;g3fa6abdca1a_0_28"/>
          <p:cNvGrpSpPr/>
          <p:nvPr/>
        </p:nvGrpSpPr>
        <p:grpSpPr>
          <a:xfrm>
            <a:off x="0" y="-120553"/>
            <a:ext cx="12191758" cy="806472"/>
            <a:chOff x="0" y="-47625"/>
            <a:chExt cx="4816592" cy="318600"/>
          </a:xfrm>
        </p:grpSpPr>
        <p:sp>
          <p:nvSpPr>
            <p:cNvPr id="1491" name="Google Shape;1491;g3fa6abdca1a_0_2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492" name="Google Shape;1492;g3fa6abdca1a_0_2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3" name="Google Shape;1493;g3fa6abdca1a_0_28"/>
          <p:cNvSpPr/>
          <p:nvPr/>
        </p:nvSpPr>
        <p:spPr>
          <a:xfrm>
            <a:off x="11447602" y="92436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494" name="Google Shape;1494;g3fa6abdca1a_0_28"/>
          <p:cNvSpPr txBox="1"/>
          <p:nvPr/>
        </p:nvSpPr>
        <p:spPr>
          <a:xfrm>
            <a:off x="181650" y="90325"/>
            <a:ext cx="32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DIAGRAMA PANDA</a:t>
            </a:r>
            <a:endParaRPr b="0" i="0" sz="3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95" name="Google Shape;1495;g3fa6abdca1a_0_2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3fa6abdca1a_0_28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g3fa6abdca1a_0_28"/>
          <p:cNvSpPr/>
          <p:nvPr/>
        </p:nvSpPr>
        <p:spPr>
          <a:xfrm>
            <a:off x="4578050" y="4292600"/>
            <a:ext cx="3001500" cy="1623000"/>
          </a:xfrm>
          <a:prstGeom prst="roundRect">
            <a:avLst>
              <a:gd fmla="val 6000" name="adj"/>
            </a:avLst>
          </a:prstGeom>
          <a:solidFill>
            <a:srgbClr val="0D2547"/>
          </a:solidFill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499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98" name="Google Shape;1498;g3fa6abdca1a_0_28"/>
          <p:cNvSpPr txBox="1"/>
          <p:nvPr/>
        </p:nvSpPr>
        <p:spPr>
          <a:xfrm>
            <a:off x="4578063" y="3181805"/>
            <a:ext cx="3001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s-AR" sz="3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PANDA</a:t>
            </a:r>
            <a:endParaRPr b="0" i="0" sz="3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9" name="Google Shape;1499;g3fa6abdca1a_0_28"/>
          <p:cNvCxnSpPr/>
          <p:nvPr/>
        </p:nvCxnSpPr>
        <p:spPr>
          <a:xfrm>
            <a:off x="5008413" y="3705739"/>
            <a:ext cx="2140800" cy="1500"/>
          </a:xfrm>
          <a:prstGeom prst="straightConnector1">
            <a:avLst/>
          </a:prstGeom>
          <a:noFill/>
          <a:ln cap="flat" cmpd="sng" w="23800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0" name="Google Shape;1500;g3fa6abdca1a_0_28"/>
          <p:cNvSpPr txBox="1"/>
          <p:nvPr/>
        </p:nvSpPr>
        <p:spPr>
          <a:xfrm>
            <a:off x="4578063" y="3775391"/>
            <a:ext cx="3001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175" lIns="76175" spcFirstLastPara="1" rIns="76175" wrap="square" tIns="76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12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Paso A Nivel Dinámico y Activo</a:t>
            </a:r>
            <a:endParaRPr b="1" i="0" sz="112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01" name="Google Shape;1501;g3fa6abdca1a_0_28"/>
          <p:cNvSpPr/>
          <p:nvPr/>
        </p:nvSpPr>
        <p:spPr>
          <a:xfrm>
            <a:off x="5568711" y="4811228"/>
            <a:ext cx="1020474" cy="920455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502" name="Google Shape;1502;g3fa6abdca1a_0_28"/>
          <p:cNvSpPr txBox="1"/>
          <p:nvPr/>
        </p:nvSpPr>
        <p:spPr>
          <a:xfrm>
            <a:off x="597544" y="897652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DETECCIÓN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g3fa6abdca1a_0_28"/>
          <p:cNvSpPr/>
          <p:nvPr/>
        </p:nvSpPr>
        <p:spPr>
          <a:xfrm>
            <a:off x="1069091" y="3165856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04" name="Google Shape;1504;g3fa6abdca1a_0_28"/>
          <p:cNvSpPr/>
          <p:nvPr/>
        </p:nvSpPr>
        <p:spPr>
          <a:xfrm>
            <a:off x="617781" y="3409319"/>
            <a:ext cx="720000" cy="720000"/>
          </a:xfrm>
          <a:prstGeom prst="ellipse">
            <a:avLst/>
          </a:prstGeom>
          <a:solidFill>
            <a:srgbClr val="E3F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g3fa6abdca1a_0_28"/>
          <p:cNvSpPr/>
          <p:nvPr/>
        </p:nvSpPr>
        <p:spPr>
          <a:xfrm>
            <a:off x="1353950" y="2945759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074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g3fa6abdca1a_0_28"/>
          <p:cNvSpPr txBox="1"/>
          <p:nvPr/>
        </p:nvSpPr>
        <p:spPr>
          <a:xfrm>
            <a:off x="1540849" y="3080909"/>
            <a:ext cx="142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PUNTUAL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507" name="Google Shape;1507;g3fa6abdca1a_0_28" title="ChatGPT Image 25 ago 2026, 11_51_30.png"/>
          <p:cNvPicPr preferRelativeResize="0"/>
          <p:nvPr/>
        </p:nvPicPr>
        <p:blipFill rotWithShape="1">
          <a:blip r:embed="rId4">
            <a:alphaModFix/>
          </a:blip>
          <a:srcRect b="57924" l="5848" r="90726" t="35447"/>
          <a:stretch/>
        </p:blipFill>
        <p:spPr>
          <a:xfrm>
            <a:off x="747494" y="3518531"/>
            <a:ext cx="460573" cy="501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g3fa6abdca1a_0_28"/>
          <p:cNvGrpSpPr/>
          <p:nvPr/>
        </p:nvGrpSpPr>
        <p:grpSpPr>
          <a:xfrm>
            <a:off x="1353970" y="3476134"/>
            <a:ext cx="1800261" cy="720452"/>
            <a:chOff x="787800" y="4827307"/>
            <a:chExt cx="2651732" cy="720452"/>
          </a:xfrm>
        </p:grpSpPr>
        <p:sp>
          <p:nvSpPr>
            <p:cNvPr id="1509" name="Google Shape;1509;g3fa6abdca1a_0_28"/>
            <p:cNvSpPr txBox="1"/>
            <p:nvPr/>
          </p:nvSpPr>
          <p:spPr>
            <a:xfrm>
              <a:off x="7878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Sensores ubicados en las vías en puntos críticos que detectan la ubicación del tren.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0" name="Google Shape;1510;g3fa6abdca1a_0_28"/>
            <p:cNvSpPr txBox="1"/>
            <p:nvPr/>
          </p:nvSpPr>
          <p:spPr>
            <a:xfrm>
              <a:off x="7878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107439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VÍAS</a:t>
              </a:r>
              <a:endParaRPr b="0" i="0" sz="1027" u="none" cap="none" strike="noStrike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cxnSp>
        <p:nvCxnSpPr>
          <p:cNvPr id="1511" name="Google Shape;1511;g3fa6abdca1a_0_28"/>
          <p:cNvCxnSpPr>
            <a:stCxn id="1503" idx="3"/>
          </p:cNvCxnSpPr>
          <p:nvPr/>
        </p:nvCxnSpPr>
        <p:spPr>
          <a:xfrm>
            <a:off x="3439091" y="3769306"/>
            <a:ext cx="1133700" cy="58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074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2" name="Google Shape;1512;g3fa6abdca1a_0_28"/>
          <p:cNvSpPr txBox="1"/>
          <p:nvPr/>
        </p:nvSpPr>
        <p:spPr>
          <a:xfrm>
            <a:off x="3457635" y="3446725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107439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Comunicación cableada binaria</a:t>
            </a:r>
            <a:endParaRPr b="0" i="0" sz="827" u="none" cap="none" strike="noStrike">
              <a:solidFill>
                <a:srgbClr val="107439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13" name="Google Shape;1513;g3fa6abdca1a_0_28"/>
          <p:cNvSpPr/>
          <p:nvPr/>
        </p:nvSpPr>
        <p:spPr>
          <a:xfrm>
            <a:off x="1069091" y="1603775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4" name="Google Shape;1514;g3fa6abdca1a_0_28"/>
          <p:cNvSpPr/>
          <p:nvPr/>
        </p:nvSpPr>
        <p:spPr>
          <a:xfrm>
            <a:off x="1353950" y="138367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E30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g3fa6abdca1a_0_28"/>
          <p:cNvSpPr txBox="1"/>
          <p:nvPr/>
        </p:nvSpPr>
        <p:spPr>
          <a:xfrm>
            <a:off x="1447400" y="151883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DETECCIÓN EMBARCADA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grpSp>
        <p:nvGrpSpPr>
          <p:cNvPr id="1516" name="Google Shape;1516;g3fa6abdca1a_0_28"/>
          <p:cNvGrpSpPr/>
          <p:nvPr/>
        </p:nvGrpSpPr>
        <p:grpSpPr>
          <a:xfrm>
            <a:off x="1373090" y="1914078"/>
            <a:ext cx="1762076" cy="720452"/>
            <a:chOff x="816600" y="4827307"/>
            <a:chExt cx="2651732" cy="720452"/>
          </a:xfrm>
        </p:grpSpPr>
        <p:sp>
          <p:nvSpPr>
            <p:cNvPr id="1517" name="Google Shape;1517;g3fa6abdca1a_0_28"/>
            <p:cNvSpPr txBox="1"/>
            <p:nvPr/>
          </p:nvSpPr>
          <p:spPr>
            <a:xfrm>
              <a:off x="816600" y="5079759"/>
              <a:ext cx="26517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AR" sz="800" u="none" cap="none" strike="noStrike">
                  <a:solidFill>
                    <a:srgbClr val="0D2547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Dispositivo instalado en el tren que obtiene las variables necesarias para accionar el sistema de seguridad.</a:t>
              </a:r>
              <a:endParaRPr b="0" i="0" sz="800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8" name="Google Shape;1518;g3fa6abdca1a_0_28"/>
            <p:cNvSpPr txBox="1"/>
            <p:nvPr/>
          </p:nvSpPr>
          <p:spPr>
            <a:xfrm>
              <a:off x="816632" y="4827307"/>
              <a:ext cx="2651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7"/>
                <a:buFont typeface="Arial"/>
                <a:buNone/>
              </a:pPr>
              <a:r>
                <a:rPr b="0" i="0" lang="es-AR" sz="1027" u="none" cap="none" strike="noStrike">
                  <a:solidFill>
                    <a:srgbClr val="E30D0E"/>
                  </a:solidFill>
                  <a:latin typeface="Noto Sans Symbols Black"/>
                  <a:ea typeface="Noto Sans Symbols Black"/>
                  <a:cs typeface="Noto Sans Symbols Black"/>
                  <a:sym typeface="Noto Sans Symbols Black"/>
                </a:rPr>
                <a:t>TREN</a:t>
              </a:r>
              <a:endParaRPr b="0" i="0" sz="1027" u="none" cap="none" strike="noStrike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endParaRPr>
            </a:p>
          </p:txBody>
        </p:sp>
      </p:grpSp>
      <p:sp>
        <p:nvSpPr>
          <p:cNvPr id="1519" name="Google Shape;1519;g3fa6abdca1a_0_28"/>
          <p:cNvSpPr txBox="1"/>
          <p:nvPr/>
        </p:nvSpPr>
        <p:spPr>
          <a:xfrm>
            <a:off x="3461935" y="2429446"/>
            <a:ext cx="1101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Radioenlace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UHF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520" name="Google Shape;1520;g3fa6abdca1a_0_28"/>
          <p:cNvCxnSpPr/>
          <p:nvPr/>
        </p:nvCxnSpPr>
        <p:spPr>
          <a:xfrm>
            <a:off x="3447664" y="2766005"/>
            <a:ext cx="1124400" cy="435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30D0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1" name="Google Shape;1521;g3fa6abdca1a_0_28"/>
          <p:cNvSpPr/>
          <p:nvPr/>
        </p:nvSpPr>
        <p:spPr>
          <a:xfrm>
            <a:off x="4890429" y="1166979"/>
            <a:ext cx="2370000" cy="12069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22" name="Google Shape;1522;g3fa6abdca1a_0_28"/>
          <p:cNvSpPr/>
          <p:nvPr/>
        </p:nvSpPr>
        <p:spPr>
          <a:xfrm>
            <a:off x="5178775" y="215978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1C6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3" name="Google Shape;1523;g3fa6abdca1a_0_28" title="ChatGPT Image 25 ago 2026, 20_39_26.png"/>
          <p:cNvPicPr preferRelativeResize="0"/>
          <p:nvPr/>
        </p:nvPicPr>
        <p:blipFill rotWithShape="1">
          <a:blip r:embed="rId5">
            <a:alphaModFix/>
          </a:blip>
          <a:srcRect b="7766" l="7851" r="7733" t="7732"/>
          <a:stretch/>
        </p:blipFill>
        <p:spPr>
          <a:xfrm>
            <a:off x="4529760" y="805671"/>
            <a:ext cx="720000" cy="720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24" name="Google Shape;1524;g3fa6abdca1a_0_28" title="ChatGPT Image 25 ago 2026, 20_42_23.png"/>
          <p:cNvPicPr preferRelativeResize="0"/>
          <p:nvPr/>
        </p:nvPicPr>
        <p:blipFill rotWithShape="1">
          <a:blip r:embed="rId6">
            <a:alphaModFix/>
          </a:blip>
          <a:srcRect b="8072" l="7468" r="7382" t="6334"/>
          <a:stretch/>
        </p:blipFill>
        <p:spPr>
          <a:xfrm>
            <a:off x="623076" y="1846610"/>
            <a:ext cx="720000" cy="723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25" name="Google Shape;1525;g3fa6abdca1a_0_28"/>
          <p:cNvSpPr txBox="1"/>
          <p:nvPr/>
        </p:nvSpPr>
        <p:spPr>
          <a:xfrm>
            <a:off x="5267088" y="229624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NUBE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526" name="Google Shape;1526;g3fa6abdca1a_0_28"/>
          <p:cNvCxnSpPr>
            <a:endCxn id="1523" idx="2"/>
          </p:cNvCxnSpPr>
          <p:nvPr/>
        </p:nvCxnSpPr>
        <p:spPr>
          <a:xfrm flipH="1" rot="10800000">
            <a:off x="3448560" y="1165971"/>
            <a:ext cx="1081200" cy="866700"/>
          </a:xfrm>
          <a:prstGeom prst="bentConnector3">
            <a:avLst>
              <a:gd fmla="val 66261" name="adj1"/>
            </a:avLst>
          </a:prstGeom>
          <a:noFill/>
          <a:ln cap="flat" cmpd="sng" w="19050">
            <a:solidFill>
              <a:srgbClr val="E30D0E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27" name="Google Shape;1527;g3fa6abdca1a_0_28"/>
          <p:cNvCxnSpPr>
            <a:stCxn id="1522" idx="2"/>
            <a:endCxn id="1486" idx="0"/>
          </p:cNvCxnSpPr>
          <p:nvPr/>
        </p:nvCxnSpPr>
        <p:spPr>
          <a:xfrm>
            <a:off x="6078925" y="2583982"/>
            <a:ext cx="0" cy="391200"/>
          </a:xfrm>
          <a:prstGeom prst="straightConnector1">
            <a:avLst/>
          </a:prstGeom>
          <a:noFill/>
          <a:ln cap="flat" cmpd="sng" w="19050">
            <a:solidFill>
              <a:srgbClr val="1C6E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8" name="Google Shape;1528;g3fa6abdca1a_0_28"/>
          <p:cNvSpPr/>
          <p:nvPr/>
        </p:nvSpPr>
        <p:spPr>
          <a:xfrm>
            <a:off x="8339657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g3fa6abdca1a_0_28"/>
          <p:cNvSpPr txBox="1"/>
          <p:nvPr/>
        </p:nvSpPr>
        <p:spPr>
          <a:xfrm>
            <a:off x="8339636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ALERTA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g3fa6abdca1a_0_28"/>
          <p:cNvSpPr/>
          <p:nvPr/>
        </p:nvSpPr>
        <p:spPr>
          <a:xfrm>
            <a:off x="8811091" y="5387363"/>
            <a:ext cx="25587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1" name="Google Shape;1531;g3fa6abdca1a_0_28"/>
          <p:cNvSpPr txBox="1"/>
          <p:nvPr/>
        </p:nvSpPr>
        <p:spPr>
          <a:xfrm>
            <a:off x="9209343" y="5735304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PANDA es capaz de advertir mediante alerta sonora y lumínica la llegada del tren.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2" name="Google Shape;1532;g3fa6abdca1a_0_28"/>
          <p:cNvSpPr/>
          <p:nvPr/>
        </p:nvSpPr>
        <p:spPr>
          <a:xfrm>
            <a:off x="9190278" y="5162552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F88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g3fa6abdca1a_0_28"/>
          <p:cNvSpPr txBox="1"/>
          <p:nvPr/>
        </p:nvSpPr>
        <p:spPr>
          <a:xfrm>
            <a:off x="9283728" y="5297712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SEÑALIZACIÓN ACTIVA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534" name="Google Shape;1534;g3fa6abdca1a_0_28" title="ChatGPT Image 25 ago 2026, 23_09_52.png"/>
          <p:cNvPicPr preferRelativeResize="0"/>
          <p:nvPr/>
        </p:nvPicPr>
        <p:blipFill rotWithShape="1">
          <a:blip r:embed="rId7">
            <a:alphaModFix/>
          </a:blip>
          <a:srcRect b="7583" l="7017" r="6140" t="4751"/>
          <a:stretch/>
        </p:blipFill>
        <p:spPr>
          <a:xfrm>
            <a:off x="8452107" y="5486192"/>
            <a:ext cx="720000" cy="7269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535" name="Google Shape;1535;g3fa6abdca1a_0_28"/>
          <p:cNvCxnSpPr>
            <a:stCxn id="1534" idx="2"/>
            <a:endCxn id="1497" idx="3"/>
          </p:cNvCxnSpPr>
          <p:nvPr/>
        </p:nvCxnSpPr>
        <p:spPr>
          <a:xfrm rot="10800000">
            <a:off x="7579407" y="5104142"/>
            <a:ext cx="872700" cy="7455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F885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6" name="Google Shape;1536;g3fa6abdca1a_0_28"/>
          <p:cNvSpPr/>
          <p:nvPr/>
        </p:nvSpPr>
        <p:spPr>
          <a:xfrm>
            <a:off x="1077675" y="5385275"/>
            <a:ext cx="23700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7" name="Google Shape;1537;g3fa6abdca1a_0_28"/>
          <p:cNvSpPr txBox="1"/>
          <p:nvPr/>
        </p:nvSpPr>
        <p:spPr>
          <a:xfrm>
            <a:off x="1333988" y="5709579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Dispositivo en los PAN que recibe información y determina las acciones de protección.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8" name="Google Shape;1538;g3fa6abdca1a_0_28"/>
          <p:cNvSpPr/>
          <p:nvPr/>
        </p:nvSpPr>
        <p:spPr>
          <a:xfrm>
            <a:off x="1373107" y="5160464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g3fa6abdca1a_0_28"/>
          <p:cNvSpPr txBox="1"/>
          <p:nvPr/>
        </p:nvSpPr>
        <p:spPr>
          <a:xfrm>
            <a:off x="1447407" y="5295624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DECISIÓN LOCAL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540" name="Google Shape;1540;g3fa6abdca1a_0_28"/>
          <p:cNvCxnSpPr>
            <a:stCxn id="1536" idx="3"/>
            <a:endCxn id="1497" idx="1"/>
          </p:cNvCxnSpPr>
          <p:nvPr/>
        </p:nvCxnSpPr>
        <p:spPr>
          <a:xfrm flipH="1" rot="10800000">
            <a:off x="3447675" y="5104175"/>
            <a:ext cx="1130400" cy="7413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541" name="Google Shape;1541;g3fa6abdca1a_0_28" title="ChatGPT Image 26 ago 2026, 10_30_13 a.m.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017" y="5425474"/>
            <a:ext cx="860100" cy="83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g3fa6abdca1a_0_28"/>
          <p:cNvSpPr/>
          <p:nvPr/>
        </p:nvSpPr>
        <p:spPr>
          <a:xfrm>
            <a:off x="597550" y="4632784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g3fa6abdca1a_0_28"/>
          <p:cNvSpPr txBox="1"/>
          <p:nvPr/>
        </p:nvSpPr>
        <p:spPr>
          <a:xfrm>
            <a:off x="597544" y="4683547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b="0" i="0" lang="es-AR" sz="2000" u="none" cap="none" strike="noStrike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</a:t>
            </a: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DECISIÓN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g3fa6abdca1a_0_28"/>
          <p:cNvSpPr txBox="1"/>
          <p:nvPr/>
        </p:nvSpPr>
        <p:spPr>
          <a:xfrm>
            <a:off x="5195842" y="1343809"/>
            <a:ext cx="18003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</a:pPr>
            <a:r>
              <a:rPr lang="es-AR" sz="1027">
                <a:solidFill>
                  <a:srgbClr val="1C6EBD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SERVIDOR</a:t>
            </a:r>
            <a:endParaRPr b="0" i="0" sz="1027" u="none" cap="none" strike="noStrike">
              <a:solidFill>
                <a:srgbClr val="1C6EBD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45" name="Google Shape;1545;g3fa6abdca1a_0_28"/>
          <p:cNvSpPr txBox="1"/>
          <p:nvPr/>
        </p:nvSpPr>
        <p:spPr>
          <a:xfrm>
            <a:off x="5192700" y="1609007"/>
            <a:ext cx="1762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módulos instalados en trenes actualizan su información en tiempo real en un servidor </a:t>
            </a:r>
            <a:endParaRPr b="0" i="0" sz="800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46" name="Google Shape;1546;g3fa6abdca1a_0_28"/>
          <p:cNvSpPr txBox="1"/>
          <p:nvPr/>
        </p:nvSpPr>
        <p:spPr>
          <a:xfrm>
            <a:off x="3448550" y="1885650"/>
            <a:ext cx="7200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E30D0E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4G/LTE-M</a:t>
            </a:r>
            <a:endParaRPr sz="827">
              <a:solidFill>
                <a:srgbClr val="E30D0E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47" name="Google Shape;1547;g3fa6abdca1a_0_28"/>
          <p:cNvSpPr txBox="1"/>
          <p:nvPr/>
        </p:nvSpPr>
        <p:spPr>
          <a:xfrm>
            <a:off x="4578050" y="4330673"/>
            <a:ext cx="300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ESP32-S3 de ESPRESSIF</a:t>
            </a:r>
            <a:endParaRPr b="1" sz="16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48" name="Google Shape;1548;g3fa6abdca1a_0_28"/>
          <p:cNvSpPr/>
          <p:nvPr/>
        </p:nvSpPr>
        <p:spPr>
          <a:xfrm>
            <a:off x="8339669" y="844736"/>
            <a:ext cx="3257700" cy="424200"/>
          </a:xfrm>
          <a:prstGeom prst="roundRect">
            <a:avLst>
              <a:gd fmla="val 6064" name="adj"/>
            </a:avLst>
          </a:prstGeom>
          <a:noFill/>
          <a:ln cap="flat" cmpd="sng" w="9525">
            <a:solidFill>
              <a:srgbClr val="0D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g3fa6abdca1a_0_28"/>
          <p:cNvSpPr txBox="1"/>
          <p:nvPr/>
        </p:nvSpPr>
        <p:spPr>
          <a:xfrm>
            <a:off x="8339673" y="895108"/>
            <a:ext cx="3257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7"/>
              <a:buFont typeface="Arial"/>
              <a:buNone/>
            </a:pPr>
            <a:r>
              <a:rPr lang="es-AR" sz="2000">
                <a:solidFill>
                  <a:srgbClr val="0D2547"/>
                </a:solidFill>
                <a:latin typeface="Impact"/>
                <a:ea typeface="Impact"/>
                <a:cs typeface="Impact"/>
                <a:sym typeface="Impact"/>
              </a:rPr>
              <a:t>SISTEMA DE ALIMENTACIÓN</a:t>
            </a:r>
            <a:endParaRPr b="0" i="0" sz="2000" u="none" cap="none" strike="noStrike">
              <a:solidFill>
                <a:srgbClr val="0D25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g3fa6abdca1a_0_28"/>
          <p:cNvSpPr/>
          <p:nvPr/>
        </p:nvSpPr>
        <p:spPr>
          <a:xfrm>
            <a:off x="8811091" y="3296775"/>
            <a:ext cx="25587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51" name="Google Shape;1551;g3fa6abdca1a_0_28"/>
          <p:cNvSpPr txBox="1"/>
          <p:nvPr/>
        </p:nvSpPr>
        <p:spPr>
          <a:xfrm>
            <a:off x="9209343" y="3644716"/>
            <a:ext cx="17622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Sistema auxiliar con una batería de respaldo ante cortes. 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552" name="Google Shape;1552;g3fa6abdca1a_0_28" title="ChatGPT Image 25 ago 2026, 19_46_53.png"/>
          <p:cNvPicPr preferRelativeResize="0"/>
          <p:nvPr/>
        </p:nvPicPr>
        <p:blipFill rotWithShape="1">
          <a:blip r:embed="rId9">
            <a:alphaModFix/>
          </a:blip>
          <a:srcRect b="10637" l="53425" r="7629" t="8899"/>
          <a:stretch/>
        </p:blipFill>
        <p:spPr>
          <a:xfrm>
            <a:off x="8462551" y="3396975"/>
            <a:ext cx="696987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g3fa6abdca1a_0_28"/>
          <p:cNvSpPr/>
          <p:nvPr/>
        </p:nvSpPr>
        <p:spPr>
          <a:xfrm>
            <a:off x="9190278" y="3071964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FCC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g3fa6abdca1a_0_28"/>
          <p:cNvSpPr txBox="1"/>
          <p:nvPr/>
        </p:nvSpPr>
        <p:spPr>
          <a:xfrm>
            <a:off x="9283728" y="3207124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ALIMENTACIÓN AUX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55" name="Google Shape;1555;g3fa6abdca1a_0_28"/>
          <p:cNvSpPr/>
          <p:nvPr/>
        </p:nvSpPr>
        <p:spPr>
          <a:xfrm>
            <a:off x="8811091" y="1619079"/>
            <a:ext cx="2558700" cy="920400"/>
          </a:xfrm>
          <a:prstGeom prst="roundRect">
            <a:avLst>
              <a:gd fmla="val 6000" name="adj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050" lIns="76175" spcFirstLastPara="1" rIns="76175" wrap="square" tIns="38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56" name="Google Shape;1556;g3fa6abdca1a_0_28"/>
          <p:cNvSpPr txBox="1"/>
          <p:nvPr/>
        </p:nvSpPr>
        <p:spPr>
          <a:xfrm>
            <a:off x="9209343" y="1967020"/>
            <a:ext cx="17622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AR" sz="800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Sistema auxiliar con una batería de respaldo ante cortes. </a:t>
            </a:r>
            <a:endParaRPr sz="800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57" name="Google Shape;1557;g3fa6abdca1a_0_28"/>
          <p:cNvSpPr/>
          <p:nvPr/>
        </p:nvSpPr>
        <p:spPr>
          <a:xfrm>
            <a:off x="9190278" y="1394268"/>
            <a:ext cx="1800300" cy="424200"/>
          </a:xfrm>
          <a:prstGeom prst="roundRect">
            <a:avLst>
              <a:gd fmla="val 6064" name="adj"/>
            </a:avLst>
          </a:prstGeom>
          <a:solidFill>
            <a:srgbClr val="692A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g3fa6abdca1a_0_28"/>
          <p:cNvSpPr txBox="1"/>
          <p:nvPr/>
        </p:nvSpPr>
        <p:spPr>
          <a:xfrm>
            <a:off x="9283728" y="1529428"/>
            <a:ext cx="161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AR" sz="1000">
                <a:solidFill>
                  <a:schemeClr val="lt1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ALIMENTACIÓN DIRECTA</a:t>
            </a:r>
            <a:endParaRPr b="0" i="0" sz="1000" u="none" cap="none" strike="noStrike">
              <a:solidFill>
                <a:schemeClr val="lt1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cxnSp>
        <p:nvCxnSpPr>
          <p:cNvPr id="1559" name="Google Shape;1559;g3fa6abdca1a_0_28"/>
          <p:cNvCxnSpPr>
            <a:stCxn id="1560" idx="2"/>
            <a:endCxn id="1498" idx="3"/>
          </p:cNvCxnSpPr>
          <p:nvPr/>
        </p:nvCxnSpPr>
        <p:spPr>
          <a:xfrm flipH="1">
            <a:off x="7579450" y="2079291"/>
            <a:ext cx="860100" cy="1341900"/>
          </a:xfrm>
          <a:prstGeom prst="bentConnector3">
            <a:avLst>
              <a:gd fmla="val 20599" name="adj1"/>
            </a:avLst>
          </a:prstGeom>
          <a:noFill/>
          <a:ln cap="flat" cmpd="sng" w="19050">
            <a:solidFill>
              <a:srgbClr val="692AA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1" name="Google Shape;1561;g3fa6abdca1a_0_28"/>
          <p:cNvCxnSpPr>
            <a:endCxn id="1553" idx="0"/>
          </p:cNvCxnSpPr>
          <p:nvPr/>
        </p:nvCxnSpPr>
        <p:spPr>
          <a:xfrm>
            <a:off x="8803428" y="2845464"/>
            <a:ext cx="1287000" cy="226500"/>
          </a:xfrm>
          <a:prstGeom prst="bentConnector2">
            <a:avLst/>
          </a:prstGeom>
          <a:noFill/>
          <a:ln cap="flat" cmpd="sng" w="19050">
            <a:solidFill>
              <a:srgbClr val="692AAA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62" name="Google Shape;1562;g3fa6abdca1a_0_28"/>
          <p:cNvCxnSpPr/>
          <p:nvPr/>
        </p:nvCxnSpPr>
        <p:spPr>
          <a:xfrm>
            <a:off x="8813000" y="2436029"/>
            <a:ext cx="0" cy="420000"/>
          </a:xfrm>
          <a:prstGeom prst="straightConnector1">
            <a:avLst/>
          </a:prstGeom>
          <a:noFill/>
          <a:ln cap="flat" cmpd="sng" w="19050">
            <a:solidFill>
              <a:srgbClr val="692AA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63" name="Google Shape;1563;g3fa6abdca1a_0_28"/>
          <p:cNvCxnSpPr>
            <a:stCxn id="1552" idx="1"/>
          </p:cNvCxnSpPr>
          <p:nvPr/>
        </p:nvCxnSpPr>
        <p:spPr>
          <a:xfrm flipH="1">
            <a:off x="7579651" y="3756975"/>
            <a:ext cx="882900" cy="604500"/>
          </a:xfrm>
          <a:prstGeom prst="bentConnector3">
            <a:avLst>
              <a:gd fmla="val 17151" name="adj1"/>
            </a:avLst>
          </a:prstGeom>
          <a:noFill/>
          <a:ln cap="flat" cmpd="sng" w="19050">
            <a:solidFill>
              <a:srgbClr val="FCCD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4" name="Google Shape;1564;g3fa6abdca1a_0_28"/>
          <p:cNvSpPr txBox="1"/>
          <p:nvPr/>
        </p:nvSpPr>
        <p:spPr>
          <a:xfrm>
            <a:off x="7594734" y="3076321"/>
            <a:ext cx="665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692AAA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Suministro directo</a:t>
            </a:r>
            <a:endParaRPr b="0" i="0" sz="827" u="none" cap="none" strike="noStrike">
              <a:solidFill>
                <a:srgbClr val="692AAA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65" name="Google Shape;1565;g3fa6abdca1a_0_28"/>
          <p:cNvSpPr txBox="1"/>
          <p:nvPr/>
        </p:nvSpPr>
        <p:spPr>
          <a:xfrm>
            <a:off x="7579653" y="3987200"/>
            <a:ext cx="74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FCCD27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Suministro respaldo</a:t>
            </a:r>
            <a:endParaRPr b="0" i="0" sz="827" u="none" cap="none" strike="noStrike">
              <a:solidFill>
                <a:srgbClr val="FCCD27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sp>
        <p:nvSpPr>
          <p:cNvPr id="1566" name="Google Shape;1566;g3fa6abdca1a_0_28"/>
          <p:cNvSpPr txBox="1"/>
          <p:nvPr/>
        </p:nvSpPr>
        <p:spPr>
          <a:xfrm>
            <a:off x="8811050" y="2676500"/>
            <a:ext cx="12768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"/>
              <a:buFont typeface="Arial"/>
              <a:buNone/>
            </a:pPr>
            <a:r>
              <a:rPr lang="es-AR" sz="827">
                <a:solidFill>
                  <a:srgbClr val="692AAA"/>
                </a:solidFill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carga baterias</a:t>
            </a:r>
            <a:endParaRPr b="0" i="0" sz="827" u="none" cap="none" strike="noStrike">
              <a:solidFill>
                <a:srgbClr val="692AAA"/>
              </a:solidFill>
              <a:latin typeface="Noto Sans Symbols Black"/>
              <a:ea typeface="Noto Sans Symbols Black"/>
              <a:cs typeface="Noto Sans Symbols Black"/>
              <a:sym typeface="Noto Sans Symbols Black"/>
            </a:endParaRPr>
          </a:p>
        </p:txBody>
      </p:sp>
      <p:pic>
        <p:nvPicPr>
          <p:cNvPr id="1560" name="Google Shape;1560;g3fa6abdca1a_0_28" title="ChatGPT Image 25 ago 2026, 19_46_53.png"/>
          <p:cNvPicPr preferRelativeResize="0"/>
          <p:nvPr/>
        </p:nvPicPr>
        <p:blipFill rotWithShape="1">
          <a:blip r:embed="rId9">
            <a:alphaModFix/>
          </a:blip>
          <a:srcRect b="10452" l="7228" r="53826" t="9084"/>
          <a:stretch/>
        </p:blipFill>
        <p:spPr>
          <a:xfrm>
            <a:off x="8439550" y="1719291"/>
            <a:ext cx="720000" cy="720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1" name="Google Shape;1571;g3fa673deee8_6_482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572" name="Google Shape;1572;g3fa673deee8_6_482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3fa673deee8_6_482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4" name="Google Shape;1574;g3fa673deee8_6_482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g3fa673deee8_6_482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6" name="Google Shape;1576;g3fa673deee8_6_482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577" name="Google Shape;1577;g3fa673deee8_6_482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578" name="Google Shape;1578;g3fa673deee8_6_482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9" name="Google Shape;1579;g3fa673deee8_6_482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580" name="Google Shape;1580;g3fa673deee8_6_482"/>
          <p:cNvSpPr txBox="1"/>
          <p:nvPr/>
        </p:nvSpPr>
        <p:spPr>
          <a:xfrm>
            <a:off x="181650" y="80300"/>
            <a:ext cx="961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TECNOLÓGICA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81" name="Google Shape;1581;g3fa673deee8_6_482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REAL VS PROTOTIPO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g3fa673deee8_6_482"/>
          <p:cNvSpPr/>
          <p:nvPr/>
        </p:nvSpPr>
        <p:spPr>
          <a:xfrm>
            <a:off x="2940893" y="1222888"/>
            <a:ext cx="3822900" cy="502800"/>
          </a:xfrm>
          <a:prstGeom prst="rect">
            <a:avLst/>
          </a:prstGeom>
          <a:solidFill>
            <a:srgbClr val="107439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g3fa673deee8_6_482"/>
          <p:cNvSpPr txBox="1"/>
          <p:nvPr/>
        </p:nvSpPr>
        <p:spPr>
          <a:xfrm>
            <a:off x="3164857" y="1222888"/>
            <a:ext cx="3374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3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DISPOSITIVO REAL</a:t>
            </a:r>
            <a:endParaRPr b="1" i="0" sz="1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3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instala en el cruce</a:t>
            </a:r>
            <a:endParaRPr b="1" i="0" sz="1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84" name="Google Shape;1584;g3fa673deee8_6_482"/>
          <p:cNvSpPr/>
          <p:nvPr/>
        </p:nvSpPr>
        <p:spPr>
          <a:xfrm>
            <a:off x="6763208" y="1222888"/>
            <a:ext cx="3822900" cy="502800"/>
          </a:xfrm>
          <a:prstGeom prst="rect">
            <a:avLst/>
          </a:prstGeom>
          <a:solidFill>
            <a:srgbClr val="351C75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g3fa673deee8_6_482"/>
          <p:cNvSpPr txBox="1"/>
          <p:nvPr/>
        </p:nvSpPr>
        <p:spPr>
          <a:xfrm>
            <a:off x="6987172" y="1222888"/>
            <a:ext cx="3374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3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PROTOTIPO</a:t>
            </a:r>
            <a:endParaRPr b="1" i="0" sz="1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3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construye en la tesis</a:t>
            </a:r>
            <a:endParaRPr b="1" i="0" sz="1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86" name="Google Shape;1586;g3fa673deee8_6_482"/>
          <p:cNvSpPr/>
          <p:nvPr/>
        </p:nvSpPr>
        <p:spPr>
          <a:xfrm>
            <a:off x="1605886" y="1725784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87" name="Google Shape;1587;g3fa673deee8_6_482"/>
          <p:cNvSpPr txBox="1"/>
          <p:nvPr/>
        </p:nvSpPr>
        <p:spPr>
          <a:xfrm>
            <a:off x="1624175" y="1725784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PROCESADOR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88" name="Google Shape;1588;g3fa673deee8_6_482"/>
          <p:cNvSpPr/>
          <p:nvPr/>
        </p:nvSpPr>
        <p:spPr>
          <a:xfrm>
            <a:off x="2940896" y="1725797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g3fa673deee8_6_482"/>
          <p:cNvSpPr txBox="1"/>
          <p:nvPr/>
        </p:nvSpPr>
        <p:spPr>
          <a:xfrm>
            <a:off x="2940855" y="1734672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ESP32-S3</a:t>
            </a:r>
            <a:endParaRPr sz="126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0" name="Google Shape;1590;g3fa673deee8_6_482"/>
          <p:cNvSpPr/>
          <p:nvPr/>
        </p:nvSpPr>
        <p:spPr>
          <a:xfrm>
            <a:off x="1605886" y="2102974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1" name="Google Shape;1591;g3fa673deee8_6_482"/>
          <p:cNvSpPr txBox="1"/>
          <p:nvPr/>
        </p:nvSpPr>
        <p:spPr>
          <a:xfrm>
            <a:off x="1624175" y="2102974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POSICIÓN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2" name="Google Shape;1592;g3fa673deee8_6_482"/>
          <p:cNvSpPr/>
          <p:nvPr/>
        </p:nvSpPr>
        <p:spPr>
          <a:xfrm>
            <a:off x="2940896" y="2102996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g3fa673deee8_6_482"/>
          <p:cNvSpPr txBox="1"/>
          <p:nvPr/>
        </p:nvSpPr>
        <p:spPr>
          <a:xfrm>
            <a:off x="2940813" y="2102996"/>
            <a:ext cx="7644900" cy="3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u-blox MAX-M10S</a:t>
            </a:r>
            <a:endParaRPr sz="126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4" name="Google Shape;1594;g3fa673deee8_6_482"/>
          <p:cNvSpPr/>
          <p:nvPr/>
        </p:nvSpPr>
        <p:spPr>
          <a:xfrm>
            <a:off x="1605886" y="2480164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5" name="Google Shape;1595;g3fa673deee8_6_482"/>
          <p:cNvSpPr txBox="1"/>
          <p:nvPr/>
        </p:nvSpPr>
        <p:spPr>
          <a:xfrm>
            <a:off x="1624175" y="2480164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MEDICIÓN INERCIAL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6" name="Google Shape;1596;g3fa673deee8_6_482"/>
          <p:cNvSpPr/>
          <p:nvPr/>
        </p:nvSpPr>
        <p:spPr>
          <a:xfrm>
            <a:off x="2940896" y="2480196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g3fa673deee8_6_482"/>
          <p:cNvSpPr txBox="1"/>
          <p:nvPr/>
        </p:nvSpPr>
        <p:spPr>
          <a:xfrm>
            <a:off x="2940854" y="2480196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Bosch BMI088, solo 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Nodo Tren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8" name="Google Shape;1598;g3fa673deee8_6_482"/>
          <p:cNvSpPr/>
          <p:nvPr/>
        </p:nvSpPr>
        <p:spPr>
          <a:xfrm>
            <a:off x="1605886" y="2857369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99" name="Google Shape;1599;g3fa673deee8_6_482"/>
          <p:cNvSpPr txBox="1"/>
          <p:nvPr/>
        </p:nvSpPr>
        <p:spPr>
          <a:xfrm>
            <a:off x="1624175" y="2857369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TELEMETRÍA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0" name="Google Shape;1600;g3fa673deee8_6_482"/>
          <p:cNvSpPr/>
          <p:nvPr/>
        </p:nvSpPr>
        <p:spPr>
          <a:xfrm>
            <a:off x="2940896" y="2857395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g3fa673deee8_6_482"/>
          <p:cNvSpPr txBox="1"/>
          <p:nvPr/>
        </p:nvSpPr>
        <p:spPr>
          <a:xfrm>
            <a:off x="2940935" y="2857395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SIM7080G LTE-M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2" name="Google Shape;1602;g3fa673deee8_6_482"/>
          <p:cNvSpPr/>
          <p:nvPr/>
        </p:nvSpPr>
        <p:spPr>
          <a:xfrm>
            <a:off x="1605761" y="4748604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3" name="Google Shape;1603;g3fa673deee8_6_482"/>
          <p:cNvSpPr txBox="1"/>
          <p:nvPr/>
        </p:nvSpPr>
        <p:spPr>
          <a:xfrm>
            <a:off x="1624050" y="4748604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SALIDA A LA BARRERA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4" name="Google Shape;1604;g3fa673deee8_6_482"/>
          <p:cNvSpPr/>
          <p:nvPr/>
        </p:nvSpPr>
        <p:spPr>
          <a:xfrm>
            <a:off x="2940771" y="4748613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g3fa673deee8_6_482"/>
          <p:cNvSpPr txBox="1"/>
          <p:nvPr/>
        </p:nvSpPr>
        <p:spPr>
          <a:xfrm>
            <a:off x="2940810" y="4748613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Relé 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24V 10A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salida simple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6" name="Google Shape;1606;g3fa673deee8_6_482"/>
          <p:cNvSpPr/>
          <p:nvPr/>
        </p:nvSpPr>
        <p:spPr>
          <a:xfrm>
            <a:off x="1605886" y="3234574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7" name="Google Shape;1607;g3fa673deee8_6_482"/>
          <p:cNvSpPr txBox="1"/>
          <p:nvPr/>
        </p:nvSpPr>
        <p:spPr>
          <a:xfrm>
            <a:off x="1624175" y="3234574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SEÑALIZACIÓN VISUAL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08" name="Google Shape;1608;g3fa673deee8_6_482"/>
          <p:cNvSpPr/>
          <p:nvPr/>
        </p:nvSpPr>
        <p:spPr>
          <a:xfrm>
            <a:off x="2940896" y="3234594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fa673deee8_6_482"/>
          <p:cNvSpPr txBox="1"/>
          <p:nvPr/>
        </p:nvSpPr>
        <p:spPr>
          <a:xfrm>
            <a:off x="2940935" y="3234594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Óptica LED roja de 200 mm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0" name="Google Shape;1610;g3fa673deee8_6_482"/>
          <p:cNvSpPr/>
          <p:nvPr/>
        </p:nvSpPr>
        <p:spPr>
          <a:xfrm>
            <a:off x="1605886" y="3617000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1" name="Google Shape;1611;g3fa673deee8_6_482"/>
          <p:cNvSpPr txBox="1"/>
          <p:nvPr/>
        </p:nvSpPr>
        <p:spPr>
          <a:xfrm>
            <a:off x="1624175" y="3617000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ALIMENTACIÓN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2" name="Google Shape;1612;g3fa673deee8_6_482"/>
          <p:cNvSpPr/>
          <p:nvPr/>
        </p:nvSpPr>
        <p:spPr>
          <a:xfrm>
            <a:off x="2940896" y="3617024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g3fa673deee8_6_482"/>
          <p:cNvSpPr txBox="1"/>
          <p:nvPr/>
        </p:nvSpPr>
        <p:spPr>
          <a:xfrm>
            <a:off x="2940935" y="3617024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Red del cruce 220Vac 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Fuente 24V + 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Baterías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4" name="Google Shape;1614;g3fa673deee8_6_482"/>
          <p:cNvSpPr/>
          <p:nvPr/>
        </p:nvSpPr>
        <p:spPr>
          <a:xfrm>
            <a:off x="1605886" y="3994190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5" name="Google Shape;1615;g3fa673deee8_6_482"/>
          <p:cNvSpPr txBox="1"/>
          <p:nvPr/>
        </p:nvSpPr>
        <p:spPr>
          <a:xfrm>
            <a:off x="1624175" y="3994190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REGISTRO Y VIGILANCIA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6" name="Google Shape;1616;g3fa673deee8_6_482"/>
          <p:cNvSpPr/>
          <p:nvPr/>
        </p:nvSpPr>
        <p:spPr>
          <a:xfrm>
            <a:off x="2940894" y="3994198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g3fa673deee8_6_482"/>
          <p:cNvSpPr txBox="1"/>
          <p:nvPr/>
        </p:nvSpPr>
        <p:spPr>
          <a:xfrm>
            <a:off x="2940935" y="3994198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Flash del ESP32 como buffer y un servidor</a:t>
            </a:r>
            <a:endParaRPr sz="1261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8" name="Google Shape;1618;g3fa673deee8_6_482"/>
          <p:cNvSpPr/>
          <p:nvPr/>
        </p:nvSpPr>
        <p:spPr>
          <a:xfrm>
            <a:off x="1605886" y="4371380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9" name="Google Shape;1619;g3fa673deee8_6_482"/>
          <p:cNvSpPr txBox="1"/>
          <p:nvPr/>
        </p:nvSpPr>
        <p:spPr>
          <a:xfrm>
            <a:off x="1624175" y="4371380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GABINETE Y ANTENA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0" name="Google Shape;1620;g3fa673deee8_6_482"/>
          <p:cNvSpPr/>
          <p:nvPr/>
        </p:nvSpPr>
        <p:spPr>
          <a:xfrm>
            <a:off x="2940896" y="4371397"/>
            <a:ext cx="7644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g3fa673deee8_6_482"/>
          <p:cNvSpPr txBox="1"/>
          <p:nvPr/>
        </p:nvSpPr>
        <p:spPr>
          <a:xfrm>
            <a:off x="2940050" y="4371400"/>
            <a:ext cx="764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IP67 con ensayos IEC 61373 y EN 50155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2" name="Google Shape;1622;g3fa673deee8_6_482"/>
          <p:cNvSpPr/>
          <p:nvPr/>
        </p:nvSpPr>
        <p:spPr>
          <a:xfrm>
            <a:off x="1605624" y="5110167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3" name="Google Shape;1623;g3fa673deee8_6_482"/>
          <p:cNvSpPr txBox="1"/>
          <p:nvPr/>
        </p:nvSpPr>
        <p:spPr>
          <a:xfrm>
            <a:off x="1613426" y="5110167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lang="es-AR" sz="101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EQUIPO DE COMUNICACIÓN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4" name="Google Shape;1624;g3fa673deee8_6_482"/>
          <p:cNvSpPr/>
          <p:nvPr/>
        </p:nvSpPr>
        <p:spPr>
          <a:xfrm>
            <a:off x="2940630" y="5110182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g3fa673deee8_6_482"/>
          <p:cNvSpPr txBox="1"/>
          <p:nvPr/>
        </p:nvSpPr>
        <p:spPr>
          <a:xfrm>
            <a:off x="2939875" y="5110125"/>
            <a:ext cx="382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Raveon RV-M7-GX, 4</a:t>
            </a: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0-480 MHz, 2 W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6" name="Google Shape;1626;g3fa673deee8_6_482"/>
          <p:cNvSpPr/>
          <p:nvPr/>
        </p:nvSpPr>
        <p:spPr>
          <a:xfrm>
            <a:off x="6762946" y="5110182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g3fa673deee8_6_482"/>
          <p:cNvSpPr txBox="1"/>
          <p:nvPr/>
        </p:nvSpPr>
        <p:spPr>
          <a:xfrm>
            <a:off x="6763325" y="5110125"/>
            <a:ext cx="382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Semtech SX1262 a 915 MHz, banda ISM libre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8" name="Google Shape;1628;g3fa673deee8_6_482"/>
          <p:cNvSpPr/>
          <p:nvPr/>
        </p:nvSpPr>
        <p:spPr>
          <a:xfrm>
            <a:off x="1605624" y="5487347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9" name="Google Shape;1629;g3fa673deee8_6_482"/>
          <p:cNvSpPr txBox="1"/>
          <p:nvPr/>
        </p:nvSpPr>
        <p:spPr>
          <a:xfrm>
            <a:off x="1623912" y="5487347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CIRCUITO DE VÍA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0" name="Google Shape;1630;g3fa673deee8_6_482"/>
          <p:cNvSpPr/>
          <p:nvPr/>
        </p:nvSpPr>
        <p:spPr>
          <a:xfrm>
            <a:off x="2940630" y="5487361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g3fa673deee8_6_482"/>
          <p:cNvSpPr txBox="1"/>
          <p:nvPr/>
        </p:nvSpPr>
        <p:spPr>
          <a:xfrm>
            <a:off x="3052612" y="5487361"/>
            <a:ext cx="359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Sensor actual de vía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2" name="Google Shape;1632;g3fa673deee8_6_482"/>
          <p:cNvSpPr/>
          <p:nvPr/>
        </p:nvSpPr>
        <p:spPr>
          <a:xfrm>
            <a:off x="6762946" y="5487361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g3fa673deee8_6_482"/>
          <p:cNvSpPr txBox="1"/>
          <p:nvPr/>
        </p:nvSpPr>
        <p:spPr>
          <a:xfrm>
            <a:off x="6874927" y="5487361"/>
            <a:ext cx="359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Interruptor que simula el estado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4" name="Google Shape;1634;g3fa673deee8_6_482"/>
          <p:cNvSpPr/>
          <p:nvPr/>
        </p:nvSpPr>
        <p:spPr>
          <a:xfrm>
            <a:off x="1605624" y="5864502"/>
            <a:ext cx="1335000" cy="377100"/>
          </a:xfrm>
          <a:prstGeom prst="rect">
            <a:avLst/>
          </a:prstGeom>
          <a:solidFill>
            <a:srgbClr val="F3F7FA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213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5" name="Google Shape;1635;g3fa673deee8_6_482"/>
          <p:cNvSpPr txBox="1"/>
          <p:nvPr/>
        </p:nvSpPr>
        <p:spPr>
          <a:xfrm>
            <a:off x="1623912" y="5864502"/>
            <a:ext cx="1335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3"/>
              <a:buFont typeface="Arial"/>
              <a:buNone/>
            </a:pPr>
            <a:r>
              <a:rPr b="1" i="0" lang="es-AR" sz="101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AVISO SONORO</a:t>
            </a:r>
            <a:endParaRPr b="1" i="0" sz="101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6" name="Google Shape;1636;g3fa673deee8_6_482"/>
          <p:cNvSpPr/>
          <p:nvPr/>
        </p:nvSpPr>
        <p:spPr>
          <a:xfrm>
            <a:off x="2940630" y="5864515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g3fa673deee8_6_482"/>
          <p:cNvSpPr txBox="1"/>
          <p:nvPr/>
        </p:nvSpPr>
        <p:spPr>
          <a:xfrm>
            <a:off x="3052612" y="5864515"/>
            <a:ext cx="359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b="0" i="0" lang="es-AR" sz="126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Bocina industrial IP65, 100 dB a 1 m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8" name="Google Shape;1638;g3fa673deee8_6_482"/>
          <p:cNvSpPr/>
          <p:nvPr/>
        </p:nvSpPr>
        <p:spPr>
          <a:xfrm>
            <a:off x="6762946" y="5864515"/>
            <a:ext cx="3822900" cy="377100"/>
          </a:xfrm>
          <a:prstGeom prst="rect">
            <a:avLst/>
          </a:prstGeom>
          <a:solidFill>
            <a:srgbClr val="FFFFFF"/>
          </a:solidFill>
          <a:ln cap="flat" cmpd="sng" w="192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Font typeface="Arial"/>
              <a:buNone/>
            </a:pPr>
            <a:r>
              <a:t/>
            </a:r>
            <a:endParaRPr b="0" i="0" sz="141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g3fa673deee8_6_482"/>
          <p:cNvSpPr txBox="1"/>
          <p:nvPr/>
        </p:nvSpPr>
        <p:spPr>
          <a:xfrm>
            <a:off x="6874927" y="5864515"/>
            <a:ext cx="359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</a:pPr>
            <a:r>
              <a:rPr lang="es-AR" sz="1261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Amplificador + Parlante</a:t>
            </a:r>
            <a:endParaRPr b="0" i="0" sz="1261" u="none" cap="none" strike="noStrike">
              <a:solidFill>
                <a:srgbClr val="0D2547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3f40500332f_1_96"/>
          <p:cNvSpPr/>
          <p:nvPr/>
        </p:nvSpPr>
        <p:spPr>
          <a:xfrm>
            <a:off x="6307650" y="4389075"/>
            <a:ext cx="5268900" cy="8412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5" name="Google Shape;1645;g3f40500332f_1_96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646" name="Google Shape;1646;g3f40500332f_1_96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3f40500332f_1_96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8" name="Google Shape;1648;g3f40500332f_1_96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g3f40500332f_1_96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g3f40500332f_1_96"/>
          <p:cNvSpPr/>
          <p:nvPr/>
        </p:nvSpPr>
        <p:spPr>
          <a:xfrm>
            <a:off x="612648" y="1207008"/>
            <a:ext cx="3520500" cy="30174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1" name="Google Shape;1651;g3f40500332f_1_96"/>
          <p:cNvSpPr txBox="1"/>
          <p:nvPr/>
        </p:nvSpPr>
        <p:spPr>
          <a:xfrm>
            <a:off x="1758798" y="1370625"/>
            <a:ext cx="1246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SEVERIDAD  S</a:t>
            </a:r>
            <a:endParaRPr/>
          </a:p>
        </p:txBody>
      </p:sp>
      <p:sp>
        <p:nvSpPr>
          <p:cNvPr id="1652" name="Google Shape;1652;g3f40500332f_1_96"/>
          <p:cNvSpPr txBox="1"/>
          <p:nvPr/>
        </p:nvSpPr>
        <p:spPr>
          <a:xfrm>
            <a:off x="1758798" y="1644949"/>
            <a:ext cx="1246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efecto de la falla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3" name="Google Shape;1653;g3f40500332f_1_96"/>
          <p:cNvSpPr/>
          <p:nvPr/>
        </p:nvSpPr>
        <p:spPr>
          <a:xfrm>
            <a:off x="850392" y="1883664"/>
            <a:ext cx="30633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4" name="Google Shape;1654;g3f40500332f_1_96"/>
          <p:cNvSpPr txBox="1"/>
          <p:nvPr/>
        </p:nvSpPr>
        <p:spPr>
          <a:xfrm>
            <a:off x="850392" y="1993392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5" name="Google Shape;1655;g3f40500332f_1_96"/>
          <p:cNvSpPr txBox="1"/>
          <p:nvPr/>
        </p:nvSpPr>
        <p:spPr>
          <a:xfrm>
            <a:off x="1417320" y="1993392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Sin efecto perceptible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6" name="Google Shape;1656;g3f40500332f_1_96"/>
          <p:cNvSpPr txBox="1"/>
          <p:nvPr/>
        </p:nvSpPr>
        <p:spPr>
          <a:xfrm>
            <a:off x="850392" y="2432304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2-3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7" name="Google Shape;1657;g3f40500332f_1_96"/>
          <p:cNvSpPr txBox="1"/>
          <p:nvPr/>
        </p:nvSpPr>
        <p:spPr>
          <a:xfrm>
            <a:off x="1417320" y="2432304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Efecto menor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8" name="Google Shape;1658;g3f40500332f_1_96"/>
          <p:cNvSpPr txBox="1"/>
          <p:nvPr/>
        </p:nvSpPr>
        <p:spPr>
          <a:xfrm>
            <a:off x="850392" y="2871216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4-6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9" name="Google Shape;1659;g3f40500332f_1_96"/>
          <p:cNvSpPr txBox="1"/>
          <p:nvPr/>
        </p:nvSpPr>
        <p:spPr>
          <a:xfrm>
            <a:off x="1417320" y="2871216"/>
            <a:ext cx="24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Efecto moderado, degradación del desempeño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0" name="Google Shape;1660;g3f40500332f_1_96"/>
          <p:cNvSpPr txBox="1"/>
          <p:nvPr/>
        </p:nvSpPr>
        <p:spPr>
          <a:xfrm>
            <a:off x="850392" y="3310128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7-8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1" name="Google Shape;1661;g3f40500332f_1_96"/>
          <p:cNvSpPr txBox="1"/>
          <p:nvPr/>
        </p:nvSpPr>
        <p:spPr>
          <a:xfrm>
            <a:off x="1417320" y="3310128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Pérdida de función primaria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2" name="Google Shape;1662;g3f40500332f_1_96"/>
          <p:cNvSpPr txBox="1"/>
          <p:nvPr/>
        </p:nvSpPr>
        <p:spPr>
          <a:xfrm>
            <a:off x="850392" y="3749039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9-10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3" name="Google Shape;1663;g3f40500332f_1_96"/>
          <p:cNvSpPr txBox="1"/>
          <p:nvPr/>
        </p:nvSpPr>
        <p:spPr>
          <a:xfrm>
            <a:off x="1417320" y="3749039"/>
            <a:ext cx="24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Riesgo de seguridad o incumplimiento normativo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4" name="Google Shape;1664;g3f40500332f_1_96"/>
          <p:cNvSpPr/>
          <p:nvPr/>
        </p:nvSpPr>
        <p:spPr>
          <a:xfrm>
            <a:off x="4334256" y="1207008"/>
            <a:ext cx="3520500" cy="30174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5" name="Google Shape;1665;g3f40500332f_1_96"/>
          <p:cNvSpPr txBox="1"/>
          <p:nvPr/>
        </p:nvSpPr>
        <p:spPr>
          <a:xfrm>
            <a:off x="4572000" y="1371600"/>
            <a:ext cx="306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OCURRENCIA  O</a:t>
            </a:r>
            <a:endParaRPr/>
          </a:p>
        </p:txBody>
      </p:sp>
      <p:sp>
        <p:nvSpPr>
          <p:cNvPr id="1666" name="Google Shape;1666;g3f40500332f_1_96"/>
          <p:cNvSpPr txBox="1"/>
          <p:nvPr/>
        </p:nvSpPr>
        <p:spPr>
          <a:xfrm>
            <a:off x="4572000" y="1645920"/>
            <a:ext cx="306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tasa de fallas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7" name="Google Shape;1667;g3f40500332f_1_96"/>
          <p:cNvSpPr/>
          <p:nvPr/>
        </p:nvSpPr>
        <p:spPr>
          <a:xfrm>
            <a:off x="4572000" y="1883664"/>
            <a:ext cx="30633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8" name="Google Shape;1668;g3f40500332f_1_96"/>
          <p:cNvSpPr txBox="1"/>
          <p:nvPr/>
        </p:nvSpPr>
        <p:spPr>
          <a:xfrm>
            <a:off x="4572000" y="1993392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9" name="Google Shape;1669;g3f40500332f_1_96"/>
          <p:cNvSpPr txBox="1"/>
          <p:nvPr/>
        </p:nvSpPr>
        <p:spPr>
          <a:xfrm>
            <a:off x="4572000" y="2432304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2-3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0" name="Google Shape;1670;g3f40500332f_1_96"/>
          <p:cNvSpPr txBox="1"/>
          <p:nvPr/>
        </p:nvSpPr>
        <p:spPr>
          <a:xfrm>
            <a:off x="5138928" y="1993392"/>
            <a:ext cx="249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Remota, menos de 1 en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⁷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h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1" name="Google Shape;1671;g3f40500332f_1_96"/>
          <p:cNvSpPr txBox="1"/>
          <p:nvPr/>
        </p:nvSpPr>
        <p:spPr>
          <a:xfrm>
            <a:off x="5138928" y="2432304"/>
            <a:ext cx="249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Baja, 1 en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⁵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a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⁷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h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2" name="Google Shape;1672;g3f40500332f_1_96"/>
          <p:cNvSpPr txBox="1"/>
          <p:nvPr/>
        </p:nvSpPr>
        <p:spPr>
          <a:xfrm>
            <a:off x="4572000" y="2871216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4-6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3" name="Google Shape;1673;g3f40500332f_1_96"/>
          <p:cNvSpPr txBox="1"/>
          <p:nvPr/>
        </p:nvSpPr>
        <p:spPr>
          <a:xfrm>
            <a:off x="5138928" y="2871216"/>
            <a:ext cx="249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Moderada, 1 en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³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a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⁵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h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4" name="Google Shape;1674;g3f40500332f_1_96"/>
          <p:cNvSpPr txBox="1"/>
          <p:nvPr/>
        </p:nvSpPr>
        <p:spPr>
          <a:xfrm>
            <a:off x="4572000" y="3310128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7-8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5" name="Google Shape;1675;g3f40500332f_1_96"/>
          <p:cNvSpPr txBox="1"/>
          <p:nvPr/>
        </p:nvSpPr>
        <p:spPr>
          <a:xfrm>
            <a:off x="5138928" y="3310128"/>
            <a:ext cx="249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Alta, 1 en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²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a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³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h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6" name="Google Shape;1676;g3f40500332f_1_96"/>
          <p:cNvSpPr txBox="1"/>
          <p:nvPr/>
        </p:nvSpPr>
        <p:spPr>
          <a:xfrm>
            <a:off x="4572000" y="3749039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9-10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7" name="Google Shape;1677;g3f40500332f_1_96"/>
          <p:cNvSpPr txBox="1"/>
          <p:nvPr/>
        </p:nvSpPr>
        <p:spPr>
          <a:xfrm>
            <a:off x="5138928" y="3749039"/>
            <a:ext cx="249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Muy alta, más de 1 en 10</a:t>
            </a:r>
            <a:r>
              <a:rPr i="0" lang="es-AR" sz="13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²</a:t>
            </a: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h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8" name="Google Shape;1678;g3f40500332f_1_96"/>
          <p:cNvSpPr/>
          <p:nvPr/>
        </p:nvSpPr>
        <p:spPr>
          <a:xfrm>
            <a:off x="8055864" y="1207008"/>
            <a:ext cx="3520500" cy="30174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9" name="Google Shape;1679;g3f40500332f_1_96"/>
          <p:cNvSpPr txBox="1"/>
          <p:nvPr/>
        </p:nvSpPr>
        <p:spPr>
          <a:xfrm>
            <a:off x="8293608" y="1371600"/>
            <a:ext cx="306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DETECCIÓN  D</a:t>
            </a:r>
            <a:endParaRPr/>
          </a:p>
        </p:txBody>
      </p:sp>
      <p:sp>
        <p:nvSpPr>
          <p:cNvPr id="1680" name="Google Shape;1680;g3f40500332f_1_96"/>
          <p:cNvSpPr txBox="1"/>
          <p:nvPr/>
        </p:nvSpPr>
        <p:spPr>
          <a:xfrm>
            <a:off x="8293608" y="1645920"/>
            <a:ext cx="306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escala inversa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1" name="Google Shape;1681;g3f40500332f_1_96"/>
          <p:cNvSpPr/>
          <p:nvPr/>
        </p:nvSpPr>
        <p:spPr>
          <a:xfrm>
            <a:off x="8293608" y="1883664"/>
            <a:ext cx="30633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2" name="Google Shape;1682;g3f40500332f_1_96"/>
          <p:cNvSpPr txBox="1"/>
          <p:nvPr/>
        </p:nvSpPr>
        <p:spPr>
          <a:xfrm>
            <a:off x="8293608" y="1993392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1-2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3" name="Google Shape;1683;g3f40500332f_1_96"/>
          <p:cNvSpPr txBox="1"/>
          <p:nvPr/>
        </p:nvSpPr>
        <p:spPr>
          <a:xfrm>
            <a:off x="8860536" y="1993392"/>
            <a:ext cx="24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Casi certeza de detección antes del usuario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4" name="Google Shape;1684;g3f40500332f_1_96"/>
          <p:cNvSpPr txBox="1"/>
          <p:nvPr/>
        </p:nvSpPr>
        <p:spPr>
          <a:xfrm>
            <a:off x="8293608" y="2432304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3-4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5" name="Google Shape;1685;g3f40500332f_1_96"/>
          <p:cNvSpPr txBox="1"/>
          <p:nvPr/>
        </p:nvSpPr>
        <p:spPr>
          <a:xfrm>
            <a:off x="8860536" y="2432304"/>
            <a:ext cx="24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Alta probabilidad, inspección automática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6" name="Google Shape;1686;g3f40500332f_1_96"/>
          <p:cNvSpPr txBox="1"/>
          <p:nvPr/>
        </p:nvSpPr>
        <p:spPr>
          <a:xfrm>
            <a:off x="8293608" y="2871216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5-6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7" name="Google Shape;1687;g3f40500332f_1_96"/>
          <p:cNvSpPr txBox="1"/>
          <p:nvPr/>
        </p:nvSpPr>
        <p:spPr>
          <a:xfrm>
            <a:off x="8860536" y="2871216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Detección moderada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8" name="Google Shape;1688;g3f40500332f_1_96"/>
          <p:cNvSpPr txBox="1"/>
          <p:nvPr/>
        </p:nvSpPr>
        <p:spPr>
          <a:xfrm>
            <a:off x="8293608" y="3310128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7-8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9" name="Google Shape;1689;g3f40500332f_1_96"/>
          <p:cNvSpPr txBox="1"/>
          <p:nvPr/>
        </p:nvSpPr>
        <p:spPr>
          <a:xfrm>
            <a:off x="8860536" y="3310128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Baja probabilidad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90" name="Google Shape;1690;g3f40500332f_1_96"/>
          <p:cNvSpPr txBox="1"/>
          <p:nvPr/>
        </p:nvSpPr>
        <p:spPr>
          <a:xfrm>
            <a:off x="8293608" y="3749039"/>
            <a:ext cx="50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1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9-10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91" name="Google Shape;1691;g3f40500332f_1_96"/>
          <p:cNvSpPr txBox="1"/>
          <p:nvPr/>
        </p:nvSpPr>
        <p:spPr>
          <a:xfrm>
            <a:off x="8860536" y="3749039"/>
            <a:ext cx="249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1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Virtualmente imposible de detectar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92" name="Google Shape;1692;g3f40500332f_1_96"/>
          <p:cNvSpPr/>
          <p:nvPr/>
        </p:nvSpPr>
        <p:spPr>
          <a:xfrm>
            <a:off x="612648" y="4389120"/>
            <a:ext cx="5349300" cy="8412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g3f40500332f_1_96"/>
          <p:cNvSpPr txBox="1"/>
          <p:nvPr/>
        </p:nvSpPr>
        <p:spPr>
          <a:xfrm>
            <a:off x="868680" y="4535424"/>
            <a:ext cx="4846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RPN  =  S × O × D          1 ≤ RPN ≤ 1000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AR" sz="105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proporción residual de fallas que llega al usuario es proporcional a O × D. El RPN pondera además la severidad.</a:t>
            </a:r>
            <a:endParaRPr/>
          </a:p>
        </p:txBody>
      </p:sp>
      <p:sp>
        <p:nvSpPr>
          <p:cNvPr id="1694" name="Google Shape;1694;g3f40500332f_1_96"/>
          <p:cNvSpPr txBox="1"/>
          <p:nvPr/>
        </p:nvSpPr>
        <p:spPr>
          <a:xfrm>
            <a:off x="6483096" y="4509882"/>
            <a:ext cx="4846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E08A3C"/>
                </a:solidFill>
                <a:latin typeface="Impact"/>
                <a:ea typeface="Impact"/>
                <a:cs typeface="Impact"/>
                <a:sym typeface="Impact"/>
              </a:rPr>
              <a:t>REGLA QUE SE IMPONE EL EQUIPO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AR" sz="1050" u="none" cap="none" strike="noStrik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interviene el diseño con RPN mayor a 100, y siempre que la severidad sea 9 o 10 sin importar el RPN.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5" name="Google Shape;1695;g3f40500332f_1_96"/>
          <p:cNvSpPr/>
          <p:nvPr/>
        </p:nvSpPr>
        <p:spPr>
          <a:xfrm>
            <a:off x="612648" y="5394960"/>
            <a:ext cx="10963800" cy="6585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3f40500332f_1_96"/>
          <p:cNvSpPr txBox="1"/>
          <p:nvPr/>
        </p:nvSpPr>
        <p:spPr>
          <a:xfrm>
            <a:off x="868680" y="5522976"/>
            <a:ext cx="1047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5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La aceptación por RPN bajo no se aplica a la seguridad de las personas. Ese es el único criterio que el equipo agrega a la escala de la cátedra.</a:t>
            </a:r>
            <a:endParaRPr/>
          </a:p>
        </p:txBody>
      </p:sp>
      <p:grpSp>
        <p:nvGrpSpPr>
          <p:cNvPr id="1697" name="Google Shape;1697;g3f40500332f_1_96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698" name="Google Shape;1698;g3f40500332f_1_9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699" name="Google Shape;1699;g3f40500332f_1_96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0" name="Google Shape;1700;g3f40500332f_1_96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701" name="Google Shape;1701;g3f40500332f_1_96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DFMEA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02" name="Google Shape;1702;g3f40500332f_1_96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MÉTODO Y ESCALAS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Google Shape;1707;g3f40500332f_1_15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708" name="Google Shape;1708;g3f40500332f_1_15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3f40500332f_1_15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0" name="Google Shape;1710;g3f40500332f_1_15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g3f40500332f_1_158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g3f40500332f_1_158"/>
          <p:cNvSpPr/>
          <p:nvPr/>
        </p:nvSpPr>
        <p:spPr>
          <a:xfrm>
            <a:off x="612648" y="5555619"/>
            <a:ext cx="10963800" cy="6585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g3f40500332f_1_158"/>
          <p:cNvSpPr txBox="1"/>
          <p:nvPr/>
        </p:nvSpPr>
        <p:spPr>
          <a:xfrm>
            <a:off x="868680" y="5777977"/>
            <a:ext cx="1047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5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Los cinco primeros modos tienen severidad 9 o 10. Ninguno queda aceptado por RPN bajo. RPN acumulado inicial: 472.</a:t>
            </a:r>
            <a:endParaRPr/>
          </a:p>
        </p:txBody>
      </p:sp>
      <p:grpSp>
        <p:nvGrpSpPr>
          <p:cNvPr id="1714" name="Google Shape;1714;g3f40500332f_1_158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715" name="Google Shape;1715;g3f40500332f_1_15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716" name="Google Shape;1716;g3f40500332f_1_15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7" name="Google Shape;1717;g3f40500332f_1_158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718" name="Google Shape;1718;g3f40500332f_1_158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DFMEA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19" name="Google Shape;1719;g3f40500332f_1_158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MODOS CRÍTICOS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0" name="Google Shape;1720;g3f40500332f_1_158"/>
          <p:cNvGraphicFramePr/>
          <p:nvPr/>
        </p:nvGraphicFramePr>
        <p:xfrm>
          <a:off x="612648" y="126364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{35579EA5-3446-4BC5-9467-972D8C772585}</a:tableStyleId>
              </a:tblPr>
              <a:tblGrid>
                <a:gridCol w="1325875"/>
                <a:gridCol w="1691650"/>
                <a:gridCol w="1737350"/>
                <a:gridCol w="1828800"/>
                <a:gridCol w="2651750"/>
                <a:gridCol w="347475"/>
                <a:gridCol w="347475"/>
                <a:gridCol w="347475"/>
                <a:gridCol w="685800"/>
              </a:tblGrid>
              <a:tr h="57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Función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Modo de falla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Efecto de la falla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Causa o mecanismo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Controles actuales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O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RPN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Recepción de beacon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Pérdida de enlace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cruce pierde la posición del tren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Obstrucción del enlace o interferencia en el canal UHF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Timeout 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basado en distancia al paso a nivel y velocidad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Medición de posición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Posición errónea no marcada como inválida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Cálculo de arribo incorrecto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Multitrayecto</a:t>
                      </a: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y pocos satélites visibles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Coherencia entre posición, velocidad y rumbo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57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Señalización peatonal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Falla de la luminaria de no seguro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peatón no recibe la advertencia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Fin de vida del LED o corte de cableado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Realimentación de corriente y aviso acústico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108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57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Procesamiento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Bloqueo del microcontrolador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nodo deja de decidir sin indicarlo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Bloqueo de firmware o corrupción de memoria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Watchdog externo y salida en estado no seguro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57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Alimentación del cruce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Corte prolongado de red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Pérdida completa de la capa PANDA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Corte de distribución o daño en la acometida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Respaldo de 4 h y aviso de batería baja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57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Recepción de beacons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Pérdida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de beacons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 pierde información sobre el tren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Superposición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de mensajes 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Sistema CSMA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5" name="Google Shape;1725;g3f40500332f_1_17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726" name="Google Shape;1726;g3f40500332f_1_17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3f40500332f_1_17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8" name="Google Shape;1728;g3f40500332f_1_17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g3f40500332f_1_17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0" name="Google Shape;1730;g3f40500332f_1_175"/>
          <p:cNvGraphicFramePr/>
          <p:nvPr/>
        </p:nvGraphicFramePr>
        <p:xfrm>
          <a:off x="612648" y="120700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{35579EA5-3446-4BC5-9467-972D8C772585}</a:tableStyleId>
              </a:tblPr>
              <a:tblGrid>
                <a:gridCol w="2377450"/>
                <a:gridCol w="5120650"/>
                <a:gridCol w="658375"/>
                <a:gridCol w="384050"/>
                <a:gridCol w="384050"/>
                <a:gridCol w="384050"/>
                <a:gridCol w="877825"/>
                <a:gridCol w="7772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Modo de falla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Acción de diseño recomendada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RPN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O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RPN nuevo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Mejora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Pérdida de enlace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Segundo receptor con antena diversa y repetición del beacon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40 %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Posición errónea del </a:t>
                      </a:r>
                      <a:r>
                        <a:rPr b="1"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GPS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Validación con modelo de predicción con 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parámetros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previos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Falla de luminaria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Doble cadena de LED con realimentación independiente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108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36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67 %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Bloqueo del microcontrolador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Watchdog externo con reinicio supervisado y registro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67 %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Corte prolongado de red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Autonomía ampliada a 8 h y aviso por umbral de carga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33 %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Pérdida de beacons</a:t>
                      </a:r>
                      <a:endParaRPr b="1"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Sistema SOTDMA con time slots simil AIS radio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b="1"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67 %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1731" name="Google Shape;1731;g3f40500332f_1_175"/>
          <p:cNvSpPr/>
          <p:nvPr/>
        </p:nvSpPr>
        <p:spPr>
          <a:xfrm>
            <a:off x="612648" y="4434840"/>
            <a:ext cx="5349300" cy="7863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g3f40500332f_1_175"/>
          <p:cNvSpPr txBox="1"/>
          <p:nvPr/>
        </p:nvSpPr>
        <p:spPr>
          <a:xfrm>
            <a:off x="868680" y="4581144"/>
            <a:ext cx="484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POR QUÉ NO BAJA LA SEVERIDAD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AR" sz="105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Bajar S exige cambiar el concepto de solución. Un tren sobre el cruce sigue siendo un tren sobre el cruce.</a:t>
            </a:r>
            <a:endParaRPr/>
          </a:p>
        </p:txBody>
      </p:sp>
      <p:sp>
        <p:nvSpPr>
          <p:cNvPr id="1733" name="Google Shape;1733;g3f40500332f_1_175"/>
          <p:cNvSpPr/>
          <p:nvPr/>
        </p:nvSpPr>
        <p:spPr>
          <a:xfrm>
            <a:off x="6227064" y="4434840"/>
            <a:ext cx="5349300" cy="7863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g3f40500332f_1_175"/>
          <p:cNvSpPr txBox="1"/>
          <p:nvPr/>
        </p:nvSpPr>
        <p:spPr>
          <a:xfrm>
            <a:off x="6483096" y="4581144"/>
            <a:ext cx="484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3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QUÉ SÍ CONTROLA EL DISEÑO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AR" sz="105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Ocurrencia por redundancia y derating. Detección por autodiagnóstico e indicadores de funciona o falla.</a:t>
            </a:r>
            <a:endParaRPr/>
          </a:p>
        </p:txBody>
      </p:sp>
      <p:sp>
        <p:nvSpPr>
          <p:cNvPr id="1735" name="Google Shape;1735;g3f40500332f_1_175"/>
          <p:cNvSpPr/>
          <p:nvPr/>
        </p:nvSpPr>
        <p:spPr>
          <a:xfrm>
            <a:off x="3439350" y="5394950"/>
            <a:ext cx="5262000" cy="6585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g3f40500332f_1_175"/>
          <p:cNvSpPr txBox="1"/>
          <p:nvPr/>
        </p:nvSpPr>
        <p:spPr>
          <a:xfrm>
            <a:off x="3127802" y="5628054"/>
            <a:ext cx="5936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5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El RPN acumulado cae de 472 a 224, una reducción del 53 %.</a:t>
            </a:r>
            <a:endParaRPr/>
          </a:p>
        </p:txBody>
      </p:sp>
      <p:grpSp>
        <p:nvGrpSpPr>
          <p:cNvPr id="1737" name="Google Shape;1737;g3f40500332f_1_175"/>
          <p:cNvGrpSpPr/>
          <p:nvPr/>
        </p:nvGrpSpPr>
        <p:grpSpPr>
          <a:xfrm>
            <a:off x="-150" y="-175075"/>
            <a:ext cx="12191758" cy="1139091"/>
            <a:chOff x="0" y="-47625"/>
            <a:chExt cx="4816592" cy="318600"/>
          </a:xfrm>
        </p:grpSpPr>
        <p:sp>
          <p:nvSpPr>
            <p:cNvPr id="1738" name="Google Shape;1738;g3f40500332f_1_17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</p:sp>
        <p:sp>
          <p:nvSpPr>
            <p:cNvPr id="1739" name="Google Shape;1739;g3f40500332f_1_17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0" name="Google Shape;1740;g3f40500332f_1_175"/>
          <p:cNvSpPr/>
          <p:nvPr/>
        </p:nvSpPr>
        <p:spPr>
          <a:xfrm>
            <a:off x="11261402" y="220649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</p:sp>
      <p:sp>
        <p:nvSpPr>
          <p:cNvPr id="1741" name="Google Shape;1741;g3f40500332f_1_175"/>
          <p:cNvSpPr txBox="1"/>
          <p:nvPr/>
        </p:nvSpPr>
        <p:spPr>
          <a:xfrm>
            <a:off x="181650" y="80299"/>
            <a:ext cx="47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DFMEA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42" name="Google Shape;1742;g3f40500332f_1_175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PLAN DE ACCIÓN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7" name="Google Shape;1747;g3f40500332f_1_263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748" name="Google Shape;1748;g3f40500332f_1_263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g3f40500332f_1_263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0" name="Google Shape;1750;g3f40500332f_1_263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751" name="Google Shape;1751;g3f40500332f_1_26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g3f40500332f_1_263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3" name="Google Shape;1753;g3f40500332f_1_263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3f40500332f_1_263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g3f40500332f_1_263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6" name="Google Shape;1756;g3f40500332f_1_263"/>
          <p:cNvGraphicFramePr/>
          <p:nvPr/>
        </p:nvGraphicFramePr>
        <p:xfrm>
          <a:off x="639570" y="138516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{61DA7A9C-3182-4A8C-ABDB-061B2E584B4B}</a:tableStyleId>
              </a:tblPr>
              <a:tblGrid>
                <a:gridCol w="4047425"/>
                <a:gridCol w="1178475"/>
                <a:gridCol w="4356225"/>
                <a:gridCol w="1330475"/>
              </a:tblGrid>
              <a:tr h="56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Tren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tren </a:t>
                      </a:r>
                      <a:r>
                        <a:rPr lang="es-AR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(USD)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Cruce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cruce (USD)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ESP32-S3 de ESPRESSIF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ESP32-S3 de ESPRESSIF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SIM7080G LTE-M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18</a:t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SIM7080G LTE-M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18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Bosch BMI088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Óptica LED roja de 200 mm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u-blox </a:t>
                      </a: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MAX-M10S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18</a:t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Fuente 220Vac/24V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BMS + Batería 18650 x3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</a:t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Raveon RV-M7-GX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Raveon RV-M7-GX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Antena PCTEL MUF4503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Antena PCTEL MUF4503S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38</a:t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Gabinete + otros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Gabinete + otros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14C99A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TOTAL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454</a:t>
                      </a:r>
                      <a:endParaRPr sz="1200">
                        <a:solidFill>
                          <a:schemeClr val="lt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TOTAL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540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1757" name="Google Shape;1757;g3f40500332f_1_263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ECONÓMICA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8" name="Google Shape;1758;g3f40500332f_1_263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COSTO DEL HARDWARE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3" name="Google Shape;1763;g3f8cba3c6d9_1_46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764" name="Google Shape;1764;g3f8cba3c6d9_1_46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g3f8cba3c6d9_1_46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6" name="Google Shape;1766;g3f8cba3c6d9_1_46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767" name="Google Shape;1767;g3f8cba3c6d9_1_4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g3f8cba3c6d9_1_46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9" name="Google Shape;1769;g3f8cba3c6d9_1_46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g3f8cba3c6d9_1_46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g3f8cba3c6d9_1_46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2" name="Google Shape;1772;g3f8cba3c6d9_1_46"/>
          <p:cNvGraphicFramePr/>
          <p:nvPr/>
        </p:nvGraphicFramePr>
        <p:xfrm>
          <a:off x="639570" y="138516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{61DA7A9C-3182-4A8C-ABDB-061B2E584B4B}</a:tableStyleId>
              </a:tblPr>
              <a:tblGrid>
                <a:gridCol w="3231000"/>
                <a:gridCol w="1228700"/>
                <a:gridCol w="1228700"/>
                <a:gridCol w="5224200"/>
              </a:tblGrid>
              <a:tr h="56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Concepto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tren </a:t>
                      </a:r>
                      <a:r>
                        <a:rPr lang="es-AR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(USD)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 cruce (USD)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Qué incluye</a:t>
                      </a:r>
                      <a:endParaRPr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Hardware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 del dispositivo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454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540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nodo cruce suma el kit de señalización, contacto seco y telemetría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Logística, aduana y despacho (30 %)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136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Importación formal a volumen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Puesto en Buenos Aires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590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690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Suma entre Hardware y Logística</a:t>
                      </a:r>
                      <a:endParaRPr sz="1200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Armado, firmware y ensayo en taller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Trabajo previo al despacho de la unidad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Listo para instalar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Total sumado antes de instalar</a:t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Instalación en campo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tren se equipa en taller, el cruce es obra en vía pública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9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Instalado y funcionando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750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900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Instalación completa</a:t>
                      </a:r>
                      <a:endParaRPr sz="12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1773" name="Google Shape;1773;g3f8cba3c6d9_1_46"/>
          <p:cNvSpPr/>
          <p:nvPr/>
        </p:nvSpPr>
        <p:spPr>
          <a:xfrm>
            <a:off x="3558487" y="5033983"/>
            <a:ext cx="5074800" cy="11157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g3f8cba3c6d9_1_46"/>
          <p:cNvSpPr txBox="1"/>
          <p:nvPr/>
        </p:nvSpPr>
        <p:spPr>
          <a:xfrm>
            <a:off x="3695579" y="5214776"/>
            <a:ext cx="480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16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UNIDAD COMERCIAL</a:t>
            </a:r>
            <a:endParaRPr sz="1700"/>
          </a:p>
        </p:txBody>
      </p:sp>
      <p:sp>
        <p:nvSpPr>
          <p:cNvPr id="1775" name="Google Shape;1775;g3f8cba3c6d9_1_46"/>
          <p:cNvSpPr txBox="1"/>
          <p:nvPr/>
        </p:nvSpPr>
        <p:spPr>
          <a:xfrm>
            <a:off x="3768949" y="5542268"/>
            <a:ext cx="480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5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Tomamos un precio de un promedio entre nodos tren y cruce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USD 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825 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 </a:t>
            </a: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Precio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venta</a:t>
            </a: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USD 1.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275</a:t>
            </a: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</a:t>
            </a: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Margen 3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</a:t>
            </a: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%</a:t>
            </a:r>
            <a:endParaRPr/>
          </a:p>
        </p:txBody>
      </p:sp>
      <p:sp>
        <p:nvSpPr>
          <p:cNvPr id="1776" name="Google Shape;1776;g3f8cba3c6d9_1_46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ECONÓMICA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7" name="Google Shape;1777;g3f8cba3c6d9_1_46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COSTO DEL PRODUCTO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2" name="Google Shape;1782;g3f40500332f_1_214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783" name="Google Shape;1783;g3f40500332f_1_214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3f40500332f_1_214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5" name="Google Shape;1785;g3f40500332f_1_214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786" name="Google Shape;1786;g3f40500332f_1_2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3f40500332f_1_214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8" name="Google Shape;1788;g3f40500332f_1_214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g3f40500332f_1_214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g3f40500332f_1_214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g3f40500332f_1_214"/>
          <p:cNvSpPr/>
          <p:nvPr/>
        </p:nvSpPr>
        <p:spPr>
          <a:xfrm>
            <a:off x="612648" y="2100974"/>
            <a:ext cx="5349300" cy="32460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2" name="Google Shape;1792;g3f40500332f_1_214"/>
          <p:cNvSpPr txBox="1"/>
          <p:nvPr/>
        </p:nvSpPr>
        <p:spPr>
          <a:xfrm>
            <a:off x="886968" y="2283854"/>
            <a:ext cx="48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AR" sz="15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COSTO OBJETIVO</a:t>
            </a:r>
            <a:r>
              <a:rPr lang="es-AR" sz="15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:   </a:t>
            </a:r>
            <a:r>
              <a:rPr b="0" i="0" lang="es-AR" sz="15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MÉTODO SUSTRACTIVO</a:t>
            </a:r>
            <a:endParaRPr b="0" i="0" sz="1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93" name="Google Shape;1793;g3f40500332f_1_214"/>
          <p:cNvSpPr/>
          <p:nvPr/>
        </p:nvSpPr>
        <p:spPr>
          <a:xfrm>
            <a:off x="886968" y="2631326"/>
            <a:ext cx="48006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g3f40500332f_1_214"/>
          <p:cNvSpPr txBox="1"/>
          <p:nvPr/>
        </p:nvSpPr>
        <p:spPr>
          <a:xfrm>
            <a:off x="886968" y="2806798"/>
            <a:ext cx="493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Objetivo  =  Precio de Venta  −  Beneficio Objetivo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5" name="Google Shape;1795;g3f40500332f_1_214"/>
          <p:cNvSpPr txBox="1"/>
          <p:nvPr/>
        </p:nvSpPr>
        <p:spPr>
          <a:xfrm>
            <a:off x="886968" y="3289694"/>
            <a:ext cx="278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Precio de venta por cruce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6" name="Google Shape;1796;g3f40500332f_1_214"/>
          <p:cNvSpPr txBox="1"/>
          <p:nvPr/>
        </p:nvSpPr>
        <p:spPr>
          <a:xfrm>
            <a:off x="3611880" y="3289694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1.2</a:t>
            </a:r>
            <a:r>
              <a:rPr b="1"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75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7" name="Google Shape;1797;g3f40500332f_1_214"/>
          <p:cNvSpPr txBox="1"/>
          <p:nvPr/>
        </p:nvSpPr>
        <p:spPr>
          <a:xfrm>
            <a:off x="4919472" y="3289694"/>
            <a:ext cx="100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AR" sz="900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todo incluido</a:t>
            </a:r>
            <a:endParaRPr b="0" i="0" sz="9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8" name="Google Shape;1798;g3f40500332f_1_214"/>
          <p:cNvSpPr txBox="1"/>
          <p:nvPr/>
        </p:nvSpPr>
        <p:spPr>
          <a:xfrm>
            <a:off x="886968" y="3600590"/>
            <a:ext cx="278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Beneficio objetivo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9" name="Google Shape;1799;g3f40500332f_1_214"/>
          <p:cNvSpPr txBox="1"/>
          <p:nvPr/>
        </p:nvSpPr>
        <p:spPr>
          <a:xfrm>
            <a:off x="3611880" y="360059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</a:t>
            </a:r>
            <a:r>
              <a:rPr b="1"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%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0" name="Google Shape;1800;g3f40500332f_1_214"/>
          <p:cNvSpPr txBox="1"/>
          <p:nvPr/>
        </p:nvSpPr>
        <p:spPr>
          <a:xfrm>
            <a:off x="4919472" y="3600590"/>
            <a:ext cx="100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AR" sz="9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referencia del sector</a:t>
            </a:r>
            <a:endParaRPr b="0" i="0" sz="9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1" name="Google Shape;1801;g3f40500332f_1_214"/>
          <p:cNvSpPr txBox="1"/>
          <p:nvPr/>
        </p:nvSpPr>
        <p:spPr>
          <a:xfrm>
            <a:off x="886968" y="4021214"/>
            <a:ext cx="278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objetivo admisible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2" name="Google Shape;1802;g3f40500332f_1_214"/>
          <p:cNvSpPr txBox="1"/>
          <p:nvPr/>
        </p:nvSpPr>
        <p:spPr>
          <a:xfrm>
            <a:off x="3611880" y="4021214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</a:t>
            </a:r>
            <a:r>
              <a:rPr b="1" lang="es-AR" sz="1200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892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3" name="Google Shape;1803;g3f40500332f_1_214"/>
          <p:cNvSpPr txBox="1"/>
          <p:nvPr/>
        </p:nvSpPr>
        <p:spPr>
          <a:xfrm>
            <a:off x="4919472" y="4021214"/>
            <a:ext cx="100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AR" sz="9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techo admisible</a:t>
            </a:r>
            <a:endParaRPr b="0" i="0" sz="9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4" name="Google Shape;1804;g3f40500332f_1_214"/>
          <p:cNvSpPr txBox="1"/>
          <p:nvPr/>
        </p:nvSpPr>
        <p:spPr>
          <a:xfrm>
            <a:off x="886968" y="4862463"/>
            <a:ext cx="278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actual del cruce equipado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5" name="Google Shape;1805;g3f40500332f_1_214"/>
          <p:cNvSpPr txBox="1"/>
          <p:nvPr/>
        </p:nvSpPr>
        <p:spPr>
          <a:xfrm>
            <a:off x="3611880" y="484474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</a:t>
            </a:r>
            <a:r>
              <a:rPr b="1"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825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6" name="Google Shape;1806;g3f40500332f_1_214"/>
          <p:cNvSpPr/>
          <p:nvPr/>
        </p:nvSpPr>
        <p:spPr>
          <a:xfrm>
            <a:off x="6455664" y="2100974"/>
            <a:ext cx="5120700" cy="32460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7" name="Google Shape;1807;g3f40500332f_1_214"/>
          <p:cNvSpPr txBox="1"/>
          <p:nvPr/>
        </p:nvSpPr>
        <p:spPr>
          <a:xfrm>
            <a:off x="6729984" y="2283854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AR" sz="15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MERCADO OBJETIVO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f40500332f_1_214"/>
          <p:cNvSpPr/>
          <p:nvPr/>
        </p:nvSpPr>
        <p:spPr>
          <a:xfrm>
            <a:off x="6729984" y="2631326"/>
            <a:ext cx="45720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f40500332f_1_214"/>
          <p:cNvSpPr txBox="1"/>
          <p:nvPr/>
        </p:nvSpPr>
        <p:spPr>
          <a:xfrm>
            <a:off x="6729984" y="2814206"/>
            <a:ext cx="6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TAM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0" name="Google Shape;1810;g3f40500332f_1_214"/>
          <p:cNvSpPr txBox="1"/>
          <p:nvPr/>
        </p:nvSpPr>
        <p:spPr>
          <a:xfrm>
            <a:off x="7461504" y="2814206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13.843 pasos a nivel activos en el país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1" name="Google Shape;1811;g3f40500332f_1_214"/>
          <p:cNvSpPr txBox="1"/>
          <p:nvPr/>
        </p:nvSpPr>
        <p:spPr>
          <a:xfrm>
            <a:off x="7461504" y="3088526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 total máxima:</a:t>
            </a:r>
            <a:r>
              <a:rPr b="0" i="0" lang="es-AR" sz="12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s-AR" sz="12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16,6M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2" name="Google Shape;1812;g3f40500332f_1_214"/>
          <p:cNvSpPr txBox="1"/>
          <p:nvPr/>
        </p:nvSpPr>
        <p:spPr>
          <a:xfrm>
            <a:off x="6729984" y="3578828"/>
            <a:ext cx="6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SAM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3" name="Google Shape;1813;g3f40500332f_1_214"/>
          <p:cNvSpPr txBox="1"/>
          <p:nvPr/>
        </p:nvSpPr>
        <p:spPr>
          <a:xfrm>
            <a:off x="7461504" y="3578828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1.122 pasos a nivel del AMBA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4" name="Google Shape;1814;g3f40500332f_1_214"/>
          <p:cNvSpPr txBox="1"/>
          <p:nvPr/>
        </p:nvSpPr>
        <p:spPr>
          <a:xfrm>
            <a:off x="7461504" y="3853148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 alcanzable: </a:t>
            </a:r>
            <a:r>
              <a:rPr b="0" i="0" lang="es-AR" sz="12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1,35M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5" name="Google Shape;1815;g3f40500332f_1_214"/>
          <p:cNvSpPr txBox="1"/>
          <p:nvPr/>
        </p:nvSpPr>
        <p:spPr>
          <a:xfrm>
            <a:off x="6729984" y="4330680"/>
            <a:ext cx="6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SOM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6" name="Google Shape;1816;g3f40500332f_1_214"/>
          <p:cNvSpPr txBox="1"/>
          <p:nvPr/>
        </p:nvSpPr>
        <p:spPr>
          <a:xfrm>
            <a:off x="7461504" y="4330680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AR" sz="12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65 </a:t>
            </a:r>
            <a:r>
              <a:rPr b="1" i="0" lang="es-AR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cruces en tres años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7" name="Google Shape;1817;g3f40500332f_1_214"/>
          <p:cNvSpPr txBox="1"/>
          <p:nvPr/>
        </p:nvSpPr>
        <p:spPr>
          <a:xfrm>
            <a:off x="7461504" y="4605000"/>
            <a:ext cx="384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Venta objetivo a tres años</a:t>
            </a:r>
            <a:r>
              <a:rPr b="0" i="0" lang="es-AR" sz="12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: USD </a:t>
            </a:r>
            <a:r>
              <a:rPr lang="es-AR" sz="1200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83</a:t>
            </a:r>
            <a:r>
              <a:rPr b="0" i="0" lang="es-AR" sz="12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k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8" name="Google Shape;1818;g3f40500332f_1_214"/>
          <p:cNvSpPr txBox="1"/>
          <p:nvPr/>
        </p:nvSpPr>
        <p:spPr>
          <a:xfrm>
            <a:off x="6729984" y="5054486"/>
            <a:ext cx="457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AR" sz="1000" u="none" cap="none" strike="noStrike">
                <a:solidFill>
                  <a:srgbClr val="9FB3C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Cantidades: JST, documento para el 15º Congreso ILCAD, 2023.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9" name="Google Shape;1819;g3f40500332f_1_214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ECONÓMICA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0" name="Google Shape;1820;g3f40500332f_1_214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COSTO OBJETIVO Y MERCADO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5" name="Google Shape;1825;g3f40f012909_2_43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826" name="Google Shape;1826;g3f40f012909_2_43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3f40f012909_2_43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8" name="Google Shape;1828;g3f40f012909_2_43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829" name="Google Shape;1829;g3f40f012909_2_4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3f40f012909_2_43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1" name="Google Shape;1831;g3f40f012909_2_43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g3f40f012909_2_43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g3f40f012909_2_43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g3f40f012909_2_43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ECONÓMICA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5" name="Google Shape;1835;g3f40f012909_2_43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INVERSIÓN Y FLUJO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g3f40f012909_2_43"/>
          <p:cNvSpPr/>
          <p:nvPr/>
        </p:nvSpPr>
        <p:spPr>
          <a:xfrm>
            <a:off x="612648" y="1170432"/>
            <a:ext cx="5349300" cy="22404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g3f40f012909_2_43"/>
          <p:cNvSpPr txBox="1"/>
          <p:nvPr/>
        </p:nvSpPr>
        <p:spPr>
          <a:xfrm>
            <a:off x="886968" y="1335024"/>
            <a:ext cx="48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VARIABLES CONSIDERADAS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g3f40f012909_2_43"/>
          <p:cNvSpPr/>
          <p:nvPr/>
        </p:nvSpPr>
        <p:spPr>
          <a:xfrm>
            <a:off x="886968" y="1682496"/>
            <a:ext cx="48006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g3f40f012909_2_43"/>
          <p:cNvSpPr txBox="1"/>
          <p:nvPr/>
        </p:nvSpPr>
        <p:spPr>
          <a:xfrm>
            <a:off x="886968" y="1828800"/>
            <a:ext cx="379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Costo de oportunidad del capital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g3f40f012909_2_43"/>
          <p:cNvSpPr txBox="1"/>
          <p:nvPr/>
        </p:nvSpPr>
        <p:spPr>
          <a:xfrm>
            <a:off x="4681728" y="1828800"/>
            <a:ext cx="100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10 % anual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g3f40f012909_2_43"/>
          <p:cNvSpPr txBox="1"/>
          <p:nvPr/>
        </p:nvSpPr>
        <p:spPr>
          <a:xfrm>
            <a:off x="886968" y="2130552"/>
            <a:ext cx="379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Inflación en dólares, precios y costos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g3f40f012909_2_43"/>
          <p:cNvSpPr txBox="1"/>
          <p:nvPr/>
        </p:nvSpPr>
        <p:spPr>
          <a:xfrm>
            <a:off x="4681728" y="2130552"/>
            <a:ext cx="100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2,5 % anual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g3f40f012909_2_43"/>
          <p:cNvSpPr txBox="1"/>
          <p:nvPr/>
        </p:nvSpPr>
        <p:spPr>
          <a:xfrm>
            <a:off x="886968" y="2432304"/>
            <a:ext cx="379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Tasa combinada de corte  (1+t)(1+p)−1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g3f40f012909_2_43"/>
          <p:cNvSpPr txBox="1"/>
          <p:nvPr/>
        </p:nvSpPr>
        <p:spPr>
          <a:xfrm>
            <a:off x="4681728" y="2432304"/>
            <a:ext cx="100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12,75 %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g3f40f012909_2_43"/>
          <p:cNvSpPr txBox="1"/>
          <p:nvPr/>
        </p:nvSpPr>
        <p:spPr>
          <a:xfrm>
            <a:off x="886968" y="2734056"/>
            <a:ext cx="379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Horizonte, igual al ciclo de vida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g3f40f012909_2_43"/>
          <p:cNvSpPr txBox="1"/>
          <p:nvPr/>
        </p:nvSpPr>
        <p:spPr>
          <a:xfrm>
            <a:off x="4681728" y="2734056"/>
            <a:ext cx="100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10 años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g3f40f012909_2_43"/>
          <p:cNvSpPr txBox="1"/>
          <p:nvPr/>
        </p:nvSpPr>
        <p:spPr>
          <a:xfrm>
            <a:off x="886968" y="3035808"/>
            <a:ext cx="379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Descuento  FCDᵢ = FCᵢ / ((1+t)ⁱ (1+p)ⁱ)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g3f40f012909_2_43"/>
          <p:cNvSpPr/>
          <p:nvPr/>
        </p:nvSpPr>
        <p:spPr>
          <a:xfrm>
            <a:off x="6227064" y="1170432"/>
            <a:ext cx="5349300" cy="22404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g3f40f012909_2_43"/>
          <p:cNvSpPr txBox="1"/>
          <p:nvPr/>
        </p:nvSpPr>
        <p:spPr>
          <a:xfrm>
            <a:off x="6501384" y="1335024"/>
            <a:ext cx="48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INVERSIÓN ESCALONADA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g3f40f012909_2_43"/>
          <p:cNvSpPr/>
          <p:nvPr/>
        </p:nvSpPr>
        <p:spPr>
          <a:xfrm>
            <a:off x="6501384" y="1682496"/>
            <a:ext cx="4800600" cy="13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g3f40f012909_2_43"/>
          <p:cNvSpPr txBox="1"/>
          <p:nvPr/>
        </p:nvSpPr>
        <p:spPr>
          <a:xfrm>
            <a:off x="6501384" y="1828800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Ingeniería de industrialización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g3f40f012909_2_43"/>
          <p:cNvSpPr txBox="1"/>
          <p:nvPr/>
        </p:nvSpPr>
        <p:spPr>
          <a:xfrm>
            <a:off x="10113264" y="1828800"/>
            <a:ext cx="11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12.000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g3f40f012909_2_43"/>
          <p:cNvSpPr txBox="1"/>
          <p:nvPr/>
        </p:nvSpPr>
        <p:spPr>
          <a:xfrm>
            <a:off x="6501384" y="2130552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Gestión de espectro y homologación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g3f40f012909_2_43"/>
          <p:cNvSpPr txBox="1"/>
          <p:nvPr/>
        </p:nvSpPr>
        <p:spPr>
          <a:xfrm>
            <a:off x="10113264" y="2130552"/>
            <a:ext cx="11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g3f40f012909_2_43"/>
          <p:cNvSpPr txBox="1"/>
          <p:nvPr/>
        </p:nvSpPr>
        <p:spPr>
          <a:xfrm>
            <a:off x="6501384" y="2432304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Herramientas</a:t>
            </a:r>
            <a:r>
              <a:rPr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utillaje, </a:t>
            </a: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y capital de trabajo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g3f40f012909_2_43"/>
          <p:cNvSpPr txBox="1"/>
          <p:nvPr/>
        </p:nvSpPr>
        <p:spPr>
          <a:xfrm>
            <a:off x="10113264" y="2432304"/>
            <a:ext cx="11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13.000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g3f40f012909_2_43"/>
          <p:cNvSpPr txBox="1"/>
          <p:nvPr/>
        </p:nvSpPr>
        <p:spPr>
          <a:xfrm>
            <a:off x="6501384" y="2734056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Ensayos y certificación</a:t>
            </a:r>
            <a:r>
              <a:rPr lang="es-AR" sz="1200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</a:t>
            </a:r>
            <a:r>
              <a:rPr b="0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año 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g3f40f012909_2_43"/>
          <p:cNvSpPr txBox="1"/>
          <p:nvPr/>
        </p:nvSpPr>
        <p:spPr>
          <a:xfrm>
            <a:off x="10113264" y="2734056"/>
            <a:ext cx="11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20.000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g3f40f012909_2_43"/>
          <p:cNvSpPr txBox="1"/>
          <p:nvPr/>
        </p:nvSpPr>
        <p:spPr>
          <a:xfrm>
            <a:off x="6501384" y="3035808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Inversión del año 0  (E₀)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g3f40f012909_2_43"/>
          <p:cNvSpPr txBox="1"/>
          <p:nvPr/>
        </p:nvSpPr>
        <p:spPr>
          <a:xfrm>
            <a:off x="10113264" y="3035808"/>
            <a:ext cx="11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14C99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USD 30.000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g3f40f012909_2_43"/>
          <p:cNvSpPr txBox="1"/>
          <p:nvPr/>
        </p:nvSpPr>
        <p:spPr>
          <a:xfrm>
            <a:off x="612648" y="5394960"/>
            <a:ext cx="1096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AR" sz="1050" u="none" cap="none" strike="noStrike">
                <a:solidFill>
                  <a:srgbClr val="55627A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 venden los dos nodos, cruce y tren, más un abono anual de servicio sobre el parque instalado. El despliegue es por línea: cada línea exige equipar todas sus formaciones antes de proteger sus cruces.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g3f40f012909_2_43"/>
          <p:cNvSpPr/>
          <p:nvPr/>
        </p:nvSpPr>
        <p:spPr>
          <a:xfrm>
            <a:off x="612650" y="5806450"/>
            <a:ext cx="10963800" cy="5049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g3f40f012909_2_43"/>
          <p:cNvSpPr txBox="1"/>
          <p:nvPr/>
        </p:nvSpPr>
        <p:spPr>
          <a:xfrm>
            <a:off x="868680" y="5959997"/>
            <a:ext cx="1047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El pozo del año 2 es la certificación de USD 20.000, que se difiere hasta tener contrato y se financia con la caja del propio piloto.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4" name="Google Shape;1864;g3f40f012909_2_43"/>
          <p:cNvGraphicFramePr/>
          <p:nvPr/>
        </p:nvGraphicFramePr>
        <p:xfrm>
          <a:off x="612648" y="35661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{7252F05F-238B-4A98-8644-0C1DA1C0813A}</a:tableStyleId>
              </a:tblPr>
              <a:tblGrid>
                <a:gridCol w="25146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Año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0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Nodos cruce instalados</a:t>
                      </a:r>
                      <a:endParaRPr b="1"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350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400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Nodos tren instalados</a:t>
                      </a:r>
                      <a:endParaRPr b="1"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170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210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Flujo de caja (miles de USD)</a:t>
                      </a:r>
                      <a:endParaRPr b="1"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-30,0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-16,4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9,1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19,9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23,5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39,1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55,0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65,1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70,4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83,0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Flujo descontado acumulado</a:t>
                      </a:r>
                      <a:endParaRPr b="1"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-30,0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-29,1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-42,0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-35,6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-23,3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-10,4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8,6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32,3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57,3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81,2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106,2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9" name="Google Shape;1869;g3f40f012909_2_16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870" name="Google Shape;1870;g3f40f012909_2_16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3f40f012909_2_16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2" name="Google Shape;1872;g3f40f012909_2_165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873" name="Google Shape;1873;g3f40f012909_2_16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g3f40f012909_2_16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5" name="Google Shape;1875;g3f40f012909_2_165"/>
          <p:cNvSpPr txBox="1"/>
          <p:nvPr/>
        </p:nvSpPr>
        <p:spPr>
          <a:xfrm>
            <a:off x="182880" y="77433"/>
            <a:ext cx="658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FLUJO DE CAJA COMPLETO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6" name="Google Shape;1876;g3f40f012909_2_16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f40f012909_2_16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g3f40f012909_2_165"/>
          <p:cNvSpPr txBox="1"/>
          <p:nvPr/>
        </p:nvSpPr>
        <p:spPr>
          <a:xfrm>
            <a:off x="182880" y="572445"/>
            <a:ext cx="59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2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RESPALDO</a:t>
            </a:r>
            <a:endParaRPr sz="2200"/>
          </a:p>
        </p:txBody>
      </p:sp>
      <p:sp>
        <p:nvSpPr>
          <p:cNvPr id="1879" name="Google Shape;1879;g3f40f012909_2_165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0" name="Google Shape;1880;g3f40f012909_2_165"/>
          <p:cNvGraphicFramePr/>
          <p:nvPr/>
        </p:nvGraphicFramePr>
        <p:xfrm>
          <a:off x="614148" y="133098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{7252F05F-238B-4A98-8644-0C1DA1C0813A}</a:tableStyleId>
              </a:tblPr>
              <a:tblGrid>
                <a:gridCol w="25146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  <a:gridCol w="768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Concepto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Nodos cruce nuevos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Nodos tren nuevos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Nodos acumulados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115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180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420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510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590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Venta de equipos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37.925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42.813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76.190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93.548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90.796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127.856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144.722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141.335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130.506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111.687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Abono de servicio </a:t>
                      </a:r>
                      <a:r>
                        <a:rPr b="1" lang="es-AR" sz="1200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 mantenimiento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5.673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14.538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28.147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45.822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64.711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89.151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116.236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143.869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171.275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INGRESOS TOTALES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37.925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48.486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90.728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121.695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136.618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192.567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233.874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257.570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274.375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282.963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de los nodos cruce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(9.225)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(23.639)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(29.076)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(39.737)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(45.822)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(52.186)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(53.491)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(54.828)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(56.199)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(57.604)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de los nodos tren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(15.375)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(3.940)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(20.192)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(20.696)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(12.728)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(30.442)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(40.118)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(36.552)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(28.099)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(14.401)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Costo del servicio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(2.553)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(6.542)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(12.666)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(20.620)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(29.120)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(40.118)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(52.306)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(64.741)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(77.074)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Estructura fija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(12.300)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(14.709)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(25.845)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(28.699)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(33.942)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(41.749)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(45.170)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(48.736)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(54.950)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(58.884)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EGRESOS TOTALES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(36.900)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(44.841)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(81.655)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(101.799)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(113.113)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(153.497)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(178.897)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(192.422)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(203.989)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(207.963)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5B0F00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Flujo operativo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1.025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3.646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9.073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19.896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23.505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39.070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54.977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65.148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70.386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75.000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Inversión y valor residual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(30.000)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(20.000)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-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8.000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FLUJO DE CAJA  (FC)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(30.000)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1.025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(16.354)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9.073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19.896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23.505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39.070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54.977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65.148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70.386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83.000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Flujo descontado  (FCD)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(30.000)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909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(12.865)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6.330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12.311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12.900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19.017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23.734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24.944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23.902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24.998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FCD acumulado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(30.000)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(29.091)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(41.956)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(35.626)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(23.314)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(10.415)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8.602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32.336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57.280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81.182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106.181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274E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5" name="Google Shape;1885;g3f40f012909_2_255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886" name="Google Shape;1886;g3f40f012909_2_255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g3f40f012909_2_255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8" name="Google Shape;1888;g3f40f012909_2_255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889" name="Google Shape;1889;g3f40f012909_2_25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g3f40f012909_2_255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1" name="Google Shape;1891;g3f40f012909_2_255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g3f40f012909_2_255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g3f40f012909_2_255"/>
          <p:cNvSpPr/>
          <p:nvPr/>
        </p:nvSpPr>
        <p:spPr>
          <a:xfrm>
            <a:off x="11329302" y="233778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g3f40f012909_2_255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ECONÓMICA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5" name="Google Shape;1895;g3f40f012909_2_255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RENTABILIDAD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6" name="Google Shape;1896;g3f40f012909_2_255"/>
          <p:cNvGraphicFramePr/>
          <p:nvPr/>
        </p:nvGraphicFramePr>
        <p:xfrm>
          <a:off x="612648" y="166849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{7252F05F-238B-4A98-8644-0C1DA1C0813A}</a:tableStyleId>
              </a:tblPr>
              <a:tblGrid>
                <a:gridCol w="3794750"/>
                <a:gridCol w="1600200"/>
                <a:gridCol w="4288525"/>
                <a:gridCol w="12801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Indicador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Valor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Criterio de aceptación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Veredicto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VAN · Valor Actual Neto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USD 106.181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Mayor a cero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TIR · Tasa Interna de Retorno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37,6 %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Mayor a la tasa combinada de corte, 12,75 %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TIRM:  TIR modificada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27,7 %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Mayor a la tasa combinada de corte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TRI:  Tiempo de retorno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4,7 años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Dentro del ciclo de vida del producto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TRI descontado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5,5 años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Dentro del ciclo de vida del producto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RCBB:  Relación costo-beneficio bruta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1,16x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Mayor a uno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RCBN:  Relación costo-beneficio neta</a:t>
                      </a:r>
                      <a:endParaRPr sz="1200" u="none" cap="none" strike="noStrike">
                        <a:solidFill>
                          <a:srgbClr val="EAF1F7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2,32x</a:t>
                      </a:r>
                      <a:endParaRPr sz="1200" u="none" cap="none" strike="noStrike">
                        <a:solidFill>
                          <a:srgbClr val="14C99A"/>
                        </a:solidFill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Mayor a cero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Cumple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97" name="Google Shape;1897;g3f40f012909_2_255"/>
          <p:cNvGraphicFramePr/>
          <p:nvPr/>
        </p:nvGraphicFramePr>
        <p:xfrm>
          <a:off x="612648" y="499957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{7252F05F-238B-4A98-8644-0C1DA1C0813A}</a:tableStyleId>
              </a:tblPr>
              <a:tblGrid>
                <a:gridCol w="2514600"/>
                <a:gridCol w="1207000"/>
                <a:gridCol w="1207000"/>
                <a:gridCol w="1207000"/>
                <a:gridCol w="1207000"/>
                <a:gridCol w="1207000"/>
                <a:gridCol w="1207000"/>
                <a:gridCol w="12070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Tasa de descuento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10,75 %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12,75 %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15 %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18 %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22 %</a:t>
                      </a:r>
                      <a:endParaRPr sz="1400" u="none" cap="none" strike="noStrike"/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14C99A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VAN (miles de USD)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190,3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160,3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126,4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106,2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86,9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66,0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44,4</a:t>
                      </a:r>
                      <a:endParaRPr sz="1200" u="none" cap="none" strike="noStrike"/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2" name="Google Shape;1902;g3f40500332f_1_281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903" name="Google Shape;1903;g3f40500332f_1_281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g3f40500332f_1_281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5" name="Google Shape;1905;g3f40500332f_1_281"/>
          <p:cNvGrpSpPr/>
          <p:nvPr/>
        </p:nvGrpSpPr>
        <p:grpSpPr>
          <a:xfrm>
            <a:off x="0" y="-173737"/>
            <a:ext cx="12191758" cy="1143009"/>
            <a:chOff x="0" y="-47625"/>
            <a:chExt cx="4816592" cy="318600"/>
          </a:xfrm>
        </p:grpSpPr>
        <p:sp>
          <p:nvSpPr>
            <p:cNvPr id="1906" name="Google Shape;1906;g3f40500332f_1_28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g3f40500332f_1_281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8" name="Google Shape;1908;g3f40500332f_1_281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g3f40500332f_1_281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g3f40500332f_1_281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f40500332f_1_281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LEGAL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12" name="Google Shape;1912;g3f40500332f_1_281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MARCO NORMATIVO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3" name="Google Shape;1913;g3f40500332f_1_281"/>
          <p:cNvGraphicFramePr/>
          <p:nvPr/>
        </p:nvGraphicFramePr>
        <p:xfrm>
          <a:off x="612648" y="138580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{7252F05F-238B-4A98-8644-0C1DA1C0813A}</a:tableStyleId>
              </a:tblPr>
              <a:tblGrid>
                <a:gridCol w="2148850"/>
                <a:gridCol w="4023350"/>
                <a:gridCol w="4791450"/>
              </a:tblGrid>
              <a:tr h="6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Marco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Qué exige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AR" sz="14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Situación de PANDA</a:t>
                      </a:r>
                      <a:endParaRPr sz="1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14C99A"/>
                    </a:solidFill>
                  </a:tcPr>
                </a:tc>
              </a:tr>
              <a:tr h="70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F1F5F9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SETOP 7/81</a:t>
                      </a:r>
                      <a:endParaRPr sz="1200" u="none" cap="none" strike="noStrike">
                        <a:solidFill>
                          <a:srgbClr val="F1F5F9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Fija el tiempo mínimo de cierre a partir de la velocidad de tabla y exige aviso acústico y visual antes del descenso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PANDA respeta ese mínimo y solo puede anticiparlo. </a:t>
                      </a:r>
                      <a:endParaRPr sz="1200" u="none" cap="none" strike="noStrike">
                        <a:solidFill>
                          <a:srgbClr val="EAF1F7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art. 6.1.12 admite alternativas que mejoren la fiabilidad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6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F1F5F9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Ley 26.352</a:t>
                      </a:r>
                      <a:endParaRPr sz="1200" u="none" cap="none" strike="noStrike">
                        <a:solidFill>
                          <a:srgbClr val="F1F5F9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ADIFSE administra la infraestructura y los sistemas de control de circulación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cliente contractual es ADIFSE, incluido el nodo que vive arriba del tren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6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F1F5F9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ENACOM · CABFRA 2024 y Res. 1132/2023</a:t>
                      </a:r>
                      <a:endParaRPr sz="1200" u="none" cap="none" strike="noStrike">
                        <a:solidFill>
                          <a:srgbClr val="F1F5F9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uso exclusivo de una frecuencia exige asignación. La 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B</a:t>
                      </a: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anda de 902 a 928 MHz es de uso compartido, sin licencia individua</a:t>
                      </a:r>
                      <a:r>
                        <a:rPr lang="es-AR" sz="12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Dispositivo real en 460 a 463,7625 MHz, atribuida a móvil terrestre, bajo la figura MEVHF con titularidad de ADIFSE. Prototipo en 915 MHz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6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F1F5F9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CNRT Res. 1244/2014</a:t>
                      </a:r>
                      <a:endParaRPr sz="1200" u="none" cap="none" strike="noStrike">
                        <a:solidFill>
                          <a:srgbClr val="F1F5F9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Obliga a los servicios ferroviarios del AMBA a operar sus radiocomunicaciones móviles sobre TETRA en 800 MHz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PANDA no es comunicación operativa. Se mantiene fuera de la red del operador para preservar la independencia de modos de falla del 1oo2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  <a:tr h="62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AR" sz="1200" u="none" cap="none" strike="noStrike">
                          <a:solidFill>
                            <a:srgbClr val="F1F5F9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IEC 61373, EN 50155, EN 50124-1, IEC 60529</a:t>
                      </a:r>
                      <a:endParaRPr sz="1200" u="none" cap="none" strike="noStrike">
                        <a:solidFill>
                          <a:srgbClr val="F1F5F9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Ensayos de vibración, temperatura y grado de protección, y coordinación de aislación para equipamiento ferroviario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AR" sz="12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Tomados como requerimientos R-18 a R-21. La aislación de la salida a la barrera se deriva de EN 50124-1</a:t>
                      </a:r>
                      <a:endParaRPr sz="12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8300" marB="18300" marR="54875" marL="54875" anchor="ctr"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1914" name="Google Shape;1914;g3f40500332f_1_281"/>
          <p:cNvSpPr/>
          <p:nvPr/>
        </p:nvSpPr>
        <p:spPr>
          <a:xfrm>
            <a:off x="612648" y="5317721"/>
            <a:ext cx="10963800" cy="731400"/>
          </a:xfrm>
          <a:prstGeom prst="roundRect">
            <a:avLst>
              <a:gd fmla="val 4000" name="adj"/>
            </a:avLst>
          </a:prstGeom>
          <a:solidFill>
            <a:srgbClr val="0A1F3C"/>
          </a:solidFill>
          <a:ln cap="flat" cmpd="sng" w="12700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g3f40500332f_1_281"/>
          <p:cNvSpPr txBox="1"/>
          <p:nvPr/>
        </p:nvSpPr>
        <p:spPr>
          <a:xfrm>
            <a:off x="868680" y="5436593"/>
            <a:ext cx="1047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AR" sz="125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Ninguna instancia regulatoria bloquea el desarrollo del prototipo. La asignación de espectro y la homologación del equipo pertenecen a la etapa de despliegue y son responsabilidad del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0" name="Google Shape;1920;g3f40500332f_1_298"/>
          <p:cNvGrpSpPr/>
          <p:nvPr/>
        </p:nvGrpSpPr>
        <p:grpSpPr>
          <a:xfrm>
            <a:off x="0" y="6512948"/>
            <a:ext cx="12191758" cy="345055"/>
            <a:chOff x="0" y="-47625"/>
            <a:chExt cx="4816592" cy="185185"/>
          </a:xfrm>
        </p:grpSpPr>
        <p:sp>
          <p:nvSpPr>
            <p:cNvPr id="1921" name="Google Shape;1921;g3f40500332f_1_298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g3f40500332f_1_298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3" name="Google Shape;1923;g3f40500332f_1_298"/>
          <p:cNvSpPr txBox="1"/>
          <p:nvPr/>
        </p:nvSpPr>
        <p:spPr>
          <a:xfrm>
            <a:off x="168873" y="77433"/>
            <a:ext cx="658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DE TIEMPOS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24" name="Google Shape;1924;g3f40500332f_1_298"/>
          <p:cNvSpPr txBox="1"/>
          <p:nvPr/>
        </p:nvSpPr>
        <p:spPr>
          <a:xfrm>
            <a:off x="181654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AR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5" name="Google Shape;1925;g3f40500332f_1_298"/>
          <p:cNvGrpSpPr/>
          <p:nvPr/>
        </p:nvGrpSpPr>
        <p:grpSpPr>
          <a:xfrm>
            <a:off x="0" y="-186508"/>
            <a:ext cx="12191758" cy="1143009"/>
            <a:chOff x="0" y="-47625"/>
            <a:chExt cx="4816592" cy="318600"/>
          </a:xfrm>
        </p:grpSpPr>
        <p:sp>
          <p:nvSpPr>
            <p:cNvPr id="1926" name="Google Shape;1926;g3f40500332f_1_29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g3f40500332f_1_298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8" name="Google Shape;1928;g3f40500332f_1_298"/>
          <p:cNvSpPr txBox="1"/>
          <p:nvPr/>
        </p:nvSpPr>
        <p:spPr>
          <a:xfrm>
            <a:off x="8758022" y="6603231"/>
            <a:ext cx="325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g3f40500332f_1_298"/>
          <p:cNvSpPr/>
          <p:nvPr/>
        </p:nvSpPr>
        <p:spPr>
          <a:xfrm>
            <a:off x="11329302" y="221007"/>
            <a:ext cx="568823" cy="501554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g3f40500332f_1_298"/>
          <p:cNvSpPr txBox="1"/>
          <p:nvPr/>
        </p:nvSpPr>
        <p:spPr>
          <a:xfrm>
            <a:off x="181650" y="80300"/>
            <a:ext cx="5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AR" sz="3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FACTIBILIDAD DE TIEMPOS</a:t>
            </a:r>
            <a:endParaRPr b="0" i="0" sz="3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1" name="Google Shape;1931;g3f40500332f_1_298"/>
          <p:cNvSpPr txBox="1"/>
          <p:nvPr/>
        </p:nvSpPr>
        <p:spPr>
          <a:xfrm>
            <a:off x="98171" y="488178"/>
            <a:ext cx="531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DIAGRAMA DE GANTT</a:t>
            </a:r>
            <a:endParaRPr b="0" i="0" sz="2200" u="none" cap="none" strike="noStrike">
              <a:solidFill>
                <a:srgbClr val="14C9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g3f40500332f_1_298"/>
          <p:cNvSpPr/>
          <p:nvPr/>
        </p:nvSpPr>
        <p:spPr>
          <a:xfrm>
            <a:off x="6146267" y="5546425"/>
            <a:ext cx="5553900" cy="8442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g3f40500332f_1_298"/>
          <p:cNvSpPr/>
          <p:nvPr/>
        </p:nvSpPr>
        <p:spPr>
          <a:xfrm>
            <a:off x="3369755" y="1067420"/>
            <a:ext cx="2705700" cy="284700"/>
          </a:xfrm>
          <a:prstGeom prst="rect">
            <a:avLst/>
          </a:prstGeom>
          <a:solidFill>
            <a:srgbClr val="2B3F5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g3f40500332f_1_298"/>
          <p:cNvSpPr txBox="1"/>
          <p:nvPr/>
        </p:nvSpPr>
        <p:spPr>
          <a:xfrm>
            <a:off x="3360262" y="1124382"/>
            <a:ext cx="27249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b="1" i="0" lang="es-AR" sz="934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SEPTIEMBRE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g3f40500332f_1_298"/>
          <p:cNvSpPr/>
          <p:nvPr/>
        </p:nvSpPr>
        <p:spPr>
          <a:xfrm>
            <a:off x="6094462" y="1067420"/>
            <a:ext cx="2160600" cy="284700"/>
          </a:xfrm>
          <a:prstGeom prst="rect">
            <a:avLst/>
          </a:prstGeom>
          <a:solidFill>
            <a:srgbClr val="1B3A63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g3f40500332f_1_298"/>
          <p:cNvSpPr txBox="1"/>
          <p:nvPr/>
        </p:nvSpPr>
        <p:spPr>
          <a:xfrm>
            <a:off x="6084968" y="1124382"/>
            <a:ext cx="21798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b="1" i="0" lang="es-AR" sz="934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OCTUBRE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g3f40500332f_1_298"/>
          <p:cNvSpPr/>
          <p:nvPr/>
        </p:nvSpPr>
        <p:spPr>
          <a:xfrm>
            <a:off x="8274227" y="1067420"/>
            <a:ext cx="2160600" cy="284700"/>
          </a:xfrm>
          <a:prstGeom prst="rect">
            <a:avLst/>
          </a:prstGeom>
          <a:solidFill>
            <a:srgbClr val="2B3F5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g3f40500332f_1_298"/>
          <p:cNvSpPr txBox="1"/>
          <p:nvPr/>
        </p:nvSpPr>
        <p:spPr>
          <a:xfrm>
            <a:off x="8264735" y="1124382"/>
            <a:ext cx="21798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b="1" i="0" lang="es-AR" sz="934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NOVIEMBRE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g3f40500332f_1_298"/>
          <p:cNvSpPr/>
          <p:nvPr/>
        </p:nvSpPr>
        <p:spPr>
          <a:xfrm>
            <a:off x="10462847" y="1067425"/>
            <a:ext cx="1017000" cy="284700"/>
          </a:xfrm>
          <a:prstGeom prst="rect">
            <a:avLst/>
          </a:prstGeom>
          <a:solidFill>
            <a:srgbClr val="1B3A63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g3f40500332f_1_298"/>
          <p:cNvSpPr txBox="1"/>
          <p:nvPr/>
        </p:nvSpPr>
        <p:spPr>
          <a:xfrm>
            <a:off x="10444499" y="1124387"/>
            <a:ext cx="1053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b="1" i="0" lang="es-AR" sz="934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DIC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g3f40500332f_1_298"/>
          <p:cNvSpPr/>
          <p:nvPr/>
        </p:nvSpPr>
        <p:spPr>
          <a:xfrm>
            <a:off x="3375450" y="1485150"/>
            <a:ext cx="8104500" cy="336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g3f40500332f_1_298"/>
          <p:cNvSpPr txBox="1"/>
          <p:nvPr/>
        </p:nvSpPr>
        <p:spPr>
          <a:xfrm>
            <a:off x="232734" y="1570588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Cierre de arquitectura y especificaciones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g3f40500332f_1_298"/>
          <p:cNvSpPr/>
          <p:nvPr/>
        </p:nvSpPr>
        <p:spPr>
          <a:xfrm>
            <a:off x="3375449" y="1551600"/>
            <a:ext cx="15888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3f40500332f_1_298"/>
          <p:cNvSpPr txBox="1"/>
          <p:nvPr/>
        </p:nvSpPr>
        <p:spPr>
          <a:xfrm>
            <a:off x="3372308" y="1575526"/>
            <a:ext cx="1595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g3f40500332f_1_298"/>
          <p:cNvSpPr txBox="1"/>
          <p:nvPr/>
        </p:nvSpPr>
        <p:spPr>
          <a:xfrm>
            <a:off x="232734" y="1907615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Compra e importación de componentes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g3f40500332f_1_298"/>
          <p:cNvSpPr/>
          <p:nvPr/>
        </p:nvSpPr>
        <p:spPr>
          <a:xfrm>
            <a:off x="4193772" y="1888625"/>
            <a:ext cx="2397600" cy="204000"/>
          </a:xfrm>
          <a:prstGeom prst="roundRect">
            <a:avLst>
              <a:gd fmla="val 25000" name="adj"/>
            </a:avLst>
          </a:prstGeom>
          <a:solidFill>
            <a:srgbClr val="E08A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g3f40500332f_1_298"/>
          <p:cNvSpPr txBox="1"/>
          <p:nvPr/>
        </p:nvSpPr>
        <p:spPr>
          <a:xfrm>
            <a:off x="4189074" y="1926726"/>
            <a:ext cx="24069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g3f40500332f_1_298"/>
          <p:cNvSpPr/>
          <p:nvPr/>
        </p:nvSpPr>
        <p:spPr>
          <a:xfrm>
            <a:off x="3375450" y="2159206"/>
            <a:ext cx="8104500" cy="336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g3f40500332f_1_298"/>
          <p:cNvSpPr txBox="1"/>
          <p:nvPr/>
        </p:nvSpPr>
        <p:spPr>
          <a:xfrm>
            <a:off x="232734" y="2244644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Diseño de PCB e ingeniería de detalle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g3f40500332f_1_298"/>
          <p:cNvSpPr/>
          <p:nvPr/>
        </p:nvSpPr>
        <p:spPr>
          <a:xfrm>
            <a:off x="4664987" y="2225650"/>
            <a:ext cx="19353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g3f40500332f_1_298"/>
          <p:cNvSpPr txBox="1"/>
          <p:nvPr/>
        </p:nvSpPr>
        <p:spPr>
          <a:xfrm>
            <a:off x="4661174" y="2263751"/>
            <a:ext cx="19428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g3f40500332f_1_298"/>
          <p:cNvSpPr txBox="1"/>
          <p:nvPr/>
        </p:nvSpPr>
        <p:spPr>
          <a:xfrm>
            <a:off x="232734" y="2581671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Firmware de adquisición y beacon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g3f40500332f_1_298"/>
          <p:cNvSpPr/>
          <p:nvPr/>
        </p:nvSpPr>
        <p:spPr>
          <a:xfrm>
            <a:off x="5001972" y="2562682"/>
            <a:ext cx="26763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g3f40500332f_1_298"/>
          <p:cNvSpPr txBox="1"/>
          <p:nvPr/>
        </p:nvSpPr>
        <p:spPr>
          <a:xfrm>
            <a:off x="4996734" y="2600783"/>
            <a:ext cx="26868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g3f40500332f_1_298"/>
          <p:cNvSpPr/>
          <p:nvPr/>
        </p:nvSpPr>
        <p:spPr>
          <a:xfrm>
            <a:off x="3375450" y="2833262"/>
            <a:ext cx="8104500" cy="336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g3f40500332f_1_298"/>
          <p:cNvSpPr txBox="1"/>
          <p:nvPr/>
        </p:nvSpPr>
        <p:spPr>
          <a:xfrm>
            <a:off x="232734" y="2918699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Firmware de decisión y lógica fail-safe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g3f40500332f_1_298"/>
          <p:cNvSpPr/>
          <p:nvPr/>
        </p:nvSpPr>
        <p:spPr>
          <a:xfrm>
            <a:off x="6089472" y="2899711"/>
            <a:ext cx="26763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g3f40500332f_1_298"/>
          <p:cNvSpPr txBox="1"/>
          <p:nvPr/>
        </p:nvSpPr>
        <p:spPr>
          <a:xfrm>
            <a:off x="6062240" y="2956862"/>
            <a:ext cx="26868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g3f40500332f_1_298"/>
          <p:cNvSpPr txBox="1"/>
          <p:nvPr/>
        </p:nvSpPr>
        <p:spPr>
          <a:xfrm>
            <a:off x="232734" y="3255726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Fabricación y ensamblado del PCB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g3f40500332f_1_298"/>
          <p:cNvSpPr/>
          <p:nvPr/>
        </p:nvSpPr>
        <p:spPr>
          <a:xfrm>
            <a:off x="6858700" y="3236750"/>
            <a:ext cx="1926000" cy="204000"/>
          </a:xfrm>
          <a:prstGeom prst="roundRect">
            <a:avLst>
              <a:gd fmla="val 25000" name="adj"/>
            </a:avLst>
          </a:prstGeom>
          <a:solidFill>
            <a:srgbClr val="E08A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g3f40500332f_1_298"/>
          <p:cNvSpPr txBox="1"/>
          <p:nvPr/>
        </p:nvSpPr>
        <p:spPr>
          <a:xfrm>
            <a:off x="6940108" y="3274826"/>
            <a:ext cx="19335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4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g3f40500332f_1_298"/>
          <p:cNvSpPr/>
          <p:nvPr/>
        </p:nvSpPr>
        <p:spPr>
          <a:xfrm>
            <a:off x="3375450" y="3507319"/>
            <a:ext cx="8104500" cy="336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g3f40500332f_1_298"/>
          <p:cNvSpPr txBox="1"/>
          <p:nvPr/>
        </p:nvSpPr>
        <p:spPr>
          <a:xfrm>
            <a:off x="232734" y="3592755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Ensayo de alcance en campo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g3f40500332f_1_298"/>
          <p:cNvSpPr/>
          <p:nvPr/>
        </p:nvSpPr>
        <p:spPr>
          <a:xfrm>
            <a:off x="7715995" y="3573767"/>
            <a:ext cx="1588800" cy="204000"/>
          </a:xfrm>
          <a:prstGeom prst="roundRect">
            <a:avLst>
              <a:gd fmla="val 25000" name="adj"/>
            </a:avLst>
          </a:prstGeom>
          <a:solidFill>
            <a:srgbClr val="E08A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g3f40500332f_1_298"/>
          <p:cNvSpPr txBox="1"/>
          <p:nvPr/>
        </p:nvSpPr>
        <p:spPr>
          <a:xfrm>
            <a:off x="7712841" y="3611867"/>
            <a:ext cx="1595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3f40500332f_1_298"/>
          <p:cNvSpPr txBox="1"/>
          <p:nvPr/>
        </p:nvSpPr>
        <p:spPr>
          <a:xfrm>
            <a:off x="232734" y="3929782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Puesta en marcha de la placa propia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g3f40500332f_1_298"/>
          <p:cNvSpPr/>
          <p:nvPr/>
        </p:nvSpPr>
        <p:spPr>
          <a:xfrm>
            <a:off x="8803495" y="3910794"/>
            <a:ext cx="10494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g3f40500332f_1_298"/>
          <p:cNvSpPr txBox="1"/>
          <p:nvPr/>
        </p:nvSpPr>
        <p:spPr>
          <a:xfrm>
            <a:off x="8765772" y="3948883"/>
            <a:ext cx="10536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g3f40500332f_1_298"/>
          <p:cNvSpPr/>
          <p:nvPr/>
        </p:nvSpPr>
        <p:spPr>
          <a:xfrm>
            <a:off x="3375450" y="4181375"/>
            <a:ext cx="8104500" cy="336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g3f40500332f_1_298"/>
          <p:cNvSpPr txBox="1"/>
          <p:nvPr/>
        </p:nvSpPr>
        <p:spPr>
          <a:xfrm>
            <a:off x="232734" y="4266810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Banco de pruebas e integración con la barrera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g3f40500332f_1_298"/>
          <p:cNvSpPr/>
          <p:nvPr/>
        </p:nvSpPr>
        <p:spPr>
          <a:xfrm>
            <a:off x="9351974" y="4247822"/>
            <a:ext cx="15888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g3f40500332f_1_298"/>
          <p:cNvSpPr txBox="1"/>
          <p:nvPr/>
        </p:nvSpPr>
        <p:spPr>
          <a:xfrm>
            <a:off x="9375510" y="4285923"/>
            <a:ext cx="1595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g3f40500332f_1_298"/>
          <p:cNvSpPr txBox="1"/>
          <p:nvPr/>
        </p:nvSpPr>
        <p:spPr>
          <a:xfrm>
            <a:off x="232734" y="4603838"/>
            <a:ext cx="3085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6"/>
              <a:buFont typeface="Arial"/>
              <a:buNone/>
            </a:pPr>
            <a:r>
              <a:rPr b="0" i="0" lang="es-AR" sz="986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Documentación e informe final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g3f40500332f_1_298"/>
          <p:cNvSpPr/>
          <p:nvPr/>
        </p:nvSpPr>
        <p:spPr>
          <a:xfrm>
            <a:off x="9375504" y="4584851"/>
            <a:ext cx="1595100" cy="204000"/>
          </a:xfrm>
          <a:prstGeom prst="roundRect">
            <a:avLst>
              <a:gd fmla="val 25000" name="adj"/>
            </a:avLst>
          </a:prstGeom>
          <a:solidFill>
            <a:srgbClr val="14C99A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g3f40500332f_1_298"/>
          <p:cNvSpPr txBox="1"/>
          <p:nvPr/>
        </p:nvSpPr>
        <p:spPr>
          <a:xfrm>
            <a:off x="9378646" y="4613450"/>
            <a:ext cx="15888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A1F3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sem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g3f40500332f_1_298"/>
          <p:cNvSpPr/>
          <p:nvPr/>
        </p:nvSpPr>
        <p:spPr>
          <a:xfrm>
            <a:off x="4166282" y="1371220"/>
            <a:ext cx="22800" cy="348420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g3f40500332f_1_298"/>
          <p:cNvSpPr/>
          <p:nvPr/>
        </p:nvSpPr>
        <p:spPr>
          <a:xfrm>
            <a:off x="4092231" y="4836435"/>
            <a:ext cx="171000" cy="171000"/>
          </a:xfrm>
          <a:prstGeom prst="diamond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g3f40500332f_1_298"/>
          <p:cNvSpPr txBox="1"/>
          <p:nvPr/>
        </p:nvSpPr>
        <p:spPr>
          <a:xfrm>
            <a:off x="3589061" y="5045297"/>
            <a:ext cx="1177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Presentación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Hito 2 · 9 sep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g3f40500332f_1_298"/>
          <p:cNvSpPr/>
          <p:nvPr/>
        </p:nvSpPr>
        <p:spPr>
          <a:xfrm>
            <a:off x="6346047" y="1371220"/>
            <a:ext cx="22800" cy="348420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g3f40500332f_1_298"/>
          <p:cNvSpPr/>
          <p:nvPr/>
        </p:nvSpPr>
        <p:spPr>
          <a:xfrm>
            <a:off x="6271996" y="4836435"/>
            <a:ext cx="171000" cy="171000"/>
          </a:xfrm>
          <a:prstGeom prst="diamond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g3f40500332f_1_298"/>
          <p:cNvSpPr txBox="1"/>
          <p:nvPr/>
        </p:nvSpPr>
        <p:spPr>
          <a:xfrm>
            <a:off x="5768827" y="5045297"/>
            <a:ext cx="1177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Entrega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Hito 3 · 7 oct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g3f40500332f_1_298"/>
          <p:cNvSpPr/>
          <p:nvPr/>
        </p:nvSpPr>
        <p:spPr>
          <a:xfrm>
            <a:off x="7435929" y="1371220"/>
            <a:ext cx="22800" cy="348420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g3f40500332f_1_298"/>
          <p:cNvSpPr/>
          <p:nvPr/>
        </p:nvSpPr>
        <p:spPr>
          <a:xfrm>
            <a:off x="7361878" y="4836435"/>
            <a:ext cx="171000" cy="171000"/>
          </a:xfrm>
          <a:prstGeom prst="diamond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g3f40500332f_1_298"/>
          <p:cNvSpPr txBox="1"/>
          <p:nvPr/>
        </p:nvSpPr>
        <p:spPr>
          <a:xfrm>
            <a:off x="6858709" y="5045297"/>
            <a:ext cx="1177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Presentación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Hito 3 · 21 oct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g3f40500332f_1_298"/>
          <p:cNvSpPr/>
          <p:nvPr/>
        </p:nvSpPr>
        <p:spPr>
          <a:xfrm>
            <a:off x="9070754" y="1371220"/>
            <a:ext cx="22800" cy="348420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g3f40500332f_1_298"/>
          <p:cNvSpPr/>
          <p:nvPr/>
        </p:nvSpPr>
        <p:spPr>
          <a:xfrm>
            <a:off x="8996702" y="4836435"/>
            <a:ext cx="171000" cy="171000"/>
          </a:xfrm>
          <a:prstGeom prst="diamond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g3f40500332f_1_298"/>
          <p:cNvSpPr txBox="1"/>
          <p:nvPr/>
        </p:nvSpPr>
        <p:spPr>
          <a:xfrm>
            <a:off x="8493534" y="5045297"/>
            <a:ext cx="1177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Entrega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Hito 4 · 11 nov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g3f40500332f_1_298"/>
          <p:cNvSpPr/>
          <p:nvPr/>
        </p:nvSpPr>
        <p:spPr>
          <a:xfrm>
            <a:off x="10705578" y="1371220"/>
            <a:ext cx="22800" cy="348420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g3f40500332f_1_298"/>
          <p:cNvSpPr/>
          <p:nvPr/>
        </p:nvSpPr>
        <p:spPr>
          <a:xfrm>
            <a:off x="10631527" y="4836435"/>
            <a:ext cx="171000" cy="171000"/>
          </a:xfrm>
          <a:prstGeom prst="diamond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g3f40500332f_1_298"/>
          <p:cNvSpPr txBox="1"/>
          <p:nvPr/>
        </p:nvSpPr>
        <p:spPr>
          <a:xfrm>
            <a:off x="10128358" y="5045297"/>
            <a:ext cx="1177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Presentación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rPr b="1" i="0" lang="es-AR" sz="831" u="none" cap="none" strike="noStrike">
                <a:solidFill>
                  <a:srgbClr val="0D25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Hito 4 · 2 dic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g3f40500332f_1_298"/>
          <p:cNvSpPr/>
          <p:nvPr/>
        </p:nvSpPr>
        <p:spPr>
          <a:xfrm>
            <a:off x="237382" y="5548892"/>
            <a:ext cx="5553900" cy="844200"/>
          </a:xfrm>
          <a:prstGeom prst="roundRect">
            <a:avLst>
              <a:gd fmla="val 4000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47450" lIns="94925" spcFirstLastPara="1" rIns="94925" wrap="square" tIns="4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r>
              <a:t/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g3f40500332f_1_298"/>
          <p:cNvSpPr txBox="1"/>
          <p:nvPr/>
        </p:nvSpPr>
        <p:spPr>
          <a:xfrm>
            <a:off x="524584" y="5684896"/>
            <a:ext cx="5031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AR" sz="135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CAPACIDAD DEL EQUIPO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0" i="0" lang="es-AR" sz="1090" u="none" cap="none" strike="noStrike">
                <a:solidFill>
                  <a:srgbClr val="EAF1F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3 integrantes por 6 h semanales. 18 h por semana, 270 h hasta el 2 de diciembre.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g3f40500332f_1_298"/>
          <p:cNvSpPr txBox="1"/>
          <p:nvPr/>
        </p:nvSpPr>
        <p:spPr>
          <a:xfrm>
            <a:off x="6366760" y="5671884"/>
            <a:ext cx="5031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AR" sz="1350" u="none" cap="none" strike="noStrike">
                <a:solidFill>
                  <a:srgbClr val="E08A3C"/>
                </a:solidFill>
                <a:latin typeface="Impact"/>
                <a:ea typeface="Impact"/>
                <a:cs typeface="Impact"/>
                <a:sym typeface="Impact"/>
              </a:rPr>
              <a:t>RUTA CRÍTICA</a:t>
            </a:r>
            <a:endParaRPr b="0" i="0" sz="14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rgbClr val="000000"/>
              </a:buClr>
              <a:buSzPts val="1090"/>
              <a:buFont typeface="Arial"/>
              <a:buNone/>
            </a:pPr>
            <a:r>
              <a:rPr b="0" i="0" lang="es-AR" sz="109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Importación de componentes y fabricación del PCB. No tiene holgura porque depende del proveedor.</a:t>
            </a:r>
            <a:endParaRPr b="0" i="0" sz="14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f6e557bc76_4_230"/>
          <p:cNvSpPr txBox="1"/>
          <p:nvPr>
            <p:ph type="ctrTitle"/>
          </p:nvPr>
        </p:nvSpPr>
        <p:spPr>
          <a:xfrm>
            <a:off x="1524000" y="1503331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0" lang="es-AR" sz="8000">
                <a:solidFill>
                  <a:srgbClr val="FFFFFF"/>
                </a:solidFill>
              </a:rPr>
              <a:t>GRACIAS</a:t>
            </a:r>
            <a:endParaRPr b="0" sz="8600"/>
          </a:p>
        </p:txBody>
      </p:sp>
      <p:sp>
        <p:nvSpPr>
          <p:cNvPr id="1999" name="Google Shape;1999;g3f6e557bc76_4_230"/>
          <p:cNvSpPr txBox="1"/>
          <p:nvPr>
            <p:ph idx="1" type="subTitle"/>
          </p:nvPr>
        </p:nvSpPr>
        <p:spPr>
          <a:xfrm>
            <a:off x="1524000" y="3891031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s-AR" sz="2000">
                <a:solidFill>
                  <a:srgbClr val="14C99A"/>
                </a:solidFill>
              </a:rPr>
              <a:t>PANDA: Paso A Nivel Dinámico y Activo</a:t>
            </a:r>
            <a:endParaRPr/>
          </a:p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AR" sz="1600">
                <a:solidFill>
                  <a:srgbClr val="FFFFFF"/>
                </a:solidFill>
              </a:rPr>
              <a:t>Tesis de Grado ITBA, </a:t>
            </a:r>
            <a:r>
              <a:rPr lang="es-AR" sz="1600">
                <a:solidFill>
                  <a:schemeClr val="lt1"/>
                </a:solidFill>
              </a:rPr>
              <a:t>Hito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85429608699]">
  <a:themeElements>
    <a:clrScheme name="Office">
      <a:dk1>
        <a:srgbClr val="0A1F3C"/>
      </a:dk1>
      <a:lt1>
        <a:srgbClr val="FFFFFF"/>
      </a:lt1>
      <a:dk2>
        <a:srgbClr val="13315C"/>
      </a:dk2>
      <a:lt2>
        <a:srgbClr val="F2F5F8"/>
      </a:lt2>
      <a:accent1>
        <a:srgbClr val="14C99A"/>
      </a:accent1>
      <a:accent2>
        <a:srgbClr val="0E8F6E"/>
      </a:accent2>
      <a:accent3>
        <a:srgbClr val="2E5E8C"/>
      </a:accent3>
      <a:accent4>
        <a:srgbClr val="F2B33D"/>
      </a:accent4>
      <a:accent5>
        <a:srgbClr val="8FA3B8"/>
      </a:accent5>
      <a:accent6>
        <a:srgbClr val="D14D5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2018-06-07T21:39:02Z</dcterms:created>
  <dc:creator>Microsoft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