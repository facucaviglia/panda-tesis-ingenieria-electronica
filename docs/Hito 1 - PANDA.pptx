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5"/>
    <p:sldMasterId id="2147483682" r:id="rId6"/>
    <p:sldMasterId id="214748368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y="5143500" cx="9144000"/>
  <p:notesSz cx="6858000" cy="9144000"/>
  <p:embeddedFontLst>
    <p:embeddedFont>
      <p:font typeface="Noto Sans"/>
      <p:regular r:id="rId21"/>
      <p:bold r:id="rId22"/>
      <p:italic r:id="rId23"/>
      <p:boldItalic r:id="rId24"/>
    </p:embeddedFont>
    <p:embeddedFont>
      <p:font typeface="Quattrocento Sans"/>
      <p:regular r:id="rId25"/>
      <p:bold r:id="rId26"/>
      <p:italic r:id="rId27"/>
      <p:boldItalic r:id="rId28"/>
    </p:embeddedFont>
    <p:embeddedFont>
      <p:font typeface="Noto Sans Symbols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7F896ED-BB3C-4C92-B849-1710B9282868}">
  <a:tblStyle styleId="{37F896ED-BB3C-4C92-B849-1710B9282868}" styleName="Table_0">
    <a:wholeTbl>
      <a:tcTxStyle b="off" i="off">
        <a:font>
          <a:latin typeface="Segoe UI"/>
          <a:ea typeface="Segoe UI"/>
          <a:cs typeface="Segoe U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5EF"/>
          </a:solidFill>
        </a:fill>
      </a:tcStyle>
    </a:wholeTbl>
    <a:band1H>
      <a:tcTxStyle b="off" i="off"/>
      <a:tcStyle>
        <a:fill>
          <a:solidFill>
            <a:srgbClr val="CAEBDD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EBDD"/>
          </a:solidFill>
        </a:fill>
      </a:tcStyle>
    </a:band1V>
    <a:band2V>
      <a:tcTxStyle b="off" i="off"/>
    </a:band2V>
    <a:lastCol>
      <a:tcTxStyle b="on" i="off">
        <a:font>
          <a:latin typeface="Segoe UI"/>
          <a:ea typeface="Segoe UI"/>
          <a:cs typeface="Segoe U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egoe UI"/>
          <a:ea typeface="Segoe UI"/>
          <a:cs typeface="Segoe U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egoe UI"/>
          <a:ea typeface="Segoe UI"/>
          <a:cs typeface="Segoe U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Segoe UI"/>
          <a:ea typeface="Segoe UI"/>
          <a:cs typeface="Segoe U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C6220BE4-14AD-4EDF-9DDA-9A874C470A1F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5EF"/>
          </a:solidFill>
        </a:fill>
      </a:tcStyle>
    </a:wholeTbl>
    <a:band1H>
      <a:tcTxStyle/>
      <a:tcStyle>
        <a:fill>
          <a:solidFill>
            <a:srgbClr val="CAEBDD"/>
          </a:solidFill>
        </a:fill>
      </a:tcStyle>
    </a:band1H>
    <a:band2H>
      <a:tcTxStyle/>
    </a:band2H>
    <a:band1V>
      <a:tcTxStyle/>
      <a:tcStyle>
        <a:fill>
          <a:solidFill>
            <a:srgbClr val="CAEBDD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font" Target="fonts/NotoSans-bold.fntdata"/><Relationship Id="rId21" Type="http://schemas.openxmlformats.org/officeDocument/2006/relationships/font" Target="fonts/NotoSans-regular.fntdata"/><Relationship Id="rId24" Type="http://schemas.openxmlformats.org/officeDocument/2006/relationships/font" Target="fonts/NotoSans-boldItalic.fntdata"/><Relationship Id="rId23" Type="http://schemas.openxmlformats.org/officeDocument/2006/relationships/font" Target="fonts/NotoSans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font" Target="fonts/QuattrocentoSans-bold.fntdata"/><Relationship Id="rId25" Type="http://schemas.openxmlformats.org/officeDocument/2006/relationships/font" Target="fonts/QuattrocentoSans-regular.fntdata"/><Relationship Id="rId28" Type="http://schemas.openxmlformats.org/officeDocument/2006/relationships/font" Target="fonts/QuattrocentoSans-boldItalic.fntdata"/><Relationship Id="rId27" Type="http://schemas.openxmlformats.org/officeDocument/2006/relationships/font" Target="fonts/QuattrocentoSans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NotoSansSymbols-regular.fntdata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0" Type="http://schemas.openxmlformats.org/officeDocument/2006/relationships/font" Target="fonts/NotoSansSymbols-bold.fntdata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8cbf95a76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g3f8cbf95a76_0_5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8cbf95a76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g3f8cbf95a76_0_5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8cbf95a76_0_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g3f8cbf95a76_0_6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8cbf95a76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2" name="Google Shape;252;g3f8cbf95a76_0_6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8cbf95a76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g3f8cbf95a76_0_6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8cbf95a76_0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f8cbf95a76_0_6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8cbf95a76_0_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3" name="Google Shape;273;g3f8cbf95a76_0_6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8cbf95a76_0_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g3f8cbf95a76_0_6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8cbf95a76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f8cbf95a76_0_6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8cbf95a76_0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g3f8cbf95a76_0_6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f8cbf95a76_0_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f8cbf95a76_0_6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8cbf95a76_0_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0" name="Google Shape;350;g3f8cbf95a76_0_6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gradFill>
          <a:gsLst>
            <a:gs pos="0">
              <a:srgbClr val="0D2547"/>
            </a:gs>
            <a:gs pos="100000">
              <a:srgbClr val="081831"/>
            </a:gs>
          </a:gsLst>
          <a:lin ang="5400012" scaled="0"/>
        </a:gra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3C"/>
              </a:buClr>
              <a:buSzPts val="4500"/>
              <a:buFont typeface="Impact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3475C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cxnSp>
        <p:nvCxnSpPr>
          <p:cNvPr id="65" name="Google Shape;65;p14"/>
          <p:cNvCxnSpPr/>
          <p:nvPr/>
        </p:nvCxnSpPr>
        <p:spPr>
          <a:xfrm>
            <a:off x="6838950" y="590550"/>
            <a:ext cx="762000" cy="476400"/>
          </a:xfrm>
          <a:prstGeom prst="straightConnector1">
            <a:avLst/>
          </a:prstGeom>
          <a:noFill/>
          <a:ln cap="flat" cmpd="sng" w="7150">
            <a:solidFill>
              <a:srgbClr val="FFFFFF">
                <a:alpha val="502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14"/>
          <p:cNvCxnSpPr/>
          <p:nvPr/>
        </p:nvCxnSpPr>
        <p:spPr>
          <a:xfrm flipH="1" rot="10800000">
            <a:off x="7600950" y="552600"/>
            <a:ext cx="762000" cy="514200"/>
          </a:xfrm>
          <a:prstGeom prst="straightConnector1">
            <a:avLst/>
          </a:prstGeom>
          <a:noFill/>
          <a:ln cap="flat" cmpd="sng" w="7150">
            <a:solidFill>
              <a:srgbClr val="FFFFFF">
                <a:alpha val="502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" name="Google Shape;67;p14"/>
          <p:cNvCxnSpPr/>
          <p:nvPr/>
        </p:nvCxnSpPr>
        <p:spPr>
          <a:xfrm>
            <a:off x="8362950" y="552450"/>
            <a:ext cx="552300" cy="705000"/>
          </a:xfrm>
          <a:prstGeom prst="straightConnector1">
            <a:avLst/>
          </a:prstGeom>
          <a:noFill/>
          <a:ln cap="flat" cmpd="sng" w="7150">
            <a:solidFill>
              <a:srgbClr val="FFFFFF">
                <a:alpha val="502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" name="Google Shape;68;p14"/>
          <p:cNvCxnSpPr/>
          <p:nvPr/>
        </p:nvCxnSpPr>
        <p:spPr>
          <a:xfrm flipH="1">
            <a:off x="8115300" y="1257300"/>
            <a:ext cx="800100" cy="571500"/>
          </a:xfrm>
          <a:prstGeom prst="straightConnector1">
            <a:avLst/>
          </a:prstGeom>
          <a:noFill/>
          <a:ln cap="flat" cmpd="sng" w="7150">
            <a:solidFill>
              <a:srgbClr val="FFFFFF">
                <a:alpha val="502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" name="Google Shape;69;p14"/>
          <p:cNvCxnSpPr/>
          <p:nvPr/>
        </p:nvCxnSpPr>
        <p:spPr>
          <a:xfrm>
            <a:off x="7600950" y="1066800"/>
            <a:ext cx="514500" cy="762000"/>
          </a:xfrm>
          <a:prstGeom prst="straightConnector1">
            <a:avLst/>
          </a:prstGeom>
          <a:noFill/>
          <a:ln cap="flat" cmpd="sng" w="7150">
            <a:solidFill>
              <a:srgbClr val="FFFFFF">
                <a:alpha val="502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4"/>
          <p:cNvCxnSpPr/>
          <p:nvPr/>
        </p:nvCxnSpPr>
        <p:spPr>
          <a:xfrm>
            <a:off x="8115300" y="1828800"/>
            <a:ext cx="666600" cy="666600"/>
          </a:xfrm>
          <a:prstGeom prst="straightConnector1">
            <a:avLst/>
          </a:prstGeom>
          <a:noFill/>
          <a:ln cap="flat" cmpd="sng" w="7150">
            <a:solidFill>
              <a:srgbClr val="FFFFFF">
                <a:alpha val="502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4"/>
          <p:cNvCxnSpPr/>
          <p:nvPr/>
        </p:nvCxnSpPr>
        <p:spPr>
          <a:xfrm flipH="1">
            <a:off x="7258200" y="1828800"/>
            <a:ext cx="857100" cy="133500"/>
          </a:xfrm>
          <a:prstGeom prst="straightConnector1">
            <a:avLst/>
          </a:prstGeom>
          <a:noFill/>
          <a:ln cap="flat" cmpd="sng" w="7150">
            <a:solidFill>
              <a:srgbClr val="FFFFFF">
                <a:alpha val="502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14"/>
          <p:cNvCxnSpPr/>
          <p:nvPr/>
        </p:nvCxnSpPr>
        <p:spPr>
          <a:xfrm rot="10800000">
            <a:off x="6572250" y="1390650"/>
            <a:ext cx="685800" cy="571500"/>
          </a:xfrm>
          <a:prstGeom prst="straightConnector1">
            <a:avLst/>
          </a:prstGeom>
          <a:noFill/>
          <a:ln cap="flat" cmpd="sng" w="7150">
            <a:solidFill>
              <a:srgbClr val="FFFFFF">
                <a:alpha val="502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14"/>
          <p:cNvCxnSpPr/>
          <p:nvPr/>
        </p:nvCxnSpPr>
        <p:spPr>
          <a:xfrm flipH="1" rot="10800000">
            <a:off x="6572250" y="590550"/>
            <a:ext cx="266700" cy="800100"/>
          </a:xfrm>
          <a:prstGeom prst="straightConnector1">
            <a:avLst/>
          </a:prstGeom>
          <a:noFill/>
          <a:ln cap="flat" cmpd="sng" w="7150">
            <a:solidFill>
              <a:srgbClr val="FFFFFF">
                <a:alpha val="502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14"/>
          <p:cNvCxnSpPr/>
          <p:nvPr/>
        </p:nvCxnSpPr>
        <p:spPr>
          <a:xfrm flipH="1" rot="10800000">
            <a:off x="7258050" y="1066950"/>
            <a:ext cx="342900" cy="895200"/>
          </a:xfrm>
          <a:prstGeom prst="straightConnector1">
            <a:avLst/>
          </a:prstGeom>
          <a:noFill/>
          <a:ln cap="flat" cmpd="sng" w="7150">
            <a:solidFill>
              <a:srgbClr val="FFFFFF">
                <a:alpha val="502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" name="Google Shape;75;p14"/>
          <p:cNvCxnSpPr/>
          <p:nvPr/>
        </p:nvCxnSpPr>
        <p:spPr>
          <a:xfrm flipH="1" rot="10800000">
            <a:off x="8362950" y="190350"/>
            <a:ext cx="495300" cy="362100"/>
          </a:xfrm>
          <a:prstGeom prst="straightConnector1">
            <a:avLst/>
          </a:prstGeom>
          <a:noFill/>
          <a:ln cap="flat" cmpd="sng" w="7150">
            <a:solidFill>
              <a:srgbClr val="FFFFFF">
                <a:alpha val="502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" name="Google Shape;76;p14"/>
          <p:cNvCxnSpPr/>
          <p:nvPr/>
        </p:nvCxnSpPr>
        <p:spPr>
          <a:xfrm rot="10800000">
            <a:off x="8858400" y="190500"/>
            <a:ext cx="57000" cy="1066800"/>
          </a:xfrm>
          <a:prstGeom prst="straightConnector1">
            <a:avLst/>
          </a:prstGeom>
          <a:noFill/>
          <a:ln cap="flat" cmpd="sng" w="7150">
            <a:solidFill>
              <a:srgbClr val="FFFFFF">
                <a:alpha val="502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14"/>
          <p:cNvSpPr/>
          <p:nvPr/>
        </p:nvSpPr>
        <p:spPr>
          <a:xfrm rot="5400000">
            <a:off x="6696075" y="447825"/>
            <a:ext cx="285900" cy="2856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1900">
            <a:solidFill>
              <a:srgbClr val="FFFF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8" name="Google Shape;78;p14"/>
          <p:cNvSpPr/>
          <p:nvPr/>
        </p:nvSpPr>
        <p:spPr>
          <a:xfrm rot="5400000">
            <a:off x="7515075" y="981075"/>
            <a:ext cx="171600" cy="1716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4C99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9" name="Google Shape;79;p14"/>
          <p:cNvSpPr/>
          <p:nvPr/>
        </p:nvSpPr>
        <p:spPr>
          <a:xfrm rot="5400000">
            <a:off x="8220075" y="409725"/>
            <a:ext cx="285900" cy="2856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1900">
            <a:solidFill>
              <a:srgbClr val="FFFF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0" name="Google Shape;80;p14"/>
          <p:cNvSpPr/>
          <p:nvPr/>
        </p:nvSpPr>
        <p:spPr>
          <a:xfrm rot="5400000">
            <a:off x="8772525" y="1114575"/>
            <a:ext cx="285900" cy="2856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1900">
            <a:solidFill>
              <a:srgbClr val="FFFF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1" name="Google Shape;81;p14"/>
          <p:cNvSpPr/>
          <p:nvPr/>
        </p:nvSpPr>
        <p:spPr>
          <a:xfrm rot="5400000">
            <a:off x="8029425" y="1743075"/>
            <a:ext cx="171600" cy="1716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4C99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2" name="Google Shape;82;p14"/>
          <p:cNvSpPr/>
          <p:nvPr/>
        </p:nvSpPr>
        <p:spPr>
          <a:xfrm rot="5400000">
            <a:off x="8639175" y="2352825"/>
            <a:ext cx="285900" cy="2856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1900">
            <a:solidFill>
              <a:srgbClr val="FFFF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3" name="Google Shape;83;p14"/>
          <p:cNvSpPr/>
          <p:nvPr/>
        </p:nvSpPr>
        <p:spPr>
          <a:xfrm rot="5400000">
            <a:off x="7115175" y="1819425"/>
            <a:ext cx="285900" cy="2856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1900">
            <a:solidFill>
              <a:srgbClr val="FFFF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4" name="Google Shape;84;p14"/>
          <p:cNvSpPr/>
          <p:nvPr/>
        </p:nvSpPr>
        <p:spPr>
          <a:xfrm rot="5400000">
            <a:off x="6429375" y="1247925"/>
            <a:ext cx="285900" cy="2856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11900">
            <a:solidFill>
              <a:srgbClr val="FFFF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5" name="Google Shape;85;p14"/>
          <p:cNvSpPr/>
          <p:nvPr/>
        </p:nvSpPr>
        <p:spPr>
          <a:xfrm rot="5400000">
            <a:off x="8772375" y="104775"/>
            <a:ext cx="171600" cy="1716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14C99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3C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3C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4" name="Google Shape;94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3C"/>
              </a:buClr>
              <a:buSzPts val="4500"/>
              <a:buFont typeface="Impact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A8F"/>
              </a:buClr>
              <a:buSzPts val="1800"/>
              <a:buNone/>
              <a:defRPr sz="1800">
                <a:solidFill>
                  <a:srgbClr val="888A8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A8F"/>
              </a:buClr>
              <a:buSzPts val="1500"/>
              <a:buNone/>
              <a:defRPr sz="1500">
                <a:solidFill>
                  <a:srgbClr val="888A8F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A8F"/>
              </a:buClr>
              <a:buSzPts val="1400"/>
              <a:buNone/>
              <a:defRPr sz="1400">
                <a:solidFill>
                  <a:srgbClr val="888A8F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A8F"/>
              </a:buClr>
              <a:buSzPts val="1200"/>
              <a:buNone/>
              <a:defRPr sz="1200">
                <a:solidFill>
                  <a:srgbClr val="888A8F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A8F"/>
              </a:buClr>
              <a:buSzPts val="1200"/>
              <a:buNone/>
              <a:defRPr sz="1200">
                <a:solidFill>
                  <a:srgbClr val="888A8F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A8F"/>
              </a:buClr>
              <a:buSzPts val="1200"/>
              <a:buNone/>
              <a:defRPr sz="1200">
                <a:solidFill>
                  <a:srgbClr val="888A8F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A8F"/>
              </a:buClr>
              <a:buSzPts val="1200"/>
              <a:buNone/>
              <a:defRPr sz="1200">
                <a:solidFill>
                  <a:srgbClr val="888A8F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A8F"/>
              </a:buClr>
              <a:buSzPts val="1200"/>
              <a:buNone/>
              <a:defRPr sz="1200">
                <a:solidFill>
                  <a:srgbClr val="888A8F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A8F"/>
              </a:buClr>
              <a:buSzPts val="1200"/>
              <a:buNone/>
              <a:defRPr sz="1200">
                <a:solidFill>
                  <a:srgbClr val="888A8F"/>
                </a:solidFill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3C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6" name="Google Shape;106;p18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3C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3475C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3" name="Google Shape;113;p19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4" name="Google Shape;114;p19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3475C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5" name="Google Shape;115;p19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3C"/>
              </a:buClr>
              <a:buSzPts val="2400"/>
              <a:buFont typeface="Impact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3475C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26" name="Google Shape;126;p21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3475C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7" name="Google Shape;127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3C"/>
              </a:buClr>
              <a:buSzPts val="2400"/>
              <a:buFont typeface="Impact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2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3475C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4" name="Google Shape;134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3C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3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0" name="Google Shape;140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3C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4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6" name="Google Shape;146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idx="10" type="dt"/>
          </p:nvPr>
        </p:nvSpPr>
        <p:spPr>
          <a:xfrm>
            <a:off x="228600" y="3178175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7" name="Google Shape;157;p26"/>
          <p:cNvSpPr txBox="1"/>
          <p:nvPr>
            <p:ph idx="11" type="ftr"/>
          </p:nvPr>
        </p:nvSpPr>
        <p:spPr>
          <a:xfrm>
            <a:off x="1562100" y="3178175"/>
            <a:ext cx="1447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8" name="Google Shape;158;p26"/>
          <p:cNvSpPr txBox="1"/>
          <p:nvPr>
            <p:ph idx="12" type="sldNum"/>
          </p:nvPr>
        </p:nvSpPr>
        <p:spPr>
          <a:xfrm>
            <a:off x="3276600" y="3178175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ctrTitle"/>
          </p:nvPr>
        </p:nvSpPr>
        <p:spPr>
          <a:xfrm>
            <a:off x="342900" y="1065212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1" name="Google Shape;161;p27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2" name="Google Shape;162;p27"/>
          <p:cNvSpPr txBox="1"/>
          <p:nvPr>
            <p:ph idx="10" type="dt"/>
          </p:nvPr>
        </p:nvSpPr>
        <p:spPr>
          <a:xfrm>
            <a:off x="228600" y="3178175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3" name="Google Shape;163;p27"/>
          <p:cNvSpPr txBox="1"/>
          <p:nvPr>
            <p:ph idx="11" type="ftr"/>
          </p:nvPr>
        </p:nvSpPr>
        <p:spPr>
          <a:xfrm>
            <a:off x="1562100" y="3178175"/>
            <a:ext cx="1447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4" name="Google Shape;164;p27"/>
          <p:cNvSpPr txBox="1"/>
          <p:nvPr>
            <p:ph idx="12" type="sldNum"/>
          </p:nvPr>
        </p:nvSpPr>
        <p:spPr>
          <a:xfrm>
            <a:off x="3276600" y="3178175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7" name="Google Shape;167;p28"/>
          <p:cNvSpPr txBox="1"/>
          <p:nvPr>
            <p:ph idx="1" type="body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68" name="Google Shape;168;p28"/>
          <p:cNvSpPr txBox="1"/>
          <p:nvPr>
            <p:ph idx="10" type="dt"/>
          </p:nvPr>
        </p:nvSpPr>
        <p:spPr>
          <a:xfrm>
            <a:off x="228600" y="3178175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9" name="Google Shape;169;p28"/>
          <p:cNvSpPr txBox="1"/>
          <p:nvPr>
            <p:ph idx="11" type="ftr"/>
          </p:nvPr>
        </p:nvSpPr>
        <p:spPr>
          <a:xfrm>
            <a:off x="1562100" y="3178175"/>
            <a:ext cx="1447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0" name="Google Shape;170;p28"/>
          <p:cNvSpPr txBox="1"/>
          <p:nvPr>
            <p:ph idx="12" type="sldNum"/>
          </p:nvPr>
        </p:nvSpPr>
        <p:spPr>
          <a:xfrm>
            <a:off x="3276600" y="3178175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361156" y="1453357"/>
            <a:ext cx="38862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4" name="Google Shape;174;p29"/>
          <p:cNvSpPr txBox="1"/>
          <p:nvPr>
            <p:ph idx="10" type="dt"/>
          </p:nvPr>
        </p:nvSpPr>
        <p:spPr>
          <a:xfrm>
            <a:off x="228600" y="3178175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5" name="Google Shape;175;p29"/>
          <p:cNvSpPr txBox="1"/>
          <p:nvPr>
            <p:ph idx="11" type="ftr"/>
          </p:nvPr>
        </p:nvSpPr>
        <p:spPr>
          <a:xfrm>
            <a:off x="1562100" y="3178175"/>
            <a:ext cx="1447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6" name="Google Shape;176;p29"/>
          <p:cNvSpPr txBox="1"/>
          <p:nvPr>
            <p:ph idx="12" type="sldNum"/>
          </p:nvPr>
        </p:nvSpPr>
        <p:spPr>
          <a:xfrm>
            <a:off x="3276600" y="3178175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9" name="Google Shape;179;p30"/>
          <p:cNvSpPr txBox="1"/>
          <p:nvPr>
            <p:ph idx="1" type="body"/>
          </p:nvPr>
        </p:nvSpPr>
        <p:spPr>
          <a:xfrm>
            <a:off x="2286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180" name="Google Shape;180;p30"/>
          <p:cNvSpPr txBox="1"/>
          <p:nvPr>
            <p:ph idx="2" type="body"/>
          </p:nvPr>
        </p:nvSpPr>
        <p:spPr>
          <a:xfrm>
            <a:off x="23241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181" name="Google Shape;181;p30"/>
          <p:cNvSpPr txBox="1"/>
          <p:nvPr>
            <p:ph idx="10" type="dt"/>
          </p:nvPr>
        </p:nvSpPr>
        <p:spPr>
          <a:xfrm>
            <a:off x="228600" y="3178175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82" name="Google Shape;182;p30"/>
          <p:cNvSpPr txBox="1"/>
          <p:nvPr>
            <p:ph idx="11" type="ftr"/>
          </p:nvPr>
        </p:nvSpPr>
        <p:spPr>
          <a:xfrm>
            <a:off x="1562100" y="3178175"/>
            <a:ext cx="1447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83" name="Google Shape;183;p30"/>
          <p:cNvSpPr txBox="1"/>
          <p:nvPr>
            <p:ph idx="12" type="sldNum"/>
          </p:nvPr>
        </p:nvSpPr>
        <p:spPr>
          <a:xfrm>
            <a:off x="3276600" y="3178175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86" name="Google Shape;186;p31"/>
          <p:cNvSpPr txBox="1"/>
          <p:nvPr>
            <p:ph idx="1" type="body"/>
          </p:nvPr>
        </p:nvSpPr>
        <p:spPr>
          <a:xfrm>
            <a:off x="228600" y="767557"/>
            <a:ext cx="202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187" name="Google Shape;187;p31"/>
          <p:cNvSpPr txBox="1"/>
          <p:nvPr>
            <p:ph idx="2" type="body"/>
          </p:nvPr>
        </p:nvSpPr>
        <p:spPr>
          <a:xfrm>
            <a:off x="228600" y="1087438"/>
            <a:ext cx="20202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188" name="Google Shape;188;p31"/>
          <p:cNvSpPr txBox="1"/>
          <p:nvPr>
            <p:ph idx="3" type="body"/>
          </p:nvPr>
        </p:nvSpPr>
        <p:spPr>
          <a:xfrm>
            <a:off x="2322512" y="767557"/>
            <a:ext cx="2021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189" name="Google Shape;189;p31"/>
          <p:cNvSpPr txBox="1"/>
          <p:nvPr>
            <p:ph idx="4" type="body"/>
          </p:nvPr>
        </p:nvSpPr>
        <p:spPr>
          <a:xfrm>
            <a:off x="2322512" y="1087438"/>
            <a:ext cx="20211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190" name="Google Shape;190;p31"/>
          <p:cNvSpPr txBox="1"/>
          <p:nvPr>
            <p:ph idx="10" type="dt"/>
          </p:nvPr>
        </p:nvSpPr>
        <p:spPr>
          <a:xfrm>
            <a:off x="228600" y="3178175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1" name="Google Shape;191;p31"/>
          <p:cNvSpPr txBox="1"/>
          <p:nvPr>
            <p:ph idx="11" type="ftr"/>
          </p:nvPr>
        </p:nvSpPr>
        <p:spPr>
          <a:xfrm>
            <a:off x="1562100" y="3178175"/>
            <a:ext cx="1447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2" name="Google Shape;192;p31"/>
          <p:cNvSpPr txBox="1"/>
          <p:nvPr>
            <p:ph idx="12" type="sldNum"/>
          </p:nvPr>
        </p:nvSpPr>
        <p:spPr>
          <a:xfrm>
            <a:off x="3276600" y="3178175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5" name="Google Shape;195;p32"/>
          <p:cNvSpPr txBox="1"/>
          <p:nvPr>
            <p:ph idx="10" type="dt"/>
          </p:nvPr>
        </p:nvSpPr>
        <p:spPr>
          <a:xfrm>
            <a:off x="228600" y="3178175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6" name="Google Shape;196;p32"/>
          <p:cNvSpPr txBox="1"/>
          <p:nvPr>
            <p:ph idx="11" type="ftr"/>
          </p:nvPr>
        </p:nvSpPr>
        <p:spPr>
          <a:xfrm>
            <a:off x="1562100" y="3178175"/>
            <a:ext cx="1447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7" name="Google Shape;197;p32"/>
          <p:cNvSpPr txBox="1"/>
          <p:nvPr>
            <p:ph idx="12" type="sldNum"/>
          </p:nvPr>
        </p:nvSpPr>
        <p:spPr>
          <a:xfrm>
            <a:off x="3276600" y="3178175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 txBox="1"/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00" name="Google Shape;200;p33"/>
          <p:cNvSpPr txBox="1"/>
          <p:nvPr>
            <p:ph idx="1" type="body"/>
          </p:nvPr>
        </p:nvSpPr>
        <p:spPr>
          <a:xfrm>
            <a:off x="1787525" y="136525"/>
            <a:ext cx="2555700" cy="29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201" name="Google Shape;201;p33"/>
          <p:cNvSpPr txBox="1"/>
          <p:nvPr>
            <p:ph idx="2" type="body"/>
          </p:nvPr>
        </p:nvSpPr>
        <p:spPr>
          <a:xfrm>
            <a:off x="228600" y="717550"/>
            <a:ext cx="1504200" cy="23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202" name="Google Shape;202;p33"/>
          <p:cNvSpPr txBox="1"/>
          <p:nvPr>
            <p:ph idx="10" type="dt"/>
          </p:nvPr>
        </p:nvSpPr>
        <p:spPr>
          <a:xfrm>
            <a:off x="228600" y="3178175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03" name="Google Shape;203;p33"/>
          <p:cNvSpPr txBox="1"/>
          <p:nvPr>
            <p:ph idx="11" type="ftr"/>
          </p:nvPr>
        </p:nvSpPr>
        <p:spPr>
          <a:xfrm>
            <a:off x="1562100" y="3178175"/>
            <a:ext cx="1447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04" name="Google Shape;204;p33"/>
          <p:cNvSpPr txBox="1"/>
          <p:nvPr>
            <p:ph idx="12" type="sldNum"/>
          </p:nvPr>
        </p:nvSpPr>
        <p:spPr>
          <a:xfrm>
            <a:off x="3276600" y="3178175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/>
          <p:nvPr>
            <p:ph type="title"/>
          </p:nvPr>
        </p:nvSpPr>
        <p:spPr>
          <a:xfrm>
            <a:off x="896144" y="2400300"/>
            <a:ext cx="27432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07" name="Google Shape;207;p34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34"/>
          <p:cNvSpPr txBox="1"/>
          <p:nvPr>
            <p:ph idx="1" type="body"/>
          </p:nvPr>
        </p:nvSpPr>
        <p:spPr>
          <a:xfrm>
            <a:off x="896144" y="2683669"/>
            <a:ext cx="27432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209" name="Google Shape;209;p34"/>
          <p:cNvSpPr txBox="1"/>
          <p:nvPr>
            <p:ph idx="10" type="dt"/>
          </p:nvPr>
        </p:nvSpPr>
        <p:spPr>
          <a:xfrm>
            <a:off x="228600" y="3178175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10" name="Google Shape;210;p34"/>
          <p:cNvSpPr txBox="1"/>
          <p:nvPr>
            <p:ph idx="11" type="ftr"/>
          </p:nvPr>
        </p:nvSpPr>
        <p:spPr>
          <a:xfrm>
            <a:off x="1562100" y="3178175"/>
            <a:ext cx="1447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11" name="Google Shape;211;p34"/>
          <p:cNvSpPr txBox="1"/>
          <p:nvPr>
            <p:ph idx="12" type="sldNum"/>
          </p:nvPr>
        </p:nvSpPr>
        <p:spPr>
          <a:xfrm>
            <a:off x="3276600" y="3178175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14" name="Google Shape;214;p35"/>
          <p:cNvSpPr txBox="1"/>
          <p:nvPr>
            <p:ph idx="1" type="body"/>
          </p:nvPr>
        </p:nvSpPr>
        <p:spPr>
          <a:xfrm rot="5400000">
            <a:off x="1154400" y="-125700"/>
            <a:ext cx="2263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215" name="Google Shape;215;p35"/>
          <p:cNvSpPr txBox="1"/>
          <p:nvPr>
            <p:ph idx="10" type="dt"/>
          </p:nvPr>
        </p:nvSpPr>
        <p:spPr>
          <a:xfrm>
            <a:off x="228600" y="3178175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16" name="Google Shape;216;p35"/>
          <p:cNvSpPr txBox="1"/>
          <p:nvPr>
            <p:ph idx="11" type="ftr"/>
          </p:nvPr>
        </p:nvSpPr>
        <p:spPr>
          <a:xfrm>
            <a:off x="1562100" y="3178175"/>
            <a:ext cx="1447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17" name="Google Shape;217;p35"/>
          <p:cNvSpPr txBox="1"/>
          <p:nvPr>
            <p:ph idx="12" type="sldNum"/>
          </p:nvPr>
        </p:nvSpPr>
        <p:spPr>
          <a:xfrm>
            <a:off x="3276600" y="3178175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 txBox="1"/>
          <p:nvPr>
            <p:ph type="title"/>
          </p:nvPr>
        </p:nvSpPr>
        <p:spPr>
          <a:xfrm rot="5400000">
            <a:off x="2366250" y="1085769"/>
            <a:ext cx="29256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20" name="Google Shape;220;p36"/>
          <p:cNvSpPr txBox="1"/>
          <p:nvPr>
            <p:ph idx="1" type="body"/>
          </p:nvPr>
        </p:nvSpPr>
        <p:spPr>
          <a:xfrm rot="5400000">
            <a:off x="270750" y="95169"/>
            <a:ext cx="2925600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221" name="Google Shape;221;p36"/>
          <p:cNvSpPr txBox="1"/>
          <p:nvPr>
            <p:ph idx="10" type="dt"/>
          </p:nvPr>
        </p:nvSpPr>
        <p:spPr>
          <a:xfrm>
            <a:off x="228600" y="3178175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22" name="Google Shape;222;p36"/>
          <p:cNvSpPr txBox="1"/>
          <p:nvPr>
            <p:ph idx="11" type="ftr"/>
          </p:nvPr>
        </p:nvSpPr>
        <p:spPr>
          <a:xfrm>
            <a:off x="1562100" y="3178175"/>
            <a:ext cx="1447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23" name="Google Shape;223;p36"/>
          <p:cNvSpPr txBox="1"/>
          <p:nvPr>
            <p:ph idx="12" type="sldNum"/>
          </p:nvPr>
        </p:nvSpPr>
        <p:spPr>
          <a:xfrm>
            <a:off x="3276600" y="3178175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B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3C"/>
              </a:buClr>
              <a:buSzPts val="3300"/>
              <a:buFont typeface="Impact"/>
              <a:buNone/>
              <a:defRPr b="1" i="0" sz="3300" u="none" cap="none" strike="noStrike">
                <a:solidFill>
                  <a:srgbClr val="0A1F3C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3475C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33475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33475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rgbClr val="33475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33475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33475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33475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33475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33475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3475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33475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A8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-857250" y="-857250"/>
            <a:ext cx="1714500" cy="1714500"/>
          </a:xfrm>
          <a:prstGeom prst="ellipse">
            <a:avLst/>
          </a:prstGeom>
          <a:solidFill>
            <a:srgbClr val="0A1F3C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8496300" y="4495800"/>
            <a:ext cx="1619400" cy="1619400"/>
          </a:xfrm>
          <a:prstGeom prst="ellipse">
            <a:avLst/>
          </a:prstGeom>
          <a:solidFill>
            <a:srgbClr val="14C99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42900" y="4876800"/>
            <a:ext cx="45720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8F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Instituto Tecnológico de Buenos Aires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1" name="Google Shape;151;p25"/>
          <p:cNvSpPr txBox="1"/>
          <p:nvPr>
            <p:ph idx="1" type="body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" name="Google Shape;152;p25"/>
          <p:cNvSpPr txBox="1"/>
          <p:nvPr>
            <p:ph idx="10" type="dt"/>
          </p:nvPr>
        </p:nvSpPr>
        <p:spPr>
          <a:xfrm>
            <a:off x="228600" y="3178175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25"/>
          <p:cNvSpPr txBox="1"/>
          <p:nvPr>
            <p:ph idx="11" type="ftr"/>
          </p:nvPr>
        </p:nvSpPr>
        <p:spPr>
          <a:xfrm>
            <a:off x="1562100" y="3178175"/>
            <a:ext cx="1447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4" name="Google Shape;154;p25"/>
          <p:cNvSpPr txBox="1"/>
          <p:nvPr>
            <p:ph idx="12" type="sldNum"/>
          </p:nvPr>
        </p:nvSpPr>
        <p:spPr>
          <a:xfrm>
            <a:off x="3276600" y="3178175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/>
          <p:cNvSpPr txBox="1"/>
          <p:nvPr/>
        </p:nvSpPr>
        <p:spPr>
          <a:xfrm>
            <a:off x="571500" y="3857355"/>
            <a:ext cx="4762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14C99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TESIS DE GRADO: </a:t>
            </a:r>
            <a:r>
              <a:rPr b="1" lang="es" sz="1500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HITO 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7"/>
          <p:cNvSpPr txBox="1"/>
          <p:nvPr/>
        </p:nvSpPr>
        <p:spPr>
          <a:xfrm>
            <a:off x="571500" y="4181205"/>
            <a:ext cx="5334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AEBD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Instituto Tecnológico de Buenos Aires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7"/>
          <p:cNvSpPr txBox="1"/>
          <p:nvPr/>
        </p:nvSpPr>
        <p:spPr>
          <a:xfrm>
            <a:off x="571500" y="4470311"/>
            <a:ext cx="66675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Juan Ignacio Pla · Facundo Caviglia · Joaquín Torino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7"/>
          <p:cNvSpPr txBox="1"/>
          <p:nvPr>
            <p:ph idx="1" type="subTitle"/>
          </p:nvPr>
        </p:nvSpPr>
        <p:spPr>
          <a:xfrm>
            <a:off x="571500" y="2354130"/>
            <a:ext cx="6096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DE6EF"/>
              </a:buClr>
              <a:buSzPts val="1400"/>
              <a:buNone/>
            </a:pPr>
            <a:r>
              <a:rPr lang="es" sz="1400">
                <a:solidFill>
                  <a:srgbClr val="DDE6EF"/>
                </a:solidFill>
              </a:rPr>
              <a:t>Sistema dinámico de detección de vehículos ferroviarios y señalización activa mediante comunicación con pasos a nivel.</a:t>
            </a:r>
            <a:endParaRPr/>
          </a:p>
        </p:txBody>
      </p:sp>
      <p:sp>
        <p:nvSpPr>
          <p:cNvPr id="232" name="Google Shape;232;p37"/>
          <p:cNvSpPr txBox="1"/>
          <p:nvPr>
            <p:ph type="ctrTitle"/>
          </p:nvPr>
        </p:nvSpPr>
        <p:spPr>
          <a:xfrm>
            <a:off x="571500" y="793425"/>
            <a:ext cx="6012000" cy="1238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C99A"/>
              </a:buClr>
              <a:buSzPts val="4100"/>
              <a:buFont typeface="Impact"/>
              <a:buNone/>
            </a:pPr>
            <a:r>
              <a:rPr b="0" lang="es" sz="4100">
                <a:solidFill>
                  <a:schemeClr val="accent1"/>
                </a:solidFill>
              </a:rPr>
              <a:t>PANDA</a:t>
            </a:r>
            <a:r>
              <a:rPr b="0" lang="es" sz="4100">
                <a:solidFill>
                  <a:schemeClr val="lt1"/>
                </a:solidFill>
              </a:rPr>
              <a:t>: PASO A NIVEL DINÁMICO y ACTIVO</a:t>
            </a:r>
            <a:r>
              <a:rPr b="0" lang="es" sz="4100">
                <a:solidFill>
                  <a:srgbClr val="14C99A"/>
                </a:solidFill>
              </a:rPr>
              <a:t> </a:t>
            </a:r>
            <a:endParaRPr b="0"/>
          </a:p>
        </p:txBody>
      </p:sp>
      <p:cxnSp>
        <p:nvCxnSpPr>
          <p:cNvPr id="233" name="Google Shape;233;p37"/>
          <p:cNvCxnSpPr/>
          <p:nvPr/>
        </p:nvCxnSpPr>
        <p:spPr>
          <a:xfrm>
            <a:off x="571500" y="2188099"/>
            <a:ext cx="2190900" cy="0"/>
          </a:xfrm>
          <a:prstGeom prst="straightConnector1">
            <a:avLst/>
          </a:prstGeom>
          <a:noFill/>
          <a:ln cap="flat" cmpd="sng" w="21425">
            <a:solidFill>
              <a:srgbClr val="14C9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37"/>
          <p:cNvSpPr/>
          <p:nvPr/>
        </p:nvSpPr>
        <p:spPr>
          <a:xfrm>
            <a:off x="2800350" y="2149999"/>
            <a:ext cx="85800" cy="85800"/>
          </a:xfrm>
          <a:prstGeom prst="ellipse">
            <a:avLst/>
          </a:prstGeom>
          <a:solidFill>
            <a:srgbClr val="14C99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descr="Campus ITBA: el proyecto comienza a hacerse visible - Campus ITBA" id="235" name="Google Shape;23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18250" y="4211355"/>
            <a:ext cx="1341121" cy="659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 txBox="1"/>
          <p:nvPr>
            <p:ph type="title"/>
          </p:nvPr>
        </p:nvSpPr>
        <p:spPr>
          <a:xfrm>
            <a:off x="628650" y="66760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s" sz="3000">
                <a:solidFill>
                  <a:schemeClr val="dk1"/>
                </a:solidFill>
              </a:rPr>
              <a:t>Señalización </a:t>
            </a:r>
            <a:r>
              <a:rPr b="0" lang="es" sz="3000">
                <a:solidFill>
                  <a:schemeClr val="accent1"/>
                </a:solidFill>
              </a:rPr>
              <a:t>Activa </a:t>
            </a:r>
            <a:r>
              <a:rPr b="0" lang="es" sz="3000">
                <a:solidFill>
                  <a:schemeClr val="dk1"/>
                </a:solidFill>
              </a:rPr>
              <a:t>Propuesta</a:t>
            </a:r>
            <a:endParaRPr b="0" sz="3000"/>
          </a:p>
        </p:txBody>
      </p:sp>
      <p:pic>
        <p:nvPicPr>
          <p:cNvPr id="241" name="Google Shape;241;p38"/>
          <p:cNvPicPr preferRelativeResize="0"/>
          <p:nvPr/>
        </p:nvPicPr>
        <p:blipFill rotWithShape="1">
          <a:blip r:embed="rId3">
            <a:alphaModFix/>
          </a:blip>
          <a:srcRect b="47414" l="29110" r="31371" t="9380"/>
          <a:stretch/>
        </p:blipFill>
        <p:spPr>
          <a:xfrm>
            <a:off x="5254800" y="2218453"/>
            <a:ext cx="1461731" cy="1598006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8"/>
          <p:cNvSpPr txBox="1"/>
          <p:nvPr/>
        </p:nvSpPr>
        <p:spPr>
          <a:xfrm>
            <a:off x="2427469" y="2453152"/>
            <a:ext cx="25446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Alerta sonora + visual 5 seg antes.</a:t>
            </a:r>
            <a:endParaRPr b="1" i="0" sz="1500" u="none" cap="none" strike="noStrike">
              <a:solidFill>
                <a:schemeClr val="accent6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sz="1500">
              <a:solidFill>
                <a:schemeClr val="accent6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chemeClr val="accent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Cruce NO SEGURO.</a:t>
            </a:r>
            <a:endParaRPr b="1" i="0" sz="1500" u="none" cap="none" strike="noStrike">
              <a:solidFill>
                <a:schemeClr val="accen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9"/>
          <p:cNvSpPr txBox="1"/>
          <p:nvPr/>
        </p:nvSpPr>
        <p:spPr>
          <a:xfrm>
            <a:off x="457200" y="1295400"/>
            <a:ext cx="5715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s" sz="1100" u="none" cap="none" strike="noStrike">
                <a:solidFill>
                  <a:srgbClr val="8F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Todos los requerimientos se leen como «El sistema debe…»</a:t>
            </a:r>
            <a:endParaRPr b="0" i="1" sz="1100" u="none" cap="none" strike="noStrike">
              <a:solidFill>
                <a:srgbClr val="8FA3B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aphicFrame>
        <p:nvGraphicFramePr>
          <p:cNvPr id="248" name="Google Shape;248;p39"/>
          <p:cNvGraphicFramePr/>
          <p:nvPr/>
        </p:nvGraphicFramePr>
        <p:xfrm>
          <a:off x="457200" y="1562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{37F896ED-BB3C-4C92-B849-1710B9282868}</a:tableStyleId>
              </a:tblPr>
              <a:tblGrid>
                <a:gridCol w="666750"/>
                <a:gridCol w="6038850"/>
                <a:gridCol w="1524000"/>
              </a:tblGrid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ID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Requerimiento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Tipo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R-1</a:t>
                      </a:r>
                      <a:endParaRPr sz="1300">
                        <a:solidFill>
                          <a:srgbClr val="EAF1F7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Obtener la posición GNSS propia en tiempo real </a:t>
                      </a:r>
                      <a:endParaRPr sz="1300">
                        <a:solidFill>
                          <a:srgbClr val="EAF1F7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Concreto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R-2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Medir velocidad y sentido de marcha </a:t>
                      </a:r>
                      <a:endParaRPr sz="1300" u="none" cap="none" strike="noStrike">
                        <a:solidFill>
                          <a:srgbClr val="EAF1F7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Concreto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R-3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Emitir un beacon periódico con ID, posición, velocidad, rumbo y timestamp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Concreto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R-4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Recibir y decodificar beacons de otros módulos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Concreto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R-5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Distinguir entre módulos fijos y móviles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Concreto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R-6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Calcular tiempo de arribo en base a la distancia y velocidad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Concreto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R-7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Alertar al peatón, visual y sonoramente, cuando el cruce no es seguro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Concreto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R-8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Operar en un canal de radio con asignación exclusiva en la </a:t>
                      </a:r>
                      <a:endParaRPr sz="1300">
                        <a:solidFill>
                          <a:srgbClr val="EAF1F7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banda de frecuencias UHF de 450 a 470 MHz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Concreto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R-9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Alimentarse desde la fuente disponible en su emplazamiento 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Concreto</a:t>
                      </a:r>
                      <a:endParaRPr b="1" sz="1300" u="none" cap="none" strike="noStrike">
                        <a:solidFill>
                          <a:srgbClr val="0A1F3C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</a:tr>
            </a:tbl>
          </a:graphicData>
        </a:graphic>
      </p:graphicFrame>
      <p:sp>
        <p:nvSpPr>
          <p:cNvPr id="249" name="Google Shape;249;p39"/>
          <p:cNvSpPr txBox="1"/>
          <p:nvPr>
            <p:ph type="title"/>
          </p:nvPr>
        </p:nvSpPr>
        <p:spPr>
          <a:xfrm>
            <a:off x="628650" y="192113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3C"/>
              </a:buClr>
              <a:buSzPts val="2300"/>
              <a:buFont typeface="Impact"/>
              <a:buNone/>
            </a:pPr>
            <a:r>
              <a:rPr b="0" lang="es" sz="3000">
                <a:solidFill>
                  <a:schemeClr val="dk1"/>
                </a:solidFill>
              </a:rPr>
              <a:t>Requerimientos de cliente</a:t>
            </a:r>
            <a:endParaRPr b="0"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0"/>
          <p:cNvSpPr txBox="1"/>
          <p:nvPr/>
        </p:nvSpPr>
        <p:spPr>
          <a:xfrm>
            <a:off x="457200" y="1295400"/>
            <a:ext cx="5715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s" sz="1100" u="none" cap="none" strike="noStrike">
                <a:solidFill>
                  <a:srgbClr val="8F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Todos los requerimientos se leen como «El sistema debe…»</a:t>
            </a:r>
            <a:endParaRPr b="0" i="1" sz="1100" u="none" cap="none" strike="noStrike">
              <a:solidFill>
                <a:srgbClr val="8FA3B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aphicFrame>
        <p:nvGraphicFramePr>
          <p:cNvPr id="255" name="Google Shape;255;p40"/>
          <p:cNvGraphicFramePr/>
          <p:nvPr/>
        </p:nvGraphicFramePr>
        <p:xfrm>
          <a:off x="457200" y="1562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{37F896ED-BB3C-4C92-B849-1710B9282868}</a:tableStyleId>
              </a:tblPr>
              <a:tblGrid>
                <a:gridCol w="666750"/>
                <a:gridCol w="6038850"/>
                <a:gridCol w="1524000"/>
              </a:tblGrid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ID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Requerimiento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Tipo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R-10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Registrar los datos de cada muestra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Concreto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R-11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Permitir exportar los registros para análisis posterior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Concreto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R-12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Operar con una latencia que no invalide la decisión de cruce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Ambiguo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B33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R-13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Comunicarse con tiempo suficiente para garantizar la seguridad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Ambiguo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B33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R-14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Ser compacto y de instalación / desinstalación rápida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Ambiguo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B33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R-15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Ser de bajo costo y replicable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Ambiguo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B33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R-16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 indicar “cruce seguro” ante pérdida de paquetes o datos faltantes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Tácito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FA3B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R-17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Mantener autonomía propia ante cortes de alimentación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Tácito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FA3B8"/>
                    </a:solidFill>
                  </a:tcPr>
                </a:tc>
              </a:tr>
            </a:tbl>
          </a:graphicData>
        </a:graphic>
      </p:graphicFrame>
      <p:sp>
        <p:nvSpPr>
          <p:cNvPr id="256" name="Google Shape;256;p40"/>
          <p:cNvSpPr txBox="1"/>
          <p:nvPr>
            <p:ph type="title"/>
          </p:nvPr>
        </p:nvSpPr>
        <p:spPr>
          <a:xfrm>
            <a:off x="628650" y="192113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mpact"/>
              <a:buNone/>
            </a:pPr>
            <a:r>
              <a:rPr b="0" lang="es" sz="3000">
                <a:solidFill>
                  <a:schemeClr val="dk1"/>
                </a:solidFill>
              </a:rPr>
              <a:t>Requerimientos de cliente</a:t>
            </a:r>
            <a:endParaRPr b="0"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1"/>
          <p:cNvSpPr txBox="1"/>
          <p:nvPr/>
        </p:nvSpPr>
        <p:spPr>
          <a:xfrm>
            <a:off x="457200" y="1295400"/>
            <a:ext cx="5715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s" sz="1100" u="none" cap="none" strike="noStrike">
                <a:solidFill>
                  <a:srgbClr val="8F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Todos los requerimientos se leen como «El sistema debe…»</a:t>
            </a:r>
            <a:endParaRPr b="0" i="1" sz="1100" u="none" cap="none" strike="noStrike">
              <a:solidFill>
                <a:srgbClr val="8FA3B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2" name="Google Shape;262;p41"/>
          <p:cNvSpPr txBox="1"/>
          <p:nvPr>
            <p:ph type="title"/>
          </p:nvPr>
        </p:nvSpPr>
        <p:spPr>
          <a:xfrm>
            <a:off x="628650" y="192113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mpact"/>
              <a:buNone/>
            </a:pPr>
            <a:r>
              <a:rPr b="0" lang="es" sz="3000">
                <a:solidFill>
                  <a:schemeClr val="dk1"/>
                </a:solidFill>
              </a:rPr>
              <a:t>Requerimientos - Estándares de protección</a:t>
            </a:r>
            <a:endParaRPr b="0" sz="3000">
              <a:solidFill>
                <a:schemeClr val="dk1"/>
              </a:solidFill>
            </a:endParaRPr>
          </a:p>
        </p:txBody>
      </p:sp>
      <p:graphicFrame>
        <p:nvGraphicFramePr>
          <p:cNvPr id="263" name="Google Shape;263;p41"/>
          <p:cNvGraphicFramePr/>
          <p:nvPr/>
        </p:nvGraphicFramePr>
        <p:xfrm>
          <a:off x="457200" y="1562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{37F896ED-BB3C-4C92-B849-1710B9282868}</a:tableStyleId>
              </a:tblPr>
              <a:tblGrid>
                <a:gridCol w="666750"/>
                <a:gridCol w="6038850"/>
                <a:gridCol w="1524000"/>
              </a:tblGrid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ID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Requerimiento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Tipo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R-18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Resistir vibraciones y choques mecánicos en el nodo tren, conforme IEC</a:t>
                      </a:r>
                      <a:r>
                        <a:rPr lang="es" sz="1300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 61373:2010</a:t>
                      </a: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, aplicable a equipos embarcados en vehículos ferroviarios.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Concreto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R-19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Operar bajo condiciones ambientales de temperatura, conforme EN 50155:202</a:t>
                      </a:r>
                      <a:r>
                        <a:rPr lang="es" sz="1300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</a:t>
                      </a: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 y los métodos de ensayo IEC</a:t>
                      </a:r>
                      <a:r>
                        <a:rPr lang="es" sz="1300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 60068-2-1:2007 </a:t>
                      </a: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 / </a:t>
                      </a:r>
                      <a:r>
                        <a:rPr lang="es" sz="1300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IEC 60068-2-2:2007</a:t>
                      </a: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.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Concreto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R-20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Resistir las condiciones ambientales de operación, conforme EN 50125-1:2014 asociadas al vehículo. 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Concreto</a:t>
                      </a:r>
                      <a:endParaRPr b="1" sz="1300" u="none" cap="none" strike="noStrike">
                        <a:solidFill>
                          <a:srgbClr val="0A1F3C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R-21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Cumplir un grado de protección de envolvente IP67 conforme IEC 60529. Aislaci</a:t>
                      </a:r>
                      <a:r>
                        <a:rPr lang="es" sz="1300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ón conforme EN 50124-1:2017.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Concreto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R-22</a:t>
                      </a:r>
                      <a:endParaRPr b="1" sz="1300" u="none" cap="none" strike="noStrike">
                        <a:solidFill>
                          <a:srgbClr val="14C99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Indicar cruce “no seguro” al menos 5 segundos antes del inicio del descenso de la barrera y continuarán emitiéndose hasta que recupere su posición vertical.</a:t>
                      </a:r>
                      <a:endParaRPr sz="1300" u="none" cap="none" strike="noStrike">
                        <a:solidFill>
                          <a:srgbClr val="EAF1F7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" sz="13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Concreto</a:t>
                      </a:r>
                      <a:endParaRPr b="1" sz="1300" u="none" cap="none" strike="noStrike">
                        <a:solidFill>
                          <a:srgbClr val="0A1F3C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R-23</a:t>
                      </a:r>
                      <a:endParaRPr b="1" sz="1300" u="none" cap="none" strike="noStrike">
                        <a:solidFill>
                          <a:srgbClr val="14C99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Emitir señales acústicas consistentes en un toque de campana cada segundo, con intensidad sonora de 95 dB o superior, medidos a un metro de distancia </a:t>
                      </a:r>
                      <a:endParaRPr sz="1300" u="none" cap="none" strike="noStrike">
                        <a:solidFill>
                          <a:srgbClr val="EAF1F7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" sz="13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Concreto</a:t>
                      </a:r>
                      <a:endParaRPr b="1" sz="1300" u="none" cap="none" strike="noStrike">
                        <a:solidFill>
                          <a:srgbClr val="0A1F3C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2"/>
          <p:cNvSpPr txBox="1"/>
          <p:nvPr/>
        </p:nvSpPr>
        <p:spPr>
          <a:xfrm>
            <a:off x="457200" y="1295400"/>
            <a:ext cx="5715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s" sz="1100" u="none" cap="none" strike="noStrike">
                <a:solidFill>
                  <a:srgbClr val="8F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Todos los requerimientos se leen como «El sistema debe…»</a:t>
            </a:r>
            <a:endParaRPr b="0" i="1" sz="1100" u="none" cap="none" strike="noStrike">
              <a:solidFill>
                <a:srgbClr val="8FA3B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9" name="Google Shape;269;p42"/>
          <p:cNvSpPr txBox="1"/>
          <p:nvPr>
            <p:ph type="title"/>
          </p:nvPr>
        </p:nvSpPr>
        <p:spPr>
          <a:xfrm>
            <a:off x="628650" y="192113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Impact"/>
              <a:buNone/>
            </a:pPr>
            <a:r>
              <a:rPr b="0" lang="es" sz="3000">
                <a:solidFill>
                  <a:schemeClr val="dk1"/>
                </a:solidFill>
              </a:rPr>
              <a:t>Requerimientos - Integración y seguridad</a:t>
            </a:r>
            <a:endParaRPr b="0" sz="3000">
              <a:solidFill>
                <a:schemeClr val="dk1"/>
              </a:solidFill>
            </a:endParaRPr>
          </a:p>
        </p:txBody>
      </p:sp>
      <p:graphicFrame>
        <p:nvGraphicFramePr>
          <p:cNvPr id="270" name="Google Shape;270;p42"/>
          <p:cNvGraphicFramePr/>
          <p:nvPr/>
        </p:nvGraphicFramePr>
        <p:xfrm>
          <a:off x="459486" y="1563623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{C6220BE4-14AD-4EDF-9DDA-9A874C470A1F}</a:tableStyleId>
              </a:tblPr>
              <a:tblGrid>
                <a:gridCol w="665225"/>
                <a:gridCol w="6041900"/>
                <a:gridCol w="1522475"/>
              </a:tblGrid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ID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Requerimiento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Tipo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R-24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Operar de forma independiente del sistema de detección existente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Concreto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R-25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 impedir ni retrasar el cierre de barrera del sistema existente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Concreto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R-26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Habilitar la apertura solo si el sistema existente indica vía libre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Concreto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R-27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Señalizar al peatón </a:t>
                      </a:r>
                      <a:r>
                        <a:rPr lang="es" sz="1300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sólo</a:t>
                      </a: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 el estado de cruce no seguro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b="1" lang="es" sz="1300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Tácito</a:t>
                      </a:r>
                      <a:endParaRPr b="1" sz="1300">
                        <a:solidFill>
                          <a:srgbClr val="0A1F3C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FA3B8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R-28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Acotar el tiempo en estado no seguro por ausencia de datos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b="1" lang="es" sz="1300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Tácito</a:t>
                      </a:r>
                      <a:endParaRPr b="1" sz="1300">
                        <a:solidFill>
                          <a:srgbClr val="0A1F3C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FA3B8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R-29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Autenticar y cifrar los mensajes de radio, y rechazar los repetidos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Concreto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R-30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Detectar sus propias fallas y adoptar el estado seguro por sí mismo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Concreto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R-31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Transmitir posición y estado por un canal ajeno al lazo de seguridad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Concreto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5" name="Google Shape;275;p43"/>
          <p:cNvGraphicFramePr/>
          <p:nvPr/>
        </p:nvGraphicFramePr>
        <p:xfrm>
          <a:off x="457200" y="14859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{37F896ED-BB3C-4C92-B849-1710B9282868}</a:tableStyleId>
              </a:tblPr>
              <a:tblGrid>
                <a:gridCol w="666750"/>
                <a:gridCol w="5848350"/>
                <a:gridCol w="17145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ID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Especificación de Diseño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Origen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E-1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Actualización G</a:t>
                      </a:r>
                      <a:r>
                        <a:rPr lang="es" sz="1300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NS</a:t>
                      </a: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 ≥ 3 Hz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R-1, R-2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E-2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Precisión de posición ≤ </a:t>
                      </a: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</a:t>
                      </a: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,5 m CEP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R-1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E-3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Beacon cada 500 ms: ID, lat, lon, velocidad, rumbo, timestamp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R-3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E-4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Enlace de radio en canal UHF con asignación exclusiva, </a:t>
                      </a:r>
                      <a:endParaRPr sz="1300">
                        <a:solidFill>
                          <a:srgbClr val="EAF1F7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460 a 463,7625 MHz, 2 W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R-8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E-5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Alcance mínimo garantizado ≥ 1.500 m con línea de vista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R-13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E-6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Latencia de transporte, desde la emisión del beacon hasta la decisión en el nodo cruce, ≤ 300 ms 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R-12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E-7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Sistema de clasificación de IDs por tipo y nombre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R-5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E-8a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2921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Algoritmo de interpolación de posiciones y predicción de tiempo de arribo</a:t>
                      </a:r>
                      <a:endParaRPr sz="1300" u="none" cap="none" strike="noStrike">
                        <a:solidFill>
                          <a:srgbClr val="EAF1F7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R-6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chemeClr val="accent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E-8b</a:t>
                      </a:r>
                      <a:endParaRPr b="1" sz="1300" u="none" cap="none" strike="noStrike">
                        <a:solidFill>
                          <a:srgbClr val="14C99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2921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Criterio de decisión configurable por el usuario</a:t>
                      </a:r>
                      <a:endParaRPr sz="1300" u="none" cap="none" strike="noStrike">
                        <a:solidFill>
                          <a:srgbClr val="EAF1F7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R-6</a:t>
                      </a:r>
                      <a:endParaRPr b="1" sz="1300" u="none" cap="none" strike="noStrike">
                        <a:solidFill>
                          <a:srgbClr val="14C99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</a:tbl>
          </a:graphicData>
        </a:graphic>
      </p:graphicFrame>
      <p:sp>
        <p:nvSpPr>
          <p:cNvPr id="276" name="Google Shape;276;p43"/>
          <p:cNvSpPr txBox="1"/>
          <p:nvPr>
            <p:ph type="title"/>
          </p:nvPr>
        </p:nvSpPr>
        <p:spPr>
          <a:xfrm>
            <a:off x="628650" y="192113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3C"/>
              </a:buClr>
              <a:buSzPts val="2300"/>
              <a:buFont typeface="Impact"/>
              <a:buNone/>
            </a:pPr>
            <a:r>
              <a:rPr b="0" lang="es" sz="3000">
                <a:solidFill>
                  <a:schemeClr val="dk1"/>
                </a:solidFill>
              </a:rPr>
              <a:t>Especificaciones de diseño de PANDA</a:t>
            </a:r>
            <a:endParaRPr b="0"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4"/>
          <p:cNvSpPr txBox="1"/>
          <p:nvPr>
            <p:ph type="title"/>
          </p:nvPr>
        </p:nvSpPr>
        <p:spPr>
          <a:xfrm>
            <a:off x="628650" y="192113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3C"/>
              </a:buClr>
              <a:buSzPts val="2300"/>
              <a:buFont typeface="Impact"/>
              <a:buNone/>
            </a:pPr>
            <a:r>
              <a:rPr b="0" lang="es" sz="3000">
                <a:solidFill>
                  <a:schemeClr val="dk1"/>
                </a:solidFill>
              </a:rPr>
              <a:t>Especificaciones de diseño de PANDA</a:t>
            </a:r>
            <a:endParaRPr b="0" sz="3000">
              <a:solidFill>
                <a:schemeClr val="dk1"/>
              </a:solidFill>
            </a:endParaRPr>
          </a:p>
        </p:txBody>
      </p:sp>
      <p:graphicFrame>
        <p:nvGraphicFramePr>
          <p:cNvPr id="282" name="Google Shape;282;p44"/>
          <p:cNvGraphicFramePr/>
          <p:nvPr/>
        </p:nvGraphicFramePr>
        <p:xfrm>
          <a:off x="457200" y="14859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{37F896ED-BB3C-4C92-B849-1710B9282868}</a:tableStyleId>
              </a:tblPr>
              <a:tblGrid>
                <a:gridCol w="666750"/>
                <a:gridCol w="5848350"/>
                <a:gridCol w="17145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ID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Especificación de Diseño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Origen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E-9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Desaparición de beacon por &gt; 1s → estado “sin datos” (nunca “seguro”)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R-16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E-10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Alerta visual (semáforo) y sonora. Respuesta ≤ 500ms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R-7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E-11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Alimentación desde 24 a 110 V de continua en el nodo tren y desde la red del cruce en el nodo fijo, con salidas reguladas de </a:t>
                      </a:r>
                      <a:r>
                        <a:rPr lang="es" sz="1300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12V</a:t>
                      </a:r>
                      <a:r>
                        <a:rPr lang="es" sz="1300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, </a:t>
                      </a:r>
                      <a:r>
                        <a:rPr lang="es" sz="1300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5V y</a:t>
                      </a:r>
                      <a:r>
                        <a:rPr lang="es" sz="1300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 </a:t>
                      </a:r>
                      <a:r>
                        <a:rPr lang="es" sz="1300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3,3</a:t>
                      </a:r>
                      <a:r>
                        <a:rPr lang="es" sz="1300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V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R-9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E-12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Respaldo de energía interno, autonomía ≥ 4h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R-17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E-13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Registro local con timestamp ≥ 2h, exportable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R-10, R-11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E-14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Nodo tren de peso ≤ 1,5kg, instalación ≤ 1h. </a:t>
                      </a:r>
                      <a:endParaRPr sz="1300">
                        <a:solidFill>
                          <a:srgbClr val="EAF1F7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Nodo cruce es de instalación fija </a:t>
                      </a:r>
                      <a:r>
                        <a:rPr lang="es" sz="1300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≤ 2h</a:t>
                      </a:r>
                      <a:r>
                        <a:rPr lang="es" sz="1300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, </a:t>
                      </a:r>
                      <a:r>
                        <a:rPr lang="es" sz="1300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peso ≤ 2kg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R-14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E-15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Costo por nodo ≤ USD 1000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R-15</a:t>
                      </a:r>
                      <a:endParaRPr sz="13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5"/>
          <p:cNvSpPr txBox="1"/>
          <p:nvPr>
            <p:ph type="title"/>
          </p:nvPr>
        </p:nvSpPr>
        <p:spPr>
          <a:xfrm>
            <a:off x="628650" y="192113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3C"/>
              </a:buClr>
              <a:buSzPts val="2300"/>
              <a:buFont typeface="Impact"/>
              <a:buNone/>
            </a:pPr>
            <a:r>
              <a:rPr b="0" lang="es" sz="3000">
                <a:solidFill>
                  <a:schemeClr val="dk1"/>
                </a:solidFill>
              </a:rPr>
              <a:t>Especificaciones de diseño de PANDA</a:t>
            </a:r>
            <a:endParaRPr b="0" sz="3000">
              <a:solidFill>
                <a:schemeClr val="dk1"/>
              </a:solidFill>
            </a:endParaRPr>
          </a:p>
        </p:txBody>
      </p:sp>
      <p:graphicFrame>
        <p:nvGraphicFramePr>
          <p:cNvPr id="288" name="Google Shape;288;p45"/>
          <p:cNvGraphicFramePr/>
          <p:nvPr/>
        </p:nvGraphicFramePr>
        <p:xfrm>
          <a:off x="459486" y="1248731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{C6220BE4-14AD-4EDF-9DDA-9A874C470A1F}</a:tableStyleId>
              </a:tblPr>
              <a:tblGrid>
                <a:gridCol w="665225"/>
                <a:gridCol w="5849875"/>
                <a:gridCol w="1714500"/>
              </a:tblGrid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ID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Especificación de Diseño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0A1F3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Origen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E-16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Envolvente IP67 conforme IEC 60529 en ambos nodos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R-21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E-17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Vibración y choque categoría 1 clase B conforme IEC 61373:2010, aplicable al nodo tren </a:t>
                      </a:r>
                      <a:endParaRPr sz="1300">
                        <a:solidFill>
                          <a:srgbClr val="EAF1F7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R-18</a:t>
                      </a:r>
                      <a:endParaRPr b="1" sz="1300">
                        <a:solidFill>
                          <a:srgbClr val="14C99A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E-18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Elementos expuestos a intemperie, antena, semáforo y cableado, operan de -25 a +70 °C. La electrónica alojada dentro del gabinete de equipos opera de -25 a +55 °C, verificado por IEC 60068-2-1:2007 y 2-2:2007 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R-19, R-20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E-19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Preaviso de </a:t>
                      </a:r>
                      <a:r>
                        <a:rPr lang="es" sz="1300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cruce</a:t>
                      </a: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 no seguro 5 s antes del descenso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R-22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E-20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Avisador acústico de 95 dB a 1 m, un toque por segundo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R-23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E-21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Contacto seco por relé de estado sólido y aislación conforme EN 50124-1:2017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R-24, R-25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E-22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AES-128 con CMAC y contador anti repetición, ventana de 2 s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R-29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E-23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Watchdog independiente y salida en estado seguro ante bloqueo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R-30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E-24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 u="none" cap="none" strike="noStrike">
                          <a:solidFill>
                            <a:srgbClr val="EAF1F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Estado sin datos menor al 2 % del tiempo, medido en 24 h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 u="none" cap="none" strike="noStrike">
                          <a:solidFill>
                            <a:srgbClr val="14C99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R-28</a:t>
                      </a:r>
                      <a:endParaRPr sz="1100"/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6"/>
          <p:cNvSpPr txBox="1"/>
          <p:nvPr>
            <p:ph type="title"/>
          </p:nvPr>
        </p:nvSpPr>
        <p:spPr>
          <a:xfrm>
            <a:off x="607663" y="630586"/>
            <a:ext cx="4149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3C"/>
              </a:buClr>
              <a:buSzPts val="2300"/>
              <a:buFont typeface="Impact"/>
              <a:buNone/>
            </a:pPr>
            <a:r>
              <a:rPr b="0" lang="es" sz="3000"/>
              <a:t>Casa de calidad (QFD)</a:t>
            </a:r>
            <a:endParaRPr b="0" sz="3000"/>
          </a:p>
        </p:txBody>
      </p:sp>
      <p:graphicFrame>
        <p:nvGraphicFramePr>
          <p:cNvPr id="294" name="Google Shape;294;p46"/>
          <p:cNvGraphicFramePr/>
          <p:nvPr/>
        </p:nvGraphicFramePr>
        <p:xfrm>
          <a:off x="1749619" y="19047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{37F896ED-BB3C-4C92-B849-1710B9282868}</a:tableStyleId>
              </a:tblPr>
              <a:tblGrid>
                <a:gridCol w="1809750"/>
                <a:gridCol w="381000"/>
                <a:gridCol w="419100"/>
                <a:gridCol w="419100"/>
                <a:gridCol w="419100"/>
                <a:gridCol w="419100"/>
                <a:gridCol w="419100"/>
                <a:gridCol w="419100"/>
                <a:gridCol w="419100"/>
                <a:gridCol w="419100"/>
                <a:gridCol w="419100"/>
                <a:gridCol w="495300"/>
                <a:gridCol w="658400"/>
              </a:tblGrid>
              <a:tr h="723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>
                          <a:solidFill>
                            <a:srgbClr val="0A1F3C"/>
                          </a:solidFill>
                        </a:rPr>
                        <a:t>Necesidad del usuario</a:t>
                      </a:r>
                      <a:endParaRPr sz="800" u="none" cap="none" strike="noStrike"/>
                    </a:p>
                  </a:txBody>
                  <a:tcPr marT="34300" marB="34300" marR="68600" marL="6860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>
                          <a:solidFill>
                            <a:srgbClr val="0A1F3C"/>
                          </a:solidFill>
                        </a:rPr>
                        <a:t>Importancia (1-5)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4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>
                          <a:solidFill>
                            <a:srgbClr val="0A1F3C"/>
                          </a:solidFill>
                        </a:rPr>
                        <a:t>% importancia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4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>
                          <a:solidFill>
                            <a:srgbClr val="0A1F3C"/>
                          </a:solidFill>
                        </a:rPr>
                        <a:t>Frec. GPS (Hz)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>
                          <a:solidFill>
                            <a:srgbClr val="0A1F3C"/>
                          </a:solidFill>
                        </a:rPr>
                        <a:t>Beacon (ms)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>
                          <a:solidFill>
                            <a:srgbClr val="0A1F3C"/>
                          </a:solidFill>
                        </a:rPr>
                        <a:t>Config. radio (SF)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>
                          <a:solidFill>
                            <a:srgbClr val="0A1F3C"/>
                          </a:solidFill>
                        </a:rPr>
                        <a:t>Alcance (m)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>
                          <a:solidFill>
                            <a:srgbClr val="0A1F3C"/>
                          </a:solidFill>
                        </a:rPr>
                        <a:t>Latencia (ms)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>
                          <a:solidFill>
                            <a:srgbClr val="0A1F3C"/>
                          </a:solidFill>
                        </a:rPr>
                        <a:t>Autonomía (h)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>
                          <a:solidFill>
                            <a:srgbClr val="0A1F3C"/>
                          </a:solidFill>
                        </a:rPr>
                        <a:t>Costo (USD)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>
                          <a:solidFill>
                            <a:srgbClr val="0A1F3C"/>
                          </a:solidFill>
                        </a:rPr>
                        <a:t>Instal. (min)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>
                          <a:solidFill>
                            <a:srgbClr val="0A1F3C"/>
                          </a:solidFill>
                        </a:rPr>
                        <a:t>Circuito de vía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4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>
                          <a:solidFill>
                            <a:srgbClr val="0A1F3C"/>
                          </a:solidFill>
                        </a:rPr>
                        <a:t>Señalización pasiva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4EC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Minimizar tiempo de barrera baja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4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5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17%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●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●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△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○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●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○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2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1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Alertar claramente al peatón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4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4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14%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△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○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○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●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○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2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1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Sin falsos “vía libre”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4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5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17%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●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●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△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●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●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△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4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1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Funcionar sin electrificación en zona rural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4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4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14%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△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●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△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△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2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5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Fácil instalación y mantenimiento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4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3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10%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△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△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△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●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1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5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Bajo costo por cruce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4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4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14%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△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△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○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△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●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△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2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5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Autonomía ante corte de energía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4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4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14%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●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△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3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cap="none" strike="noStrike">
                          <a:solidFill>
                            <a:srgbClr val="0A1F3C"/>
                          </a:solidFill>
                        </a:rPr>
                        <a:t>5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>
                          <a:solidFill>
                            <a:srgbClr val="FFFFFF"/>
                          </a:solidFill>
                        </a:rPr>
                        <a:t>Calificación de importancia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F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>
                          <a:solidFill>
                            <a:srgbClr val="0A1F3C"/>
                          </a:solidFill>
                        </a:rPr>
                        <a:t>10.2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>
                          <a:solidFill>
                            <a:srgbClr val="0A1F3C"/>
                          </a:solidFill>
                        </a:rPr>
                        <a:t>10.6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>
                          <a:solidFill>
                            <a:srgbClr val="0A1F3C"/>
                          </a:solidFill>
                        </a:rPr>
                        <a:t>4.2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>
                          <a:solidFill>
                            <a:srgbClr val="0A1F3C"/>
                          </a:solidFill>
                        </a:rPr>
                        <a:t>7.9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>
                          <a:solidFill>
                            <a:srgbClr val="0A1F3C"/>
                          </a:solidFill>
                        </a:rPr>
                        <a:t>12.6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>
                          <a:solidFill>
                            <a:srgbClr val="0A1F3C"/>
                          </a:solidFill>
                        </a:rPr>
                        <a:t>11.7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>
                          <a:solidFill>
                            <a:srgbClr val="0A1F3C"/>
                          </a:solidFill>
                        </a:rPr>
                        <a:t>6.9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>
                          <a:solidFill>
                            <a:srgbClr val="0A1F3C"/>
                          </a:solidFill>
                        </a:rPr>
                        <a:t>5.1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6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>
                          <a:solidFill>
                            <a:srgbClr val="FFFFFF"/>
                          </a:solidFill>
                        </a:rPr>
                        <a:t>Porcentaje de importancia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F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>
                          <a:solidFill>
                            <a:srgbClr val="0A1F3C"/>
                          </a:solidFill>
                        </a:rPr>
                        <a:t>15%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>
                          <a:solidFill>
                            <a:srgbClr val="0A1F3C"/>
                          </a:solidFill>
                        </a:rPr>
                        <a:t>15%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>
                          <a:solidFill>
                            <a:srgbClr val="0A1F3C"/>
                          </a:solidFill>
                        </a:rPr>
                        <a:t>6%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>
                          <a:solidFill>
                            <a:srgbClr val="0A1F3C"/>
                          </a:solidFill>
                        </a:rPr>
                        <a:t>11%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>
                          <a:solidFill>
                            <a:srgbClr val="0A1F3C"/>
                          </a:solidFill>
                        </a:rPr>
                        <a:t>19%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>
                          <a:solidFill>
                            <a:srgbClr val="0A1F3C"/>
                          </a:solidFill>
                        </a:rPr>
                        <a:t>17%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>
                          <a:solidFill>
                            <a:srgbClr val="0A1F3C"/>
                          </a:solidFill>
                        </a:rPr>
                        <a:t>10%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" sz="800" u="none" cap="none" strike="noStrike">
                          <a:solidFill>
                            <a:srgbClr val="0A1F3C"/>
                          </a:solidFill>
                        </a:rPr>
                        <a:t>7%</a:t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3F6"/>
                    </a:solidFill>
                  </a:tcPr>
                </a:tc>
              </a:tr>
            </a:tbl>
          </a:graphicData>
        </a:graphic>
      </p:graphicFrame>
      <p:sp>
        <p:nvSpPr>
          <p:cNvPr id="295" name="Google Shape;295;p46"/>
          <p:cNvSpPr/>
          <p:nvPr/>
        </p:nvSpPr>
        <p:spPr>
          <a:xfrm>
            <a:off x="7712269" y="1638009"/>
            <a:ext cx="1153500" cy="247800"/>
          </a:xfrm>
          <a:prstGeom prst="rect">
            <a:avLst/>
          </a:prstGeom>
          <a:solidFill>
            <a:srgbClr val="14C99A"/>
          </a:solidFill>
          <a:ln>
            <a:noFill/>
          </a:ln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rgbClr val="0A1F3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COMPETENCIA</a:t>
            </a:r>
            <a:endParaRPr b="0" i="0" sz="11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6" name="Google Shape;296;p46"/>
          <p:cNvSpPr/>
          <p:nvPr/>
        </p:nvSpPr>
        <p:spPr>
          <a:xfrm>
            <a:off x="225619" y="1485609"/>
            <a:ext cx="1409700" cy="247800"/>
          </a:xfrm>
          <a:prstGeom prst="rect">
            <a:avLst/>
          </a:prstGeom>
          <a:solidFill>
            <a:srgbClr val="0A1F3C"/>
          </a:solidFill>
          <a:ln>
            <a:noFill/>
          </a:ln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Matriz de correlación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46"/>
          <p:cNvSpPr/>
          <p:nvPr/>
        </p:nvSpPr>
        <p:spPr>
          <a:xfrm>
            <a:off x="225619" y="1733259"/>
            <a:ext cx="1409700" cy="9906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C9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75C"/>
              </a:buClr>
              <a:buSzPts val="900"/>
              <a:buFont typeface="Quattrocento Sans"/>
              <a:buNone/>
            </a:pPr>
            <a:r>
              <a:rPr b="0" i="0" lang="es" sz="900" u="none" cap="none" strike="noStrike">
                <a:solidFill>
                  <a:srgbClr val="3347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++  Fuerte positiva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  <a:buClr>
                <a:srgbClr val="33475C"/>
              </a:buClr>
              <a:buSzPts val="900"/>
              <a:buFont typeface="Quattrocento Sans"/>
              <a:buNone/>
            </a:pPr>
            <a:r>
              <a:rPr b="0" i="0" lang="es" sz="900" u="none" cap="none" strike="noStrike">
                <a:solidFill>
                  <a:srgbClr val="3347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    Positiva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  <a:buClr>
                <a:srgbClr val="33475C"/>
              </a:buClr>
              <a:buSzPts val="900"/>
              <a:buFont typeface="Quattrocento Sans"/>
              <a:buNone/>
            </a:pPr>
            <a:r>
              <a:rPr b="0" i="0" lang="es" sz="900" u="none" cap="none" strike="noStrike">
                <a:solidFill>
                  <a:srgbClr val="3347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−    Negativa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  <a:buClr>
                <a:srgbClr val="33475C"/>
              </a:buClr>
              <a:buSzPts val="900"/>
              <a:buFont typeface="Quattrocento Sans"/>
              <a:buNone/>
            </a:pPr>
            <a:r>
              <a:rPr b="0" i="0" lang="es" sz="900" u="none" cap="none" strike="noStrike">
                <a:solidFill>
                  <a:srgbClr val="3347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−−  Fuerte negativa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46"/>
          <p:cNvSpPr/>
          <p:nvPr/>
        </p:nvSpPr>
        <p:spPr>
          <a:xfrm>
            <a:off x="225619" y="2914359"/>
            <a:ext cx="1409700" cy="247800"/>
          </a:xfrm>
          <a:prstGeom prst="rect">
            <a:avLst/>
          </a:prstGeom>
          <a:solidFill>
            <a:srgbClr val="0A1F3C"/>
          </a:solidFill>
          <a:ln>
            <a:noFill/>
          </a:ln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Matriz de relaciones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6"/>
          <p:cNvSpPr/>
          <p:nvPr/>
        </p:nvSpPr>
        <p:spPr>
          <a:xfrm>
            <a:off x="225619" y="3162009"/>
            <a:ext cx="1409700" cy="9906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C9D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700" lIns="34275" spcFirstLastPara="1" rIns="34275" wrap="square" tIns="13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33475C"/>
              </a:buClr>
              <a:buSzPts val="900"/>
              <a:buFont typeface="Quattrocento Sans"/>
              <a:buNone/>
            </a:pPr>
            <a:r>
              <a:rPr b="0" i="0" lang="es" sz="900" u="none" cap="none" strike="noStrike">
                <a:solidFill>
                  <a:srgbClr val="3347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●  Fuerte · 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  <a:buClr>
                <a:srgbClr val="33475C"/>
              </a:buClr>
              <a:buSzPts val="900"/>
              <a:buFont typeface="Quattrocento Sans"/>
              <a:buNone/>
            </a:pPr>
            <a:r>
              <a:rPr b="0" i="0" lang="es" sz="900" u="none" cap="none" strike="noStrike">
                <a:solidFill>
                  <a:srgbClr val="3347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○  Media · 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  <a:buClr>
                <a:srgbClr val="33475C"/>
              </a:buClr>
              <a:buSzPts val="900"/>
              <a:buFont typeface="Quattrocento Sans"/>
              <a:buNone/>
            </a:pPr>
            <a:r>
              <a:rPr b="0" i="0" lang="es" sz="900" u="none" cap="none" strike="noStrike">
                <a:solidFill>
                  <a:srgbClr val="3347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△  Débil · 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  <a:buClr>
                <a:srgbClr val="33475C"/>
              </a:buClr>
              <a:buSzPts val="900"/>
              <a:buFont typeface="Quattrocento Sans"/>
              <a:buNone/>
            </a:pPr>
            <a:r>
              <a:rPr b="0" i="0" lang="es" sz="900" u="none" cap="none" strike="noStrike">
                <a:solidFill>
                  <a:srgbClr val="3347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vacío  Sin relación · 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46"/>
          <p:cNvSpPr/>
          <p:nvPr/>
        </p:nvSpPr>
        <p:spPr>
          <a:xfrm>
            <a:off x="4569019" y="1485609"/>
            <a:ext cx="419100" cy="419100"/>
          </a:xfrm>
          <a:prstGeom prst="diamond">
            <a:avLst/>
          </a:prstGeom>
          <a:solidFill>
            <a:srgbClr val="FFFFFF"/>
          </a:solidFill>
          <a:ln cap="flat" cmpd="sng" w="7150">
            <a:solidFill>
              <a:srgbClr val="8F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0E8C6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46"/>
          <p:cNvSpPr/>
          <p:nvPr/>
        </p:nvSpPr>
        <p:spPr>
          <a:xfrm>
            <a:off x="4778569" y="1276059"/>
            <a:ext cx="419100" cy="419100"/>
          </a:xfrm>
          <a:prstGeom prst="diamond">
            <a:avLst/>
          </a:prstGeom>
          <a:solidFill>
            <a:srgbClr val="FFFFFF"/>
          </a:solidFill>
          <a:ln cap="flat" cmpd="sng" w="7150">
            <a:solidFill>
              <a:srgbClr val="8F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46"/>
          <p:cNvSpPr/>
          <p:nvPr/>
        </p:nvSpPr>
        <p:spPr>
          <a:xfrm>
            <a:off x="4988119" y="1066509"/>
            <a:ext cx="419100" cy="419100"/>
          </a:xfrm>
          <a:prstGeom prst="diamond">
            <a:avLst/>
          </a:prstGeom>
          <a:solidFill>
            <a:srgbClr val="FFFFFF"/>
          </a:solidFill>
          <a:ln cap="flat" cmpd="sng" w="7150">
            <a:solidFill>
              <a:srgbClr val="8F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46"/>
          <p:cNvSpPr/>
          <p:nvPr/>
        </p:nvSpPr>
        <p:spPr>
          <a:xfrm>
            <a:off x="5197669" y="856959"/>
            <a:ext cx="419100" cy="419100"/>
          </a:xfrm>
          <a:prstGeom prst="diamond">
            <a:avLst/>
          </a:prstGeom>
          <a:solidFill>
            <a:srgbClr val="FFFFFF"/>
          </a:solidFill>
          <a:ln cap="flat" cmpd="sng" w="7150">
            <a:solidFill>
              <a:srgbClr val="8F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0E8C6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6"/>
          <p:cNvSpPr/>
          <p:nvPr/>
        </p:nvSpPr>
        <p:spPr>
          <a:xfrm>
            <a:off x="5407219" y="647409"/>
            <a:ext cx="419100" cy="419100"/>
          </a:xfrm>
          <a:prstGeom prst="diamond">
            <a:avLst/>
          </a:prstGeom>
          <a:solidFill>
            <a:srgbClr val="FFFFFF"/>
          </a:solidFill>
          <a:ln cap="flat" cmpd="sng" w="7150">
            <a:solidFill>
              <a:srgbClr val="8F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C050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−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46"/>
          <p:cNvSpPr/>
          <p:nvPr/>
        </p:nvSpPr>
        <p:spPr>
          <a:xfrm>
            <a:off x="5616769" y="437859"/>
            <a:ext cx="419100" cy="419100"/>
          </a:xfrm>
          <a:prstGeom prst="diamond">
            <a:avLst/>
          </a:prstGeom>
          <a:solidFill>
            <a:srgbClr val="FFFFFF"/>
          </a:solidFill>
          <a:ln cap="flat" cmpd="sng" w="7150">
            <a:solidFill>
              <a:srgbClr val="8F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C050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−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6"/>
          <p:cNvSpPr/>
          <p:nvPr/>
        </p:nvSpPr>
        <p:spPr>
          <a:xfrm>
            <a:off x="5826319" y="228309"/>
            <a:ext cx="419100" cy="419100"/>
          </a:xfrm>
          <a:prstGeom prst="diamond">
            <a:avLst/>
          </a:prstGeom>
          <a:solidFill>
            <a:srgbClr val="FFFFFF"/>
          </a:solidFill>
          <a:ln cap="flat" cmpd="sng" w="7150">
            <a:solidFill>
              <a:srgbClr val="8F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6"/>
          <p:cNvSpPr/>
          <p:nvPr/>
        </p:nvSpPr>
        <p:spPr>
          <a:xfrm>
            <a:off x="4988119" y="1485609"/>
            <a:ext cx="419100" cy="419100"/>
          </a:xfrm>
          <a:prstGeom prst="diamond">
            <a:avLst/>
          </a:prstGeom>
          <a:solidFill>
            <a:srgbClr val="FFFFFF"/>
          </a:solidFill>
          <a:ln cap="flat" cmpd="sng" w="7150">
            <a:solidFill>
              <a:srgbClr val="8F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C050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−−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46"/>
          <p:cNvSpPr/>
          <p:nvPr/>
        </p:nvSpPr>
        <p:spPr>
          <a:xfrm>
            <a:off x="5197669" y="1276059"/>
            <a:ext cx="419100" cy="419100"/>
          </a:xfrm>
          <a:prstGeom prst="diamond">
            <a:avLst/>
          </a:prstGeom>
          <a:solidFill>
            <a:srgbClr val="FFFFFF"/>
          </a:solidFill>
          <a:ln cap="flat" cmpd="sng" w="7150">
            <a:solidFill>
              <a:srgbClr val="8F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46"/>
          <p:cNvSpPr/>
          <p:nvPr/>
        </p:nvSpPr>
        <p:spPr>
          <a:xfrm>
            <a:off x="5407219" y="1066509"/>
            <a:ext cx="419100" cy="419100"/>
          </a:xfrm>
          <a:prstGeom prst="diamond">
            <a:avLst/>
          </a:prstGeom>
          <a:solidFill>
            <a:srgbClr val="FFFFFF"/>
          </a:solidFill>
          <a:ln cap="flat" cmpd="sng" w="7150">
            <a:solidFill>
              <a:srgbClr val="8F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0E8C6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++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6"/>
          <p:cNvSpPr/>
          <p:nvPr/>
        </p:nvSpPr>
        <p:spPr>
          <a:xfrm>
            <a:off x="5616769" y="856959"/>
            <a:ext cx="419100" cy="419100"/>
          </a:xfrm>
          <a:prstGeom prst="diamond">
            <a:avLst/>
          </a:prstGeom>
          <a:solidFill>
            <a:srgbClr val="FFFFFF"/>
          </a:solidFill>
          <a:ln cap="flat" cmpd="sng" w="7150">
            <a:solidFill>
              <a:srgbClr val="8F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C050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−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6"/>
          <p:cNvSpPr/>
          <p:nvPr/>
        </p:nvSpPr>
        <p:spPr>
          <a:xfrm>
            <a:off x="5826319" y="647409"/>
            <a:ext cx="419100" cy="419100"/>
          </a:xfrm>
          <a:prstGeom prst="diamond">
            <a:avLst/>
          </a:prstGeom>
          <a:solidFill>
            <a:srgbClr val="FFFFFF"/>
          </a:solidFill>
          <a:ln cap="flat" cmpd="sng" w="7150">
            <a:solidFill>
              <a:srgbClr val="8F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6"/>
          <p:cNvSpPr/>
          <p:nvPr/>
        </p:nvSpPr>
        <p:spPr>
          <a:xfrm>
            <a:off x="6035869" y="437859"/>
            <a:ext cx="419100" cy="419100"/>
          </a:xfrm>
          <a:prstGeom prst="diamond">
            <a:avLst/>
          </a:prstGeom>
          <a:solidFill>
            <a:srgbClr val="FFFFFF"/>
          </a:solidFill>
          <a:ln cap="flat" cmpd="sng" w="7150">
            <a:solidFill>
              <a:srgbClr val="8F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6"/>
          <p:cNvSpPr/>
          <p:nvPr/>
        </p:nvSpPr>
        <p:spPr>
          <a:xfrm>
            <a:off x="5407219" y="1485609"/>
            <a:ext cx="419100" cy="419100"/>
          </a:xfrm>
          <a:prstGeom prst="diamond">
            <a:avLst/>
          </a:prstGeom>
          <a:solidFill>
            <a:srgbClr val="FFFFFF"/>
          </a:solidFill>
          <a:ln cap="flat" cmpd="sng" w="7150">
            <a:solidFill>
              <a:srgbClr val="8F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0E8C6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++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6"/>
          <p:cNvSpPr/>
          <p:nvPr/>
        </p:nvSpPr>
        <p:spPr>
          <a:xfrm>
            <a:off x="5616769" y="1276059"/>
            <a:ext cx="419100" cy="419100"/>
          </a:xfrm>
          <a:prstGeom prst="diamond">
            <a:avLst/>
          </a:prstGeom>
          <a:solidFill>
            <a:srgbClr val="FFFFFF"/>
          </a:solidFill>
          <a:ln cap="flat" cmpd="sng" w="7150">
            <a:solidFill>
              <a:srgbClr val="8F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C050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−−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6"/>
          <p:cNvSpPr/>
          <p:nvPr/>
        </p:nvSpPr>
        <p:spPr>
          <a:xfrm>
            <a:off x="5826319" y="1066509"/>
            <a:ext cx="419100" cy="419100"/>
          </a:xfrm>
          <a:prstGeom prst="diamond">
            <a:avLst/>
          </a:prstGeom>
          <a:solidFill>
            <a:srgbClr val="FFFFFF"/>
          </a:solidFill>
          <a:ln cap="flat" cmpd="sng" w="7150">
            <a:solidFill>
              <a:srgbClr val="8F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C050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−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6"/>
          <p:cNvSpPr/>
          <p:nvPr/>
        </p:nvSpPr>
        <p:spPr>
          <a:xfrm>
            <a:off x="6035869" y="856959"/>
            <a:ext cx="419100" cy="419100"/>
          </a:xfrm>
          <a:prstGeom prst="diamond">
            <a:avLst/>
          </a:prstGeom>
          <a:solidFill>
            <a:srgbClr val="FFFFFF"/>
          </a:solidFill>
          <a:ln cap="flat" cmpd="sng" w="7150">
            <a:solidFill>
              <a:srgbClr val="8F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46"/>
          <p:cNvSpPr/>
          <p:nvPr/>
        </p:nvSpPr>
        <p:spPr>
          <a:xfrm>
            <a:off x="6245419" y="647409"/>
            <a:ext cx="419100" cy="419100"/>
          </a:xfrm>
          <a:prstGeom prst="diamond">
            <a:avLst/>
          </a:prstGeom>
          <a:solidFill>
            <a:srgbClr val="FFFFFF"/>
          </a:solidFill>
          <a:ln cap="flat" cmpd="sng" w="7150">
            <a:solidFill>
              <a:srgbClr val="8F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46"/>
          <p:cNvSpPr/>
          <p:nvPr/>
        </p:nvSpPr>
        <p:spPr>
          <a:xfrm>
            <a:off x="5826319" y="1485609"/>
            <a:ext cx="419100" cy="419100"/>
          </a:xfrm>
          <a:prstGeom prst="diamond">
            <a:avLst/>
          </a:prstGeom>
          <a:solidFill>
            <a:srgbClr val="FFFFFF"/>
          </a:solidFill>
          <a:ln cap="flat" cmpd="sng" w="7150">
            <a:solidFill>
              <a:srgbClr val="8F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C050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−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46"/>
          <p:cNvSpPr/>
          <p:nvPr/>
        </p:nvSpPr>
        <p:spPr>
          <a:xfrm>
            <a:off x="6035869" y="1276059"/>
            <a:ext cx="419100" cy="419100"/>
          </a:xfrm>
          <a:prstGeom prst="diamond">
            <a:avLst/>
          </a:prstGeom>
          <a:solidFill>
            <a:srgbClr val="FFFFFF"/>
          </a:solidFill>
          <a:ln cap="flat" cmpd="sng" w="7150">
            <a:solidFill>
              <a:srgbClr val="8F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C050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−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46"/>
          <p:cNvSpPr/>
          <p:nvPr/>
        </p:nvSpPr>
        <p:spPr>
          <a:xfrm>
            <a:off x="6245419" y="1066509"/>
            <a:ext cx="419100" cy="419100"/>
          </a:xfrm>
          <a:prstGeom prst="diamond">
            <a:avLst/>
          </a:prstGeom>
          <a:solidFill>
            <a:srgbClr val="FFFFFF"/>
          </a:solidFill>
          <a:ln cap="flat" cmpd="sng" w="7150">
            <a:solidFill>
              <a:srgbClr val="8F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C050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−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6"/>
          <p:cNvSpPr/>
          <p:nvPr/>
        </p:nvSpPr>
        <p:spPr>
          <a:xfrm>
            <a:off x="6454969" y="856959"/>
            <a:ext cx="419100" cy="419100"/>
          </a:xfrm>
          <a:prstGeom prst="diamond">
            <a:avLst/>
          </a:prstGeom>
          <a:solidFill>
            <a:srgbClr val="FFFFFF"/>
          </a:solidFill>
          <a:ln cap="flat" cmpd="sng" w="7150">
            <a:solidFill>
              <a:srgbClr val="8F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C050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−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6"/>
          <p:cNvSpPr/>
          <p:nvPr/>
        </p:nvSpPr>
        <p:spPr>
          <a:xfrm>
            <a:off x="6245419" y="1485609"/>
            <a:ext cx="419100" cy="419100"/>
          </a:xfrm>
          <a:prstGeom prst="diamond">
            <a:avLst/>
          </a:prstGeom>
          <a:solidFill>
            <a:srgbClr val="FFFFFF"/>
          </a:solidFill>
          <a:ln cap="flat" cmpd="sng" w="7150">
            <a:solidFill>
              <a:srgbClr val="8F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6"/>
          <p:cNvSpPr/>
          <p:nvPr/>
        </p:nvSpPr>
        <p:spPr>
          <a:xfrm>
            <a:off x="6454969" y="1276059"/>
            <a:ext cx="419100" cy="419100"/>
          </a:xfrm>
          <a:prstGeom prst="diamond">
            <a:avLst/>
          </a:prstGeom>
          <a:solidFill>
            <a:srgbClr val="FFFFFF"/>
          </a:solidFill>
          <a:ln cap="flat" cmpd="sng" w="7150">
            <a:solidFill>
              <a:srgbClr val="8F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6"/>
          <p:cNvSpPr/>
          <p:nvPr/>
        </p:nvSpPr>
        <p:spPr>
          <a:xfrm>
            <a:off x="6664519" y="1066509"/>
            <a:ext cx="419100" cy="419100"/>
          </a:xfrm>
          <a:prstGeom prst="diamond">
            <a:avLst/>
          </a:prstGeom>
          <a:solidFill>
            <a:srgbClr val="FFFFFF"/>
          </a:solidFill>
          <a:ln cap="flat" cmpd="sng" w="7150">
            <a:solidFill>
              <a:srgbClr val="8F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6"/>
          <p:cNvSpPr/>
          <p:nvPr/>
        </p:nvSpPr>
        <p:spPr>
          <a:xfrm>
            <a:off x="6664519" y="1485609"/>
            <a:ext cx="419100" cy="419100"/>
          </a:xfrm>
          <a:prstGeom prst="diamond">
            <a:avLst/>
          </a:prstGeom>
          <a:solidFill>
            <a:srgbClr val="FFFFFF"/>
          </a:solidFill>
          <a:ln cap="flat" cmpd="sng" w="7150">
            <a:solidFill>
              <a:srgbClr val="8F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C050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−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6"/>
          <p:cNvSpPr/>
          <p:nvPr/>
        </p:nvSpPr>
        <p:spPr>
          <a:xfrm>
            <a:off x="6874069" y="1276059"/>
            <a:ext cx="419100" cy="419100"/>
          </a:xfrm>
          <a:prstGeom prst="diamond">
            <a:avLst/>
          </a:prstGeom>
          <a:solidFill>
            <a:srgbClr val="FFFFFF"/>
          </a:solidFill>
          <a:ln cap="flat" cmpd="sng" w="7150">
            <a:solidFill>
              <a:srgbClr val="8F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6"/>
          <p:cNvSpPr/>
          <p:nvPr/>
        </p:nvSpPr>
        <p:spPr>
          <a:xfrm>
            <a:off x="7083619" y="1485609"/>
            <a:ext cx="419100" cy="419100"/>
          </a:xfrm>
          <a:prstGeom prst="diamond">
            <a:avLst/>
          </a:prstGeom>
          <a:solidFill>
            <a:srgbClr val="FFFFFF"/>
          </a:solidFill>
          <a:ln cap="flat" cmpd="sng" w="7150">
            <a:solidFill>
              <a:srgbClr val="8F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s" sz="800" u="none" cap="none" strike="noStrike">
                <a:solidFill>
                  <a:srgbClr val="0E8C6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2" name="Google Shape;332;p47"/>
          <p:cNvGrpSpPr/>
          <p:nvPr/>
        </p:nvGrpSpPr>
        <p:grpSpPr>
          <a:xfrm>
            <a:off x="0" y="4884710"/>
            <a:ext cx="9143818" cy="258796"/>
            <a:chOff x="0" y="-47625"/>
            <a:chExt cx="4816592" cy="185185"/>
          </a:xfrm>
        </p:grpSpPr>
        <p:sp>
          <p:nvSpPr>
            <p:cNvPr id="333" name="Google Shape;333;p47"/>
            <p:cNvSpPr/>
            <p:nvPr/>
          </p:nvSpPr>
          <p:spPr>
            <a:xfrm>
              <a:off x="0" y="0"/>
              <a:ext cx="4816592" cy="137560"/>
            </a:xfrm>
            <a:custGeom>
              <a:rect b="b" l="l" r="r" t="t"/>
              <a:pathLst>
                <a:path extrusionOk="0" h="13756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7560"/>
                  </a:lnTo>
                  <a:lnTo>
                    <a:pt x="0" y="137560"/>
                  </a:lnTo>
                  <a:close/>
                </a:path>
              </a:pathLst>
            </a:custGeom>
            <a:solidFill>
              <a:srgbClr val="0E8F6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47"/>
            <p:cNvSpPr txBox="1"/>
            <p:nvPr/>
          </p:nvSpPr>
          <p:spPr>
            <a:xfrm>
              <a:off x="0" y="-47625"/>
              <a:ext cx="4816500" cy="185100"/>
            </a:xfrm>
            <a:prstGeom prst="rect">
              <a:avLst/>
            </a:prstGeom>
            <a:solidFill>
              <a:srgbClr val="0E8F6E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5" name="Google Shape;335;p47"/>
          <p:cNvSpPr txBox="1"/>
          <p:nvPr/>
        </p:nvSpPr>
        <p:spPr>
          <a:xfrm>
            <a:off x="136241" y="4952423"/>
            <a:ext cx="2443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Instituto Tecnológico de Buenos Aires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7"/>
          <p:cNvSpPr txBox="1"/>
          <p:nvPr/>
        </p:nvSpPr>
        <p:spPr>
          <a:xfrm>
            <a:off x="6568516" y="4952423"/>
            <a:ext cx="2443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27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7" name="Google Shape;337;p47"/>
          <p:cNvGrpSpPr/>
          <p:nvPr/>
        </p:nvGrpSpPr>
        <p:grpSpPr>
          <a:xfrm>
            <a:off x="0" y="4884710"/>
            <a:ext cx="9143818" cy="258796"/>
            <a:chOff x="0" y="-47625"/>
            <a:chExt cx="4816592" cy="185185"/>
          </a:xfrm>
        </p:grpSpPr>
        <p:sp>
          <p:nvSpPr>
            <p:cNvPr id="338" name="Google Shape;338;p47"/>
            <p:cNvSpPr/>
            <p:nvPr/>
          </p:nvSpPr>
          <p:spPr>
            <a:xfrm>
              <a:off x="0" y="0"/>
              <a:ext cx="4816592" cy="137560"/>
            </a:xfrm>
            <a:custGeom>
              <a:rect b="b" l="l" r="r" t="t"/>
              <a:pathLst>
                <a:path extrusionOk="0" h="13756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7560"/>
                  </a:lnTo>
                  <a:lnTo>
                    <a:pt x="0" y="137560"/>
                  </a:lnTo>
                  <a:close/>
                </a:path>
              </a:pathLst>
            </a:custGeom>
            <a:solidFill>
              <a:srgbClr val="0E8F6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47"/>
            <p:cNvSpPr txBox="1"/>
            <p:nvPr/>
          </p:nvSpPr>
          <p:spPr>
            <a:xfrm>
              <a:off x="0" y="-47625"/>
              <a:ext cx="4816500" cy="185100"/>
            </a:xfrm>
            <a:prstGeom prst="rect">
              <a:avLst/>
            </a:prstGeom>
            <a:solidFill>
              <a:srgbClr val="0E8F6E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0" name="Google Shape;340;p47"/>
          <p:cNvGrpSpPr/>
          <p:nvPr/>
        </p:nvGrpSpPr>
        <p:grpSpPr>
          <a:xfrm>
            <a:off x="0" y="-130303"/>
            <a:ext cx="9143818" cy="857257"/>
            <a:chOff x="0" y="-47625"/>
            <a:chExt cx="4816592" cy="318600"/>
          </a:xfrm>
        </p:grpSpPr>
        <p:sp>
          <p:nvSpPr>
            <p:cNvPr id="341" name="Google Shape;341;p47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D25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47"/>
            <p:cNvSpPr txBox="1"/>
            <p:nvPr/>
          </p:nvSpPr>
          <p:spPr>
            <a:xfrm>
              <a:off x="0" y="-47625"/>
              <a:ext cx="4816500" cy="3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3" name="Google Shape;343;p47"/>
          <p:cNvSpPr txBox="1"/>
          <p:nvPr/>
        </p:nvSpPr>
        <p:spPr>
          <a:xfrm>
            <a:off x="137160" y="58075"/>
            <a:ext cx="49380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BANCO DE PRUEBAS</a:t>
            </a:r>
            <a:endParaRPr b="0" i="0" sz="27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44" name="Google Shape;344;p47"/>
          <p:cNvSpPr txBox="1"/>
          <p:nvPr/>
        </p:nvSpPr>
        <p:spPr>
          <a:xfrm>
            <a:off x="136241" y="4952423"/>
            <a:ext cx="2443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Instituto Tecnológico de Buenos Aires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47"/>
          <p:cNvSpPr txBox="1"/>
          <p:nvPr/>
        </p:nvSpPr>
        <p:spPr>
          <a:xfrm>
            <a:off x="137160" y="438912"/>
            <a:ext cx="4457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500" u="none" cap="none" strike="noStrike">
                <a:solidFill>
                  <a:srgbClr val="14C99A"/>
                </a:solidFill>
                <a:latin typeface="Impact"/>
                <a:ea typeface="Impact"/>
                <a:cs typeface="Impact"/>
                <a:sym typeface="Impact"/>
              </a:rPr>
              <a:t>VALIDACIÓN Y PUESTA EN MARCHA</a:t>
            </a:r>
            <a:endParaRPr sz="1100"/>
          </a:p>
        </p:txBody>
      </p:sp>
      <p:graphicFrame>
        <p:nvGraphicFramePr>
          <p:cNvPr id="346" name="Google Shape;346;p47"/>
          <p:cNvGraphicFramePr/>
          <p:nvPr/>
        </p:nvGraphicFramePr>
        <p:xfrm>
          <a:off x="364845" y="100763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{C6220BE4-14AD-4EDF-9DDA-9A874C470A1F}</a:tableStyleId>
              </a:tblPr>
              <a:tblGrid>
                <a:gridCol w="2070250"/>
                <a:gridCol w="3614150"/>
                <a:gridCol w="2729925"/>
              </a:tblGrid>
              <a:tr h="38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Etapa</a:t>
                      </a:r>
                      <a:endParaRPr sz="11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Qué se verifica</a:t>
                      </a:r>
                      <a:endParaRPr sz="11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 u="none" cap="none" strike="noStrike">
                          <a:solidFill>
                            <a:srgbClr val="0A1F3C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Criterio de cierre</a:t>
                      </a:r>
                      <a:endParaRPr sz="11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C99A"/>
                    </a:solidFill>
                  </a:tcPr>
                </a:tc>
              </a:tr>
              <a:tr h="38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 u="none" cap="none" strike="noStrike">
                          <a:solidFill>
                            <a:srgbClr val="F0F3F6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 · Banco, ensayo unitario</a:t>
                      </a:r>
                      <a:endParaRPr sz="900">
                        <a:solidFill>
                          <a:srgbClr val="F0F3F6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GPS </a:t>
                      </a:r>
                      <a:r>
                        <a:rPr lang="es" sz="9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contra </a:t>
                      </a:r>
                      <a:r>
                        <a:rPr lang="es" sz="900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lat/lon real</a:t>
                      </a:r>
                      <a:r>
                        <a:rPr lang="es" sz="9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, enlace de radio a corta distancia, autonomía con carga nominal y accionamiento de salidas</a:t>
                      </a:r>
                      <a:endParaRPr sz="9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Cada bloque cumple la especificación de diseño que le dio origen</a:t>
                      </a:r>
                      <a:endParaRPr sz="9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8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 u="none" cap="none" strike="noStrike">
                          <a:solidFill>
                            <a:srgbClr val="F0F3F6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 · Banco, integración</a:t>
                      </a:r>
                      <a:endParaRPr sz="900">
                        <a:solidFill>
                          <a:srgbClr val="F0F3F6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Los dos nodos comunicando, con cálculo de tiempo de arribo contra trayectorias grabadas en simulador</a:t>
                      </a:r>
                      <a:endParaRPr sz="9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La decisión coincide con la esperada en el 100 % de los casos de prueba</a:t>
                      </a:r>
                      <a:endParaRPr sz="9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8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 u="none" cap="none" strike="noStrike">
                          <a:solidFill>
                            <a:srgbClr val="F0F3F6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 · Banco, fallas inducidas</a:t>
                      </a:r>
                      <a:endParaRPr sz="900">
                        <a:solidFill>
                          <a:srgbClr val="F0F3F6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Apagado del nodo tren en plena aproximación, beacon con firma inválida, contador repetido y bloqueo del microcontrolador</a:t>
                      </a:r>
                      <a:endParaRPr sz="9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El sistema adopta el estado no seguro en todos los casos, sin excepción</a:t>
                      </a:r>
                      <a:endParaRPr sz="9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8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 u="none" cap="none" strike="noStrike">
                          <a:solidFill>
                            <a:srgbClr val="F0F3F6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4 · Campo, ensayo de alcance</a:t>
                      </a:r>
                      <a:endParaRPr sz="900">
                        <a:solidFill>
                          <a:srgbClr val="F0F3F6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Distancia útil con registro de RSSI y paquetes perdidos, en campo abierto y en el cruce elegido</a:t>
                      </a:r>
                      <a:endParaRPr sz="9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Alcance mayor o igual a 1.500 m con pérdida menor al 5 %</a:t>
                      </a:r>
                      <a:endParaRPr sz="9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8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 u="none" cap="none" strike="noStrike">
                          <a:solidFill>
                            <a:srgbClr val="F0F3F6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5 · Campo, instalación del nodo tren</a:t>
                      </a:r>
                      <a:endParaRPr sz="900">
                        <a:solidFill>
                          <a:srgbClr val="F0F3F6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Montaje en taller ferroviario durante mantenimiento programado, alimentación de 12V</a:t>
                      </a:r>
                      <a:r>
                        <a:rPr lang="es" sz="900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, y </a:t>
                      </a:r>
                      <a:r>
                        <a:rPr lang="es" sz="9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fijación</a:t>
                      </a:r>
                      <a:endParaRPr sz="9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Posición registrada sin cortes durante una vuelta completa del servicio</a:t>
                      </a:r>
                      <a:endParaRPr sz="9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8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 u="none" cap="none" strike="noStrike">
                          <a:solidFill>
                            <a:srgbClr val="F0F3F6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6 · Campo, instalación del nodo cruce</a:t>
                      </a:r>
                      <a:endParaRPr sz="900">
                        <a:solidFill>
                          <a:srgbClr val="F0F3F6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Montaje, acometida propia y antena orientada. La salida hacia la barrera queda desconectada</a:t>
                      </a:r>
                      <a:endParaRPr sz="9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Señalización peatonal y telemetría operando de forma autónoma</a:t>
                      </a:r>
                      <a:endParaRPr sz="9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8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 u="none" cap="none" strike="noStrike">
                          <a:solidFill>
                            <a:srgbClr val="F0F3F6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7 · Operación supervisada</a:t>
                      </a:r>
                      <a:endParaRPr sz="900">
                        <a:solidFill>
                          <a:srgbClr val="F0F3F6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Registro continuo de pasadas de tren y comparación del arribo estimado contra el real</a:t>
                      </a:r>
                      <a:endParaRPr sz="9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200 pasadas sin un solo falso cruce seguro y estado sin datos menor al 2 %</a:t>
                      </a:r>
                      <a:endParaRPr sz="9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  <a:tr h="38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900" u="none" cap="none" strike="noStrike">
                          <a:solidFill>
                            <a:srgbClr val="F0F3F6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8 · Habilitación de la barrera</a:t>
                      </a:r>
                      <a:endParaRPr sz="900">
                        <a:solidFill>
                          <a:srgbClr val="F0F3F6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Conexión del contacto seco, previa autorización de ADIFSE y ensayo contra maqueta de barrera</a:t>
                      </a:r>
                      <a:endParaRPr sz="9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 u="none" cap="none" strike="noStrike">
                          <a:solidFill>
                            <a:srgbClr val="EAF1F7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Lógica de cierre en OR y apertura en AND verificada antes de energizar</a:t>
                      </a:r>
                      <a:endParaRPr sz="900"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13725" marB="13725" marR="41150" marL="41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747"/>
                    </a:solidFill>
                  </a:tcPr>
                </a:tc>
              </a:tr>
            </a:tbl>
          </a:graphicData>
        </a:graphic>
      </p:graphicFrame>
      <p:sp>
        <p:nvSpPr>
          <p:cNvPr id="347" name="Google Shape;347;p47"/>
          <p:cNvSpPr/>
          <p:nvPr/>
        </p:nvSpPr>
        <p:spPr>
          <a:xfrm>
            <a:off x="8496977" y="165755"/>
            <a:ext cx="426085" cy="375696"/>
          </a:xfrm>
          <a:custGeom>
            <a:rect b="b" l="l" r="r" t="t"/>
            <a:pathLst>
              <a:path extrusionOk="0" h="751392" w="852170">
                <a:moveTo>
                  <a:pt x="0" y="0"/>
                </a:moveTo>
                <a:lnTo>
                  <a:pt x="852170" y="0"/>
                </a:lnTo>
                <a:lnTo>
                  <a:pt x="852170" y="751392"/>
                </a:lnTo>
                <a:lnTo>
                  <a:pt x="0" y="751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6330" r="-15929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8"/>
          <p:cNvSpPr txBox="1"/>
          <p:nvPr>
            <p:ph type="ctrTitle"/>
          </p:nvPr>
        </p:nvSpPr>
        <p:spPr>
          <a:xfrm>
            <a:off x="1143000" y="1127498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0" lang="es" sz="6000">
                <a:solidFill>
                  <a:srgbClr val="FFFFFF"/>
                </a:solidFill>
              </a:rPr>
              <a:t>GRACIAS</a:t>
            </a:r>
            <a:endParaRPr b="0" sz="6500"/>
          </a:p>
        </p:txBody>
      </p:sp>
      <p:sp>
        <p:nvSpPr>
          <p:cNvPr id="353" name="Google Shape;353;p48"/>
          <p:cNvSpPr txBox="1"/>
          <p:nvPr>
            <p:ph idx="1" type="subTitle"/>
          </p:nvPr>
        </p:nvSpPr>
        <p:spPr>
          <a:xfrm>
            <a:off x="1143000" y="2918273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04800" lvl="0" marL="3429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b="1" lang="es" sz="1500">
                <a:solidFill>
                  <a:srgbClr val="14C99A"/>
                </a:solidFill>
              </a:rPr>
              <a:t>PANDA: Paso A Nivel Dinámico y Activo</a:t>
            </a:r>
            <a:endParaRPr/>
          </a:p>
          <a:p>
            <a:pPr indent="-304800" lvl="0" marL="3429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s" sz="1200">
                <a:solidFill>
                  <a:srgbClr val="FFFFFF"/>
                </a:solidFill>
              </a:rPr>
              <a:t>Hito 1 — Tesis de Grado ITBA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 [1785429608699]">
  <a:themeElements>
    <a:clrScheme name="Office">
      <a:dk1>
        <a:srgbClr val="0A1F3C"/>
      </a:dk1>
      <a:lt1>
        <a:srgbClr val="FFFFFF"/>
      </a:lt1>
      <a:dk2>
        <a:srgbClr val="13315C"/>
      </a:dk2>
      <a:lt2>
        <a:srgbClr val="F2F5F8"/>
      </a:lt2>
      <a:accent1>
        <a:srgbClr val="14C99A"/>
      </a:accent1>
      <a:accent2>
        <a:srgbClr val="0E8F6E"/>
      </a:accent2>
      <a:accent3>
        <a:srgbClr val="2E5E8C"/>
      </a:accent3>
      <a:accent4>
        <a:srgbClr val="F2B33D"/>
      </a:accent4>
      <a:accent5>
        <a:srgbClr val="8FA3B8"/>
      </a:accent5>
      <a:accent6>
        <a:srgbClr val="D14D5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